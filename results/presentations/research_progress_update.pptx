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Traditional</c:v>
                </c:pt>
              </c:strCache>
            </c:strRef>
          </c:tx>
          <c:spPr>
            <a:solidFill>
              <a:srgbClr val="142D45"/>
            </a:solidFill>
            <a:effectLst/>
          </c:spPr>
          <c:invertIfNegative val="0"/>
          <c:dLbls>
            <c:numFmt formatCode="0.000&quot;%&quot;" sourceLinked="0"/>
            <c:txPr>
              <a:bodyPr/>
              <a:lstStyle/>
              <a:p>
                <a:pPr>
                  <a:defRPr b="1" i="0" strike="noStrike" sz="2000" u="none">
                    <a:solidFill>
                      <a:srgbClr val="142D45"/>
                    </a:solidFill>
                    <a:latin typeface="Arial"/>
                  </a:defRPr>
                </a:pPr>
              </a:p>
            </c:txPr>
            <c:showLegendKey val="0"/>
            <c:showVal val="1"/>
            <c:showCatName val="0"/>
            <c:showSerName val="0"/>
            <c:showPercent val="0"/>
            <c:showBubbleSize val="0"/>
            <c:showLeaderLines val="0"/>
          </c:dLbls>
          <c:cat>
            <c:multiLvlStrRef>
              <c:f>Sheet1!$A$2:$A$2</c:f>
              <c:multiLvlStrCache>
                <c:ptCount val="1"/>
                <c:lvl>
                  <c:pt idx="0">
                    <c:v>Traditional</c:v>
                  </c:pt>
                </c:lvl>
              </c:multiLvlStrCache>
            </c:multiLvlStrRef>
          </c:cat>
          <c:val>
            <c:numRef>
              <c:f>Sheet1!$B$2:$B$2</c:f>
              <c:numCache>
                <c:formatCode>0.00"%"</c:formatCode>
                <c:ptCount val="1"/>
                <c:pt idx="0">
                  <c:v>0.9249613511170798</c:v>
                </c:pt>
              </c:numCache>
            </c:numRef>
          </c:val>
        </c:ser>
        <c:ser>
          <c:idx val="1"/>
          <c:order val="1"/>
          <c:tx>
            <c:strRef>
              <c:f>Sheet1!$C$1</c:f>
              <c:strCache>
                <c:ptCount val="1"/>
                <c:pt idx="0">
                  <c:v>ML</c:v>
                </c:pt>
              </c:strCache>
            </c:strRef>
          </c:tx>
          <c:spPr>
            <a:solidFill>
              <a:srgbClr val="087F82"/>
            </a:solidFill>
            <a:effectLst/>
          </c:spPr>
          <c:invertIfNegative val="0"/>
          <c:dLbls>
            <c:numFmt formatCode="0.000&quot;%&quot;" sourceLinked="0"/>
            <c:txPr>
              <a:bodyPr/>
              <a:lstStyle/>
              <a:p>
                <a:pPr>
                  <a:defRPr b="1" i="0" strike="noStrike" sz="2000" u="none">
                    <a:solidFill>
                      <a:srgbClr val="142D45"/>
                    </a:solidFill>
                    <a:latin typeface="Arial"/>
                  </a:defRPr>
                </a:pPr>
              </a:p>
            </c:txPr>
            <c:showLegendKey val="0"/>
            <c:showVal val="1"/>
            <c:showCatName val="0"/>
            <c:showSerName val="0"/>
            <c:showPercent val="0"/>
            <c:showBubbleSize val="0"/>
            <c:showLeaderLines val="0"/>
          </c:dLbls>
          <c:cat>
            <c:multiLvlStrRef>
              <c:f>Sheet1!$A$2:$A$2</c:f>
              <c:multiLvlStrCache>
                <c:ptCount val="1"/>
                <c:lvl>
                  <c:pt idx="0">
                    <c:v>ML</c:v>
                  </c:pt>
                </c:lvl>
              </c:multiLvlStrCache>
            </c:multiLvlStrRef>
          </c:cat>
          <c:val>
            <c:numRef>
              <c:f>Sheet1!$C$2:$C$2</c:f>
              <c:numCache>
                <c:formatCode>0.00"%"</c:formatCode>
                <c:ptCount val="1"/>
                <c:pt idx="0">
                  <c:v>0.7334402511744843</c:v>
                </c:pt>
              </c:numCache>
            </c:numRef>
          </c:val>
        </c:ser>
        <c:dLbls>
          <c:numFmt formatCode="0.000&quot;%&quot;" sourceLinked="0"/>
          <c:txPr>
            <a:bodyPr/>
            <a:lstStyle/>
            <a:p>
              <a:pPr>
                <a:defRPr b="1" i="0" strike="noStrike" sz="2000" u="none">
                  <a:solidFill>
                    <a:srgbClr val="142D4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536779"/>
                </a:solidFill>
                <a:latin typeface="Arial"/>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12700" cap="flat">
              <a:solidFill>
                <a:srgbClr val="D5DFE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36779"/>
                </a:solidFill>
                <a:latin typeface="Arial"/>
              </a:defRPr>
            </a:pPr>
            <a:endParaRPr lang="en-US"/>
          </a:p>
        </c:txPr>
        <c:crossAx val="2094734554"/>
        <c:crosses val="autoZero"/>
        <c:crossBetween val="between"/>
        <c:majorUnit val="0.25"/>
      </c:valAx>
      <c:spPr>
        <a:solidFill>
          <a:srgbClr val="FFFFFF"/>
        </a:solidFill>
        <a:ln w="12700" cap="flat">
          <a:solidFill>
            <a:srgbClr val="FFFFFF"/>
          </a:solidFill>
        </a:ln>
        <a:effectLst/>
      </c:spPr>
    </c:plotArea>
    <c:legend>
      <c:legendPos val="b"/>
      <c:overlay val="0"/>
      <c:txPr>
        <a:bodyPr/>
        <a:lstStyle/>
        <a:p>
          <a:pPr>
            <a:defRPr sz="1500">
              <a:latin typeface="Arial"/>
              <a:cs typeface="Arial"/>
            </a:defRPr>
          </a:pPr>
          <a:endParaRPr lang="en-US"/>
        </a:p>
      </c:txPr>
    </c:legend>
    <c:plotVisOnly val="1"/>
    <c:dispBlanksAs val="span"/>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progress update for the project advisor. Synthetic simulation keeps mechanisms known so prediction error, belief treatment, and earlier opportunity treatment can be distinguished.
Repository sources (relative to /Users/macbook/Hack/econ4994):
- docs/economic_lending_spec.md
- docs/PROJECT_STATUS.md
All results are synthetic and researcher-defined. No empirical claim about actual U.S. mortgage discrimination. Snapshot: Prompt 17B, five corrected replications.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row left to right, then lower row right to left. True repayment probability is evaluator-only. Models receive observable covariates and historical at-risk labels, not true probabilities. Each rho is constant across contract periods. Default is absorbing, so payment t is received with probability rho^t. The bank uses rho_hat_used for perceived profit. No recovery or discounting is included in this working baseline. Transaction cost is charged once on positive lending. Direct treatment acts on logit(rho_used), not on truth. Systemic treatment acts earlier on opportunity access and its economic descendants. Group is excluded from the baseline lender feature set.
Repository sources (relative to /Users/macbook/Hack/econ4994):
- docs/economic_lending_spec.md
- docs/traditional_lender_risk_model.md
- docs/direct_belief_discrimination.md
- docs/systemic_opportunity_discrimination.md
All results are synthetic and researcher-defined. No empirical claim about actual U.S. mortgage discrimination. Snapshot: Prompt 17B, five corrected replications.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remains preserved. V2 uses 6,000 historical training, 2,000 validation, and 2,000 evaluation applicants. The 120-period working equal-payment/simple-interest schedule is not a standard mortgage amortization schedule. The latest documented full suite passed 284 tests with 32 existing deprecation warnings. This presentation task did not rerun tests or scientific experiments. Binary fixed-request portfolio optimization is numerically validated; the full repeated-seed study remains unfinished.
Repository sources (relative to /Users/macbook/Hack/econ4994):
- README.md
- docs/PROJECT_STATUS.md
- docs/economic_population_calibration.md
- docs/economic_lending_spec.md
All results are synthetic and researcher-defined. No empirical claim about actual U.S. mortgage discrimination. Snapshot: Prompt 17B, five corrected replications.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use the 2,000-applicant evaluation cohort. Risk MAE refers to conditional per-period probability recovery against hidden truth. Traditional is unregularized logistic regression; ML is HistGradientBoosting selected using historical-validation log loss only. In the nonlinear world, ML lowers profit MAE but worsens risk MAE/RMSE and profit RMSE. Portfolio regret = oracle true expected profit minus policy true expected profit, divided by oracle profit and expressed as a percentage. Exact tight nonlinear regret: traditional 0.9249613511170798%, ML 0.7334402511744843%. The oracle does not know future repayment draws. These single-population results do not establish general superiority.
Repository sources (relative to /Users/macbook/Hack/econ4994):
- results/tables/v2_risk_model_comparison.csv
- results/tables/v2_nonlinear_risk_model_comparison.csv
- results/tables/v2_nonlinear_profit_model_comparison.csv
- results/tables/v2_portfolio_regret.csv
- docs/nonlinear_risk_sensitivity.md
- docs/portfolio_allocation_benchmark.md
All results are synthetic and researcher-defined. No empirical claim about actual U.S. mortgage discrimination. Snapshot: Prompt 17B, five corrected replications.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delta=0.20 changes logit(rho_used)=logit(rho_base)-delta for Group B only. It is not a 20-percentage-point penalty. Funding-rate changes compare the same traditional model with its delta=0 portfolio in the additive world under a 40% budget. Rounding the displayed group changes may not exactly sum to the rounded gap. The separate $211200.80 pure cost applies to the distorted true-risk reference, not the traditional lender. Right: s=0.40 penalizes opportunity-access log odds, not approval or repayment directly. Access rates refer to all 4967 Group B applicants in the 10,000-applicant population; 417 matched applicants switch from access to no access. Financial changes average only those switchers. Opportunity descendants alter true risk and loan economics, then group-blind lending. Both halves are original single-seed experiments, not five-replication averages.
Repository sources (relative to /Users/macbook/Hack/econ4994):
- results/tables/v2_direct_group_effects.csv
- results/tables/v2_direct_oracle_reference.csv
- results/tables/v2_systemic_opportunity_summary.csv
- results/tables/v2_systemic_switcher_effects.csv
- docs/direct_belief_discrimination.md
- docs/systemic_opportunity_discrimination.md
All results are synthetic and researcher-defined. No empirical claim about actual U.S. mortgage discrimination. Snapshot: Prompt 17B, five corrected replications.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checkpoint indices are 0, 1, 2, 3, 13. The saved corrected checkpoint reports 5 final-status successes, 360 optimal portfolios, no time limits, and no budget violations. Replication 13's earlier failure and retries remain in history. Solver optimality is accepted within a recorded numerical-roundoff rule, not symbolic exact arithmetic. Legacy records remain provisional because provenance is incomplete and do not enter corrected scientific summaries. Five replications are insufficient for final robustness or model rankings. The 50-success target needs 45 further corrected runs and separate authorization; none were launched for this deck. Latest documented suite: 284 passed, 32 existing deprecation warnings. This replaces the earlier brief's one corrected replication, 72 portfolios, and 277 tests.
Repository sources (relative to /Users/macbook/Hack/econ4994):
- results/metrics/v2_systemic_mc_corrected_checkpoint.json
- docs/systemic_monte_carlo_recovery.md
- docs/PROJECT_STATUS.md
All results are synthetic and researcher-defined. No empirical claim about actual U.S. mortgage discrimination. Snapshot: Prompt 17B, five corrected replications.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658368"/>
            <a:ext cx="10881360" cy="1417320"/>
          </a:xfrm>
          <a:prstGeom prst="rect">
            <a:avLst/>
          </a:prstGeom>
          <a:noFill/>
          <a:ln/>
        </p:spPr>
        <p:txBody>
          <a:bodyPr wrap="square" lIns="0" tIns="0" rIns="0" bIns="0" rtlCol="0" anchor="ctr"/>
          <a:lstStyle/>
          <a:p>
            <a:pPr indent="0" marL="0">
              <a:buNone/>
            </a:pPr>
            <a:r>
              <a:rPr lang="en-US" sz="4400" b="1" dirty="0">
                <a:solidFill>
                  <a:srgbClr val="142D45"/>
                </a:solidFill>
                <a:latin typeface="Arial" pitchFamily="34" charset="0"/>
                <a:ea typeface="Arial" pitchFamily="34" charset="-122"/>
                <a:cs typeface="Arial" pitchFamily="34" charset="-120"/>
              </a:rPr>
              <a:t>Lending Under</a:t>
            </a:r>
            <a:endParaRPr lang="en-US" sz="4400" dirty="0"/>
          </a:p>
          <a:p>
            <a:pPr indent="0" marL="0">
              <a:buNone/>
            </a:pPr>
            <a:r>
              <a:rPr lang="en-US" sz="4400" b="1" dirty="0">
                <a:solidFill>
                  <a:srgbClr val="142D45"/>
                </a:solidFill>
                <a:latin typeface="Arial" pitchFamily="34" charset="0"/>
                <a:ea typeface="Arial" pitchFamily="34" charset="-122"/>
                <a:cs typeface="Arial" pitchFamily="34" charset="-120"/>
              </a:rPr>
              <a:t>Imperfect Information</a:t>
            </a:r>
            <a:endParaRPr lang="en-US" sz="4400" dirty="0"/>
          </a:p>
        </p:txBody>
      </p:sp>
      <p:sp>
        <p:nvSpPr>
          <p:cNvPr id="3" name="Text 1"/>
          <p:cNvSpPr/>
          <p:nvPr/>
        </p:nvSpPr>
        <p:spPr>
          <a:xfrm>
            <a:off x="768096" y="2331720"/>
            <a:ext cx="10698480" cy="594360"/>
          </a:xfrm>
          <a:prstGeom prst="rect">
            <a:avLst/>
          </a:prstGeom>
          <a:noFill/>
          <a:ln/>
        </p:spPr>
        <p:txBody>
          <a:bodyPr wrap="square" lIns="0" tIns="0" rIns="0" bIns="0" rtlCol="0" anchor="ctr"/>
          <a:lstStyle/>
          <a:p>
            <a:pPr indent="0" marL="0">
              <a:buNone/>
            </a:pPr>
            <a:r>
              <a:rPr lang="en-US" sz="2500" dirty="0">
                <a:solidFill>
                  <a:srgbClr val="087F82"/>
                </a:solidFill>
                <a:latin typeface="Arial" pitchFamily="34" charset="0"/>
                <a:ea typeface="Arial" pitchFamily="34" charset="-122"/>
                <a:cs typeface="Arial" pitchFamily="34" charset="-120"/>
              </a:rPr>
              <a:t>Discrimination, Credit Allocation, and Machine Learning</a:t>
            </a:r>
            <a:endParaRPr lang="en-US" sz="2500" dirty="0"/>
          </a:p>
        </p:txBody>
      </p:sp>
      <p:sp>
        <p:nvSpPr>
          <p:cNvPr id="4" name="Text 2"/>
          <p:cNvSpPr/>
          <p:nvPr/>
        </p:nvSpPr>
        <p:spPr>
          <a:xfrm>
            <a:off x="768096" y="3136392"/>
            <a:ext cx="9144000" cy="621792"/>
          </a:xfrm>
          <a:prstGeom prst="rect">
            <a:avLst/>
          </a:prstGeom>
          <a:noFill/>
          <a:ln/>
        </p:spPr>
        <p:txBody>
          <a:bodyPr wrap="square" lIns="0" tIns="0" rIns="0" bIns="0" rtlCol="0" anchor="ctr"/>
          <a:lstStyle/>
          <a:p>
            <a:pPr indent="0" marL="0">
              <a:buNone/>
            </a:pPr>
            <a:r>
              <a:rPr lang="en-US" sz="1900" dirty="0">
                <a:solidFill>
                  <a:srgbClr val="536779"/>
                </a:solidFill>
                <a:latin typeface="Arial" pitchFamily="34" charset="0"/>
                <a:ea typeface="Arial" pitchFamily="34" charset="-122"/>
                <a:cs typeface="Arial" pitchFamily="34" charset="-120"/>
              </a:rPr>
              <a:t>Nguyen Phan Nguyen</a:t>
            </a:r>
            <a:endParaRPr lang="en-US" sz="1900" dirty="0"/>
          </a:p>
          <a:p>
            <a:pPr indent="0" marL="0">
              <a:buNone/>
            </a:pPr>
            <a:r>
              <a:rPr lang="en-US" sz="1900" dirty="0">
                <a:solidFill>
                  <a:srgbClr val="536779"/>
                </a:solidFill>
                <a:latin typeface="Arial" pitchFamily="34" charset="0"/>
                <a:ea typeface="Arial" pitchFamily="34" charset="-122"/>
                <a:cs typeface="Arial" pitchFamily="34" charset="-120"/>
              </a:rPr>
              <a:t>Virginia Tech — ECON 4994</a:t>
            </a:r>
            <a:endParaRPr lang="en-US" sz="1900" dirty="0"/>
          </a:p>
        </p:txBody>
      </p:sp>
      <p:sp>
        <p:nvSpPr>
          <p:cNvPr id="5" name="Shape 3"/>
          <p:cNvSpPr/>
          <p:nvPr/>
        </p:nvSpPr>
        <p:spPr>
          <a:xfrm>
            <a:off x="768096" y="4069080"/>
            <a:ext cx="10652760" cy="0"/>
          </a:xfrm>
          <a:prstGeom prst="line">
            <a:avLst/>
          </a:prstGeom>
          <a:noFill/>
          <a:ln w="12700">
            <a:solidFill>
              <a:srgbClr val="D5DFE5"/>
            </a:solidFill>
            <a:prstDash val="solid"/>
          </a:ln>
        </p:spPr>
      </p:sp>
      <p:sp>
        <p:nvSpPr>
          <p:cNvPr id="6" name="Text 4"/>
          <p:cNvSpPr/>
          <p:nvPr/>
        </p:nvSpPr>
        <p:spPr>
          <a:xfrm>
            <a:off x="768096" y="4416552"/>
            <a:ext cx="10515600" cy="1088136"/>
          </a:xfrm>
          <a:prstGeom prst="rect">
            <a:avLst/>
          </a:prstGeom>
          <a:noFill/>
          <a:ln/>
        </p:spPr>
        <p:txBody>
          <a:bodyPr wrap="square" lIns="0" tIns="0" rIns="0" bIns="0" rtlCol="0" anchor="ctr"/>
          <a:lstStyle/>
          <a:p>
            <a:pPr indent="0" marL="0">
              <a:buNone/>
            </a:pPr>
            <a:r>
              <a:rPr lang="en-US" sz="2400" dirty="0">
                <a:solidFill>
                  <a:srgbClr val="142D45"/>
                </a:solidFill>
                <a:latin typeface="Arial" pitchFamily="34" charset="0"/>
                <a:ea typeface="Arial" pitchFamily="34" charset="-122"/>
                <a:cs typeface="Arial" pitchFamily="34" charset="-120"/>
              </a:rPr>
              <a:t>How do imperfect estimates of repayment risk and different discrimination mechanisms affect lending decisions across groups, and what changes when the bank uses machine learning?</a:t>
            </a:r>
            <a:endParaRPr lang="en-US" sz="2400" dirty="0"/>
          </a:p>
        </p:txBody>
      </p:sp>
      <p:sp>
        <p:nvSpPr>
          <p:cNvPr id="7" name="Text 5"/>
          <p:cNvSpPr/>
          <p:nvPr/>
        </p:nvSpPr>
        <p:spPr>
          <a:xfrm>
            <a:off x="768096" y="6035040"/>
            <a:ext cx="10424160" cy="384048"/>
          </a:xfrm>
          <a:prstGeom prst="rect">
            <a:avLst/>
          </a:prstGeom>
          <a:noFill/>
          <a:ln/>
        </p:spPr>
        <p:txBody>
          <a:bodyPr wrap="square" lIns="0" tIns="0" rIns="0" bIns="0" rtlCol="0" anchor="ctr"/>
          <a:lstStyle/>
          <a:p>
            <a:pPr indent="0" marL="0">
              <a:buNone/>
            </a:pPr>
            <a:r>
              <a:rPr lang="en-US" sz="2200" b="1" dirty="0">
                <a:solidFill>
                  <a:srgbClr val="087F82"/>
                </a:solidFill>
                <a:latin typeface="Arial" pitchFamily="34" charset="0"/>
                <a:ea typeface="Arial" pitchFamily="34" charset="-122"/>
                <a:cs typeface="Arial" pitchFamily="34" charset="-120"/>
              </a:rPr>
              <a:t>Prediction → Profit → Credit Allocation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38912"/>
            <a:ext cx="11000232" cy="822960"/>
          </a:xfrm>
          <a:prstGeom prst="rect">
            <a:avLst/>
          </a:prstGeom>
          <a:noFill/>
          <a:ln/>
        </p:spPr>
        <p:txBody>
          <a:bodyPr wrap="square" lIns="0" tIns="0" rIns="0" bIns="0" rtlCol="0" anchor="ctr"/>
          <a:lstStyle/>
          <a:p>
            <a:pPr indent="0" marL="0">
              <a:buNone/>
            </a:pPr>
            <a:r>
              <a:rPr lang="en-US" sz="3100" b="1" dirty="0">
                <a:solidFill>
                  <a:srgbClr val="142D45"/>
                </a:solidFill>
                <a:latin typeface="Arial" pitchFamily="34" charset="0"/>
                <a:ea typeface="Arial" pitchFamily="34" charset="-122"/>
                <a:cs typeface="Arial" pitchFamily="34" charset="-120"/>
              </a:rPr>
              <a:t>Overall Research Model</a:t>
            </a:r>
            <a:endParaRPr lang="en-US" sz="3100" dirty="0"/>
          </a:p>
        </p:txBody>
      </p:sp>
      <p:sp>
        <p:nvSpPr>
          <p:cNvPr id="3" name="Shape 1"/>
          <p:cNvSpPr/>
          <p:nvPr/>
        </p:nvSpPr>
        <p:spPr>
          <a:xfrm>
            <a:off x="594360" y="1417320"/>
            <a:ext cx="11000232" cy="0"/>
          </a:xfrm>
          <a:prstGeom prst="line">
            <a:avLst/>
          </a:prstGeom>
          <a:noFill/>
          <a:ln w="12700">
            <a:solidFill>
              <a:srgbClr val="D5DFE5"/>
            </a:solidFill>
            <a:prstDash val="solid"/>
          </a:ln>
        </p:spPr>
      </p:sp>
      <p:sp>
        <p:nvSpPr>
          <p:cNvPr id="4" name="Text 2"/>
          <p:cNvSpPr/>
          <p:nvPr/>
        </p:nvSpPr>
        <p:spPr>
          <a:xfrm>
            <a:off x="594360" y="6446520"/>
            <a:ext cx="10607040" cy="210312"/>
          </a:xfrm>
          <a:prstGeom prst="rect">
            <a:avLst/>
          </a:prstGeom>
          <a:noFill/>
          <a:ln/>
        </p:spPr>
        <p:txBody>
          <a:bodyPr wrap="square" lIns="0" tIns="0" rIns="0" bIns="0" rtlCol="0" anchor="ctr"/>
          <a:lstStyle/>
          <a:p>
            <a:pPr indent="0" marL="0">
              <a:buNone/>
            </a:pPr>
            <a:r>
              <a:rPr lang="en-US" sz="950" dirty="0">
                <a:solidFill>
                  <a:srgbClr val="536779"/>
                </a:solidFill>
                <a:latin typeface="Arial" pitchFamily="34" charset="0"/>
                <a:ea typeface="Arial" pitchFamily="34" charset="-122"/>
                <a:cs typeface="Arial" pitchFamily="34" charset="-120"/>
              </a:rPr>
              <a:t>Source: economic lending specification; researcher-defined synthetic mechanisms.</a:t>
            </a:r>
            <a:endParaRPr lang="en-US" sz="950" dirty="0"/>
          </a:p>
        </p:txBody>
      </p:sp>
      <p:sp>
        <p:nvSpPr>
          <p:cNvPr id="5" name="Text 3"/>
          <p:cNvSpPr/>
          <p:nvPr/>
        </p:nvSpPr>
        <p:spPr>
          <a:xfrm>
            <a:off x="11155680" y="6437376"/>
            <a:ext cx="411480" cy="228600"/>
          </a:xfrm>
          <a:prstGeom prst="rect">
            <a:avLst/>
          </a:prstGeom>
          <a:noFill/>
          <a:ln/>
        </p:spPr>
        <p:txBody>
          <a:bodyPr wrap="square" lIns="0" tIns="0" rIns="0" bIns="0" rtlCol="0" anchor="ctr"/>
          <a:lstStyle/>
          <a:p>
            <a:pPr algn="r" indent="0" marL="0">
              <a:buNone/>
            </a:pPr>
            <a:r>
              <a:rPr lang="en-US" sz="1100" dirty="0">
                <a:solidFill>
                  <a:srgbClr val="536779"/>
                </a:solidFill>
                <a:latin typeface="Arial" pitchFamily="34" charset="0"/>
                <a:ea typeface="Arial" pitchFamily="34" charset="-122"/>
                <a:cs typeface="Arial" pitchFamily="34" charset="-120"/>
              </a:rPr>
              <a:t>2</a:t>
            </a:r>
            <a:endParaRPr lang="en-US" sz="1100" dirty="0"/>
          </a:p>
        </p:txBody>
      </p:sp>
      <p:sp>
        <p:nvSpPr>
          <p:cNvPr id="6" name="Text 4"/>
          <p:cNvSpPr/>
          <p:nvPr/>
        </p:nvSpPr>
        <p:spPr>
          <a:xfrm>
            <a:off x="594360" y="1581912"/>
            <a:ext cx="4937760" cy="283464"/>
          </a:xfrm>
          <a:prstGeom prst="rect">
            <a:avLst/>
          </a:prstGeom>
          <a:noFill/>
          <a:ln/>
        </p:spPr>
        <p:txBody>
          <a:bodyPr wrap="square" lIns="0" tIns="0" rIns="0" bIns="0" rtlCol="0" anchor="ctr"/>
          <a:lstStyle/>
          <a:p>
            <a:pPr indent="0" marL="0">
              <a:buNone/>
            </a:pPr>
            <a:r>
              <a:rPr lang="en-US" sz="1700" b="1" dirty="0">
                <a:solidFill>
                  <a:srgbClr val="087F82"/>
                </a:solidFill>
                <a:latin typeface="Arial" pitchFamily="34" charset="0"/>
                <a:ea typeface="Arial" pitchFamily="34" charset="-122"/>
                <a:cs typeface="Arial" pitchFamily="34" charset="-120"/>
              </a:rPr>
              <a:t>SYSTEMIC: earlier opportunity access</a:t>
            </a:r>
            <a:endParaRPr lang="en-US" sz="1700" dirty="0"/>
          </a:p>
        </p:txBody>
      </p:sp>
      <p:sp>
        <p:nvSpPr>
          <p:cNvPr id="7" name="Shape 5"/>
          <p:cNvSpPr/>
          <p:nvPr/>
        </p:nvSpPr>
        <p:spPr>
          <a:xfrm>
            <a:off x="1691640" y="1920240"/>
            <a:ext cx="0" cy="274320"/>
          </a:xfrm>
          <a:prstGeom prst="line">
            <a:avLst/>
          </a:prstGeom>
          <a:noFill/>
          <a:ln w="21590">
            <a:solidFill>
              <a:srgbClr val="087F82"/>
            </a:solidFill>
            <a:prstDash val="solid"/>
            <a:tailEnd type="triangle"/>
          </a:ln>
        </p:spPr>
      </p:sp>
      <p:sp>
        <p:nvSpPr>
          <p:cNvPr id="8" name="Shape 6"/>
          <p:cNvSpPr/>
          <p:nvPr/>
        </p:nvSpPr>
        <p:spPr>
          <a:xfrm>
            <a:off x="594360" y="2221992"/>
            <a:ext cx="2194560" cy="749808"/>
          </a:xfrm>
          <a:prstGeom prst="rect">
            <a:avLst/>
          </a:prstGeom>
          <a:solidFill>
            <a:srgbClr val="F5F7F9"/>
          </a:solidFill>
          <a:ln w="12700">
            <a:solidFill>
              <a:srgbClr val="D5DFE5"/>
            </a:solidFill>
            <a:prstDash val="solid"/>
          </a:ln>
        </p:spPr>
      </p:sp>
      <p:sp>
        <p:nvSpPr>
          <p:cNvPr id="9" name="Text 7"/>
          <p:cNvSpPr/>
          <p:nvPr/>
        </p:nvSpPr>
        <p:spPr>
          <a:xfrm>
            <a:off x="685800" y="2304288"/>
            <a:ext cx="2011680" cy="585216"/>
          </a:xfrm>
          <a:prstGeom prst="rect">
            <a:avLst/>
          </a:prstGeom>
          <a:noFill/>
          <a:ln/>
        </p:spPr>
        <p:txBody>
          <a:bodyPr wrap="square" lIns="0" tIns="0" rIns="0" bIns="0" rtlCol="0" anchor="ctr"/>
          <a:lstStyle/>
          <a:p>
            <a:pPr algn="ctr" indent="0" marL="0">
              <a:buNone/>
            </a:pPr>
            <a:r>
              <a:rPr lang="en-US" sz="1800" dirty="0">
                <a:solidFill>
                  <a:srgbClr val="142D45"/>
                </a:solidFill>
                <a:latin typeface="Arial" pitchFamily="34" charset="0"/>
                <a:ea typeface="Arial" pitchFamily="34" charset="-122"/>
                <a:cs typeface="Arial" pitchFamily="34" charset="-120"/>
              </a:rPr>
              <a:t>Applicant</a:t>
            </a:r>
            <a:endParaRPr lang="en-US" sz="1800" dirty="0"/>
          </a:p>
          <a:p>
            <a:pPr algn="ctr" indent="0" marL="0">
              <a:buNone/>
            </a:pPr>
            <a:r>
              <a:rPr lang="en-US" sz="1800" dirty="0">
                <a:solidFill>
                  <a:srgbClr val="142D45"/>
                </a:solidFill>
                <a:latin typeface="Arial" pitchFamily="34" charset="0"/>
                <a:ea typeface="Arial" pitchFamily="34" charset="-122"/>
                <a:cs typeface="Arial" pitchFamily="34" charset="-120"/>
              </a:rPr>
              <a:t>characteristics</a:t>
            </a:r>
            <a:endParaRPr lang="en-US" sz="1800" dirty="0"/>
          </a:p>
        </p:txBody>
      </p:sp>
      <p:sp>
        <p:nvSpPr>
          <p:cNvPr id="10" name="Shape 8"/>
          <p:cNvSpPr/>
          <p:nvPr/>
        </p:nvSpPr>
        <p:spPr>
          <a:xfrm>
            <a:off x="3520440" y="2221992"/>
            <a:ext cx="2194560" cy="749808"/>
          </a:xfrm>
          <a:prstGeom prst="rect">
            <a:avLst/>
          </a:prstGeom>
          <a:solidFill>
            <a:srgbClr val="F5F7F9"/>
          </a:solidFill>
          <a:ln w="12700">
            <a:solidFill>
              <a:srgbClr val="D5DFE5"/>
            </a:solidFill>
            <a:prstDash val="solid"/>
          </a:ln>
        </p:spPr>
      </p:sp>
      <p:sp>
        <p:nvSpPr>
          <p:cNvPr id="11" name="Text 9"/>
          <p:cNvSpPr/>
          <p:nvPr/>
        </p:nvSpPr>
        <p:spPr>
          <a:xfrm>
            <a:off x="3611880" y="2304288"/>
            <a:ext cx="2011680" cy="585216"/>
          </a:xfrm>
          <a:prstGeom prst="rect">
            <a:avLst/>
          </a:prstGeom>
          <a:noFill/>
          <a:ln/>
        </p:spPr>
        <p:txBody>
          <a:bodyPr wrap="square" lIns="0" tIns="0" rIns="0" bIns="0" rtlCol="0" anchor="ctr"/>
          <a:lstStyle/>
          <a:p>
            <a:pPr algn="ctr" indent="0" marL="0">
              <a:buNone/>
            </a:pPr>
            <a:r>
              <a:rPr lang="en-US" sz="1800" dirty="0">
                <a:solidFill>
                  <a:srgbClr val="142D45"/>
                </a:solidFill>
                <a:latin typeface="Arial" pitchFamily="34" charset="0"/>
                <a:ea typeface="Arial" pitchFamily="34" charset="-122"/>
                <a:cs typeface="Arial" pitchFamily="34" charset="-120"/>
              </a:rPr>
              <a:t>True probability ρ*</a:t>
            </a:r>
            <a:endParaRPr lang="en-US" sz="1800" dirty="0"/>
          </a:p>
          <a:p>
            <a:pPr algn="ctr" indent="0" marL="0">
              <a:buNone/>
            </a:pPr>
            <a:r>
              <a:rPr lang="en-US" sz="1800" dirty="0">
                <a:solidFill>
                  <a:srgbClr val="142D45"/>
                </a:solidFill>
                <a:latin typeface="Arial" pitchFamily="34" charset="0"/>
                <a:ea typeface="Arial" pitchFamily="34" charset="-122"/>
                <a:cs typeface="Arial" pitchFamily="34" charset="-120"/>
              </a:rPr>
              <a:t>(evaluator only)</a:t>
            </a:r>
            <a:endParaRPr lang="en-US" sz="1800" dirty="0"/>
          </a:p>
        </p:txBody>
      </p:sp>
      <p:sp>
        <p:nvSpPr>
          <p:cNvPr id="12" name="Shape 10"/>
          <p:cNvSpPr/>
          <p:nvPr/>
        </p:nvSpPr>
        <p:spPr>
          <a:xfrm>
            <a:off x="6446520" y="2221992"/>
            <a:ext cx="2194560" cy="749808"/>
          </a:xfrm>
          <a:prstGeom prst="rect">
            <a:avLst/>
          </a:prstGeom>
          <a:solidFill>
            <a:srgbClr val="F5F7F9"/>
          </a:solidFill>
          <a:ln w="12700">
            <a:solidFill>
              <a:srgbClr val="D5DFE5"/>
            </a:solidFill>
            <a:prstDash val="solid"/>
          </a:ln>
        </p:spPr>
      </p:sp>
      <p:sp>
        <p:nvSpPr>
          <p:cNvPr id="13" name="Text 11"/>
          <p:cNvSpPr/>
          <p:nvPr/>
        </p:nvSpPr>
        <p:spPr>
          <a:xfrm>
            <a:off x="6537960" y="2304288"/>
            <a:ext cx="2011680" cy="585216"/>
          </a:xfrm>
          <a:prstGeom prst="rect">
            <a:avLst/>
          </a:prstGeom>
          <a:noFill/>
          <a:ln/>
        </p:spPr>
        <p:txBody>
          <a:bodyPr wrap="square" lIns="0" tIns="0" rIns="0" bIns="0" rtlCol="0" anchor="ctr"/>
          <a:lstStyle/>
          <a:p>
            <a:pPr algn="ctr" indent="0" marL="0">
              <a:buNone/>
            </a:pPr>
            <a:r>
              <a:rPr lang="en-US" sz="1800" dirty="0">
                <a:solidFill>
                  <a:srgbClr val="142D45"/>
                </a:solidFill>
                <a:latin typeface="Arial" pitchFamily="34" charset="0"/>
                <a:ea typeface="Arial" pitchFamily="34" charset="-122"/>
                <a:cs typeface="Arial" pitchFamily="34" charset="-120"/>
              </a:rPr>
              <a:t>Historical</a:t>
            </a:r>
            <a:endParaRPr lang="en-US" sz="1800" dirty="0"/>
          </a:p>
          <a:p>
            <a:pPr algn="ctr" indent="0" marL="0">
              <a:buNone/>
            </a:pPr>
            <a:r>
              <a:rPr lang="en-US" sz="1800" dirty="0">
                <a:solidFill>
                  <a:srgbClr val="142D45"/>
                </a:solidFill>
                <a:latin typeface="Arial" pitchFamily="34" charset="0"/>
                <a:ea typeface="Arial" pitchFamily="34" charset="-122"/>
                <a:cs typeface="Arial" pitchFamily="34" charset="-120"/>
              </a:rPr>
              <a:t>payment outcomes</a:t>
            </a:r>
            <a:endParaRPr lang="en-US" sz="1800" dirty="0"/>
          </a:p>
        </p:txBody>
      </p:sp>
      <p:sp>
        <p:nvSpPr>
          <p:cNvPr id="14" name="Shape 12"/>
          <p:cNvSpPr/>
          <p:nvPr/>
        </p:nvSpPr>
        <p:spPr>
          <a:xfrm>
            <a:off x="9372600" y="2221992"/>
            <a:ext cx="2194560" cy="749808"/>
          </a:xfrm>
          <a:prstGeom prst="rect">
            <a:avLst/>
          </a:prstGeom>
          <a:solidFill>
            <a:srgbClr val="F5F7F9"/>
          </a:solidFill>
          <a:ln w="12700">
            <a:solidFill>
              <a:srgbClr val="D5DFE5"/>
            </a:solidFill>
            <a:prstDash val="solid"/>
          </a:ln>
        </p:spPr>
      </p:sp>
      <p:sp>
        <p:nvSpPr>
          <p:cNvPr id="15" name="Text 13"/>
          <p:cNvSpPr/>
          <p:nvPr/>
        </p:nvSpPr>
        <p:spPr>
          <a:xfrm>
            <a:off x="9464040" y="2304288"/>
            <a:ext cx="2011680" cy="585216"/>
          </a:xfrm>
          <a:prstGeom prst="rect">
            <a:avLst/>
          </a:prstGeom>
          <a:noFill/>
          <a:ln/>
        </p:spPr>
        <p:txBody>
          <a:bodyPr wrap="square" lIns="0" tIns="0" rIns="0" bIns="0" rtlCol="0" anchor="ctr"/>
          <a:lstStyle/>
          <a:p>
            <a:pPr algn="ctr" indent="0" marL="0">
              <a:buNone/>
            </a:pPr>
            <a:r>
              <a:rPr lang="en-US" sz="1800" dirty="0">
                <a:solidFill>
                  <a:srgbClr val="142D45"/>
                </a:solidFill>
                <a:latin typeface="Arial" pitchFamily="34" charset="0"/>
                <a:ea typeface="Arial" pitchFamily="34" charset="-122"/>
                <a:cs typeface="Arial" pitchFamily="34" charset="-120"/>
              </a:rPr>
              <a:t>Traditional logit</a:t>
            </a:r>
            <a:endParaRPr lang="en-US" sz="1800" dirty="0"/>
          </a:p>
          <a:p>
            <a:pPr algn="ctr" indent="0" marL="0">
              <a:buNone/>
            </a:pPr>
            <a:r>
              <a:rPr lang="en-US" sz="1800" dirty="0">
                <a:solidFill>
                  <a:srgbClr val="142D45"/>
                </a:solidFill>
                <a:latin typeface="Arial" pitchFamily="34" charset="0"/>
                <a:ea typeface="Arial" pitchFamily="34" charset="-122"/>
                <a:cs typeface="Arial" pitchFamily="34" charset="-120"/>
              </a:rPr>
              <a:t>or flexible ML</a:t>
            </a:r>
            <a:endParaRPr lang="en-US" sz="1800" dirty="0"/>
          </a:p>
        </p:txBody>
      </p:sp>
      <p:sp>
        <p:nvSpPr>
          <p:cNvPr id="16" name="Shape 14"/>
          <p:cNvSpPr/>
          <p:nvPr/>
        </p:nvSpPr>
        <p:spPr>
          <a:xfrm>
            <a:off x="2834640" y="2596896"/>
            <a:ext cx="640080" cy="0"/>
          </a:xfrm>
          <a:prstGeom prst="line">
            <a:avLst/>
          </a:prstGeom>
          <a:noFill/>
          <a:ln w="21590">
            <a:solidFill>
              <a:srgbClr val="536779"/>
            </a:solidFill>
            <a:prstDash val="solid"/>
            <a:tailEnd type="triangle"/>
          </a:ln>
        </p:spPr>
      </p:sp>
      <p:sp>
        <p:nvSpPr>
          <p:cNvPr id="17" name="Shape 15"/>
          <p:cNvSpPr/>
          <p:nvPr/>
        </p:nvSpPr>
        <p:spPr>
          <a:xfrm>
            <a:off x="5760720" y="2596896"/>
            <a:ext cx="640080" cy="0"/>
          </a:xfrm>
          <a:prstGeom prst="line">
            <a:avLst/>
          </a:prstGeom>
          <a:noFill/>
          <a:ln w="21590">
            <a:solidFill>
              <a:srgbClr val="536779"/>
            </a:solidFill>
            <a:prstDash val="solid"/>
            <a:tailEnd type="triangle"/>
          </a:ln>
        </p:spPr>
      </p:sp>
      <p:sp>
        <p:nvSpPr>
          <p:cNvPr id="18" name="Shape 16"/>
          <p:cNvSpPr/>
          <p:nvPr/>
        </p:nvSpPr>
        <p:spPr>
          <a:xfrm>
            <a:off x="8686800" y="2596896"/>
            <a:ext cx="640080" cy="0"/>
          </a:xfrm>
          <a:prstGeom prst="line">
            <a:avLst/>
          </a:prstGeom>
          <a:noFill/>
          <a:ln w="21590">
            <a:solidFill>
              <a:srgbClr val="536779"/>
            </a:solidFill>
            <a:prstDash val="solid"/>
            <a:tailEnd type="triangle"/>
          </a:ln>
        </p:spPr>
      </p:sp>
      <p:sp>
        <p:nvSpPr>
          <p:cNvPr id="19" name="Shape 17"/>
          <p:cNvSpPr/>
          <p:nvPr/>
        </p:nvSpPr>
        <p:spPr>
          <a:xfrm>
            <a:off x="10469880" y="2980944"/>
            <a:ext cx="0" cy="1051560"/>
          </a:xfrm>
          <a:prstGeom prst="line">
            <a:avLst/>
          </a:prstGeom>
          <a:noFill/>
          <a:ln w="21590">
            <a:solidFill>
              <a:srgbClr val="536779"/>
            </a:solidFill>
            <a:prstDash val="solid"/>
            <a:tailEnd type="triangle"/>
          </a:ln>
        </p:spPr>
      </p:sp>
      <p:sp>
        <p:nvSpPr>
          <p:cNvPr id="20" name="Text 18"/>
          <p:cNvSpPr/>
          <p:nvPr/>
        </p:nvSpPr>
        <p:spPr>
          <a:xfrm>
            <a:off x="594360" y="3191256"/>
            <a:ext cx="6766560" cy="347472"/>
          </a:xfrm>
          <a:prstGeom prst="rect">
            <a:avLst/>
          </a:prstGeom>
          <a:noFill/>
          <a:ln/>
        </p:spPr>
        <p:txBody>
          <a:bodyPr wrap="square" lIns="0" tIns="0" rIns="0" bIns="0" rtlCol="0" anchor="ctr"/>
          <a:lstStyle/>
          <a:p>
            <a:pPr indent="0" marL="0">
              <a:buNone/>
            </a:pPr>
            <a:r>
              <a:rPr lang="en-US" sz="1700" dirty="0">
                <a:solidFill>
                  <a:srgbClr val="536779"/>
                </a:solidFill>
                <a:latin typeface="Arial" pitchFamily="34" charset="0"/>
                <a:ea typeface="Arial" pitchFamily="34" charset="-122"/>
                <a:cs typeface="Arial" pitchFamily="34" charset="-120"/>
              </a:rPr>
              <a:t>Observable applicant features also enter both models</a:t>
            </a:r>
            <a:endParaRPr lang="en-US" sz="1700" dirty="0"/>
          </a:p>
        </p:txBody>
      </p:sp>
      <p:sp>
        <p:nvSpPr>
          <p:cNvPr id="21" name="Text 19"/>
          <p:cNvSpPr/>
          <p:nvPr/>
        </p:nvSpPr>
        <p:spPr>
          <a:xfrm>
            <a:off x="6510528" y="3419856"/>
            <a:ext cx="3657600" cy="320040"/>
          </a:xfrm>
          <a:prstGeom prst="rect">
            <a:avLst/>
          </a:prstGeom>
          <a:noFill/>
          <a:ln/>
        </p:spPr>
        <p:txBody>
          <a:bodyPr wrap="square" lIns="0" tIns="0" rIns="0" bIns="0" rtlCol="0" anchor="ctr"/>
          <a:lstStyle/>
          <a:p>
            <a:pPr indent="0" marL="0">
              <a:buNone/>
            </a:pPr>
            <a:r>
              <a:rPr lang="en-US" sz="1700" b="1" dirty="0">
                <a:solidFill>
                  <a:srgbClr val="AC551E"/>
                </a:solidFill>
                <a:latin typeface="Arial" pitchFamily="34" charset="0"/>
                <a:ea typeface="Arial" pitchFamily="34" charset="-122"/>
                <a:cs typeface="Arial" pitchFamily="34" charset="-120"/>
              </a:rPr>
              <a:t>DIRECT: Group B belief penalty</a:t>
            </a:r>
            <a:endParaRPr lang="en-US" sz="1700" dirty="0"/>
          </a:p>
        </p:txBody>
      </p:sp>
      <p:sp>
        <p:nvSpPr>
          <p:cNvPr id="22" name="Shape 20"/>
          <p:cNvSpPr/>
          <p:nvPr/>
        </p:nvSpPr>
        <p:spPr>
          <a:xfrm>
            <a:off x="9134856" y="3803904"/>
            <a:ext cx="786384" cy="237744"/>
          </a:xfrm>
          <a:prstGeom prst="line">
            <a:avLst/>
          </a:prstGeom>
          <a:noFill/>
          <a:ln w="21590">
            <a:solidFill>
              <a:srgbClr val="AC551E"/>
            </a:solidFill>
            <a:prstDash val="dash"/>
            <a:tailEnd type="triangle"/>
          </a:ln>
        </p:spPr>
      </p:sp>
      <p:sp>
        <p:nvSpPr>
          <p:cNvPr id="23" name="Shape 21"/>
          <p:cNvSpPr/>
          <p:nvPr/>
        </p:nvSpPr>
        <p:spPr>
          <a:xfrm>
            <a:off x="594360" y="4069080"/>
            <a:ext cx="2194560" cy="749808"/>
          </a:xfrm>
          <a:prstGeom prst="rect">
            <a:avLst/>
          </a:prstGeom>
          <a:solidFill>
            <a:srgbClr val="F5F7F9"/>
          </a:solidFill>
          <a:ln w="12700">
            <a:solidFill>
              <a:srgbClr val="D5DFE5"/>
            </a:solidFill>
            <a:prstDash val="solid"/>
          </a:ln>
        </p:spPr>
      </p:sp>
      <p:sp>
        <p:nvSpPr>
          <p:cNvPr id="24" name="Text 22"/>
          <p:cNvSpPr/>
          <p:nvPr/>
        </p:nvSpPr>
        <p:spPr>
          <a:xfrm>
            <a:off x="685800" y="4151376"/>
            <a:ext cx="2011680" cy="585216"/>
          </a:xfrm>
          <a:prstGeom prst="rect">
            <a:avLst/>
          </a:prstGeom>
          <a:noFill/>
          <a:ln/>
        </p:spPr>
        <p:txBody>
          <a:bodyPr wrap="square" lIns="0" tIns="0" rIns="0" bIns="0" rtlCol="0" anchor="ctr"/>
          <a:lstStyle/>
          <a:p>
            <a:pPr algn="ctr" indent="0" marL="0">
              <a:buNone/>
            </a:pPr>
            <a:r>
              <a:rPr lang="en-US" sz="1800" dirty="0">
                <a:solidFill>
                  <a:srgbClr val="142D45"/>
                </a:solidFill>
                <a:latin typeface="Arial" pitchFamily="34" charset="0"/>
                <a:ea typeface="Arial" pitchFamily="34" charset="-122"/>
                <a:cs typeface="Arial" pitchFamily="34" charset="-120"/>
              </a:rPr>
              <a:t>Profit + group</a:t>
            </a:r>
            <a:endParaRPr lang="en-US" sz="1800" dirty="0"/>
          </a:p>
          <a:p>
            <a:pPr algn="ctr" indent="0" marL="0">
              <a:buNone/>
            </a:pPr>
            <a:r>
              <a:rPr lang="en-US" sz="1800" dirty="0">
                <a:solidFill>
                  <a:srgbClr val="142D45"/>
                </a:solidFill>
                <a:latin typeface="Arial" pitchFamily="34" charset="0"/>
                <a:ea typeface="Arial" pitchFamily="34" charset="-122"/>
                <a:cs typeface="Arial" pitchFamily="34" charset="-120"/>
              </a:rPr>
              <a:t>credit outcomes</a:t>
            </a:r>
            <a:endParaRPr lang="en-US" sz="1800" dirty="0"/>
          </a:p>
        </p:txBody>
      </p:sp>
      <p:sp>
        <p:nvSpPr>
          <p:cNvPr id="25" name="Shape 23"/>
          <p:cNvSpPr/>
          <p:nvPr/>
        </p:nvSpPr>
        <p:spPr>
          <a:xfrm>
            <a:off x="3520440" y="4069080"/>
            <a:ext cx="2194560" cy="749808"/>
          </a:xfrm>
          <a:prstGeom prst="rect">
            <a:avLst/>
          </a:prstGeom>
          <a:solidFill>
            <a:srgbClr val="F5F7F9"/>
          </a:solidFill>
          <a:ln w="12700">
            <a:solidFill>
              <a:srgbClr val="D5DFE5"/>
            </a:solidFill>
            <a:prstDash val="solid"/>
          </a:ln>
        </p:spPr>
      </p:sp>
      <p:sp>
        <p:nvSpPr>
          <p:cNvPr id="26" name="Text 24"/>
          <p:cNvSpPr/>
          <p:nvPr/>
        </p:nvSpPr>
        <p:spPr>
          <a:xfrm>
            <a:off x="3611880" y="4151376"/>
            <a:ext cx="2011680" cy="585216"/>
          </a:xfrm>
          <a:prstGeom prst="rect">
            <a:avLst/>
          </a:prstGeom>
          <a:noFill/>
          <a:ln/>
        </p:spPr>
        <p:txBody>
          <a:bodyPr wrap="square" lIns="0" tIns="0" rIns="0" bIns="0" rtlCol="0" anchor="ctr"/>
          <a:lstStyle/>
          <a:p>
            <a:pPr algn="ctr" indent="0" marL="0">
              <a:buNone/>
            </a:pPr>
            <a:r>
              <a:rPr lang="en-US" sz="1800" dirty="0">
                <a:solidFill>
                  <a:srgbClr val="142D45"/>
                </a:solidFill>
                <a:latin typeface="Arial" pitchFamily="34" charset="0"/>
                <a:ea typeface="Arial" pitchFamily="34" charset="-122"/>
                <a:cs typeface="Arial" pitchFamily="34" charset="-120"/>
              </a:rPr>
              <a:t>Budget-constrained</a:t>
            </a:r>
            <a:endParaRPr lang="en-US" sz="1800" dirty="0"/>
          </a:p>
          <a:p>
            <a:pPr algn="ctr" indent="0" marL="0">
              <a:buNone/>
            </a:pPr>
            <a:r>
              <a:rPr lang="en-US" sz="1800" dirty="0">
                <a:solidFill>
                  <a:srgbClr val="142D45"/>
                </a:solidFill>
                <a:latin typeface="Arial" pitchFamily="34" charset="0"/>
                <a:ea typeface="Arial" pitchFamily="34" charset="-122"/>
                <a:cs typeface="Arial" pitchFamily="34" charset="-120"/>
              </a:rPr>
              <a:t>portfolio allocation</a:t>
            </a:r>
            <a:endParaRPr lang="en-US" sz="1800" dirty="0"/>
          </a:p>
        </p:txBody>
      </p:sp>
      <p:sp>
        <p:nvSpPr>
          <p:cNvPr id="27" name="Shape 25"/>
          <p:cNvSpPr/>
          <p:nvPr/>
        </p:nvSpPr>
        <p:spPr>
          <a:xfrm>
            <a:off x="6446520" y="4069080"/>
            <a:ext cx="2194560" cy="749808"/>
          </a:xfrm>
          <a:prstGeom prst="rect">
            <a:avLst/>
          </a:prstGeom>
          <a:solidFill>
            <a:srgbClr val="F5F7F9"/>
          </a:solidFill>
          <a:ln w="12700">
            <a:solidFill>
              <a:srgbClr val="D5DFE5"/>
            </a:solidFill>
            <a:prstDash val="solid"/>
          </a:ln>
        </p:spPr>
      </p:sp>
      <p:sp>
        <p:nvSpPr>
          <p:cNvPr id="28" name="Text 26"/>
          <p:cNvSpPr/>
          <p:nvPr/>
        </p:nvSpPr>
        <p:spPr>
          <a:xfrm>
            <a:off x="6537960" y="4151376"/>
            <a:ext cx="2011680" cy="585216"/>
          </a:xfrm>
          <a:prstGeom prst="rect">
            <a:avLst/>
          </a:prstGeom>
          <a:noFill/>
          <a:ln/>
        </p:spPr>
        <p:txBody>
          <a:bodyPr wrap="square" lIns="0" tIns="0" rIns="0" bIns="0" rtlCol="0" anchor="ctr"/>
          <a:lstStyle/>
          <a:p>
            <a:pPr algn="ctr" indent="0" marL="0">
              <a:buNone/>
            </a:pPr>
            <a:r>
              <a:rPr lang="en-US" sz="1800" dirty="0">
                <a:solidFill>
                  <a:srgbClr val="142D45"/>
                </a:solidFill>
                <a:latin typeface="Arial" pitchFamily="34" charset="0"/>
                <a:ea typeface="Arial" pitchFamily="34" charset="-122"/>
                <a:cs typeface="Arial" pitchFamily="34" charset="-120"/>
              </a:rPr>
              <a:t>Expected loan</a:t>
            </a:r>
            <a:endParaRPr lang="en-US" sz="1800" dirty="0"/>
          </a:p>
          <a:p>
            <a:pPr algn="ctr" indent="0" marL="0">
              <a:buNone/>
            </a:pPr>
            <a:r>
              <a:rPr lang="en-US" sz="1800" dirty="0">
                <a:solidFill>
                  <a:srgbClr val="142D45"/>
                </a:solidFill>
                <a:latin typeface="Arial" pitchFamily="34" charset="0"/>
                <a:ea typeface="Arial" pitchFamily="34" charset="-122"/>
                <a:cs typeface="Arial" pitchFamily="34" charset="-120"/>
              </a:rPr>
              <a:t>profit</a:t>
            </a:r>
            <a:endParaRPr lang="en-US" sz="1800" dirty="0"/>
          </a:p>
        </p:txBody>
      </p:sp>
      <p:sp>
        <p:nvSpPr>
          <p:cNvPr id="29" name="Shape 27"/>
          <p:cNvSpPr/>
          <p:nvPr/>
        </p:nvSpPr>
        <p:spPr>
          <a:xfrm>
            <a:off x="9372600" y="4069080"/>
            <a:ext cx="2194560" cy="749808"/>
          </a:xfrm>
          <a:prstGeom prst="rect">
            <a:avLst/>
          </a:prstGeom>
          <a:solidFill>
            <a:srgbClr val="F5F7F9"/>
          </a:solidFill>
          <a:ln w="12700">
            <a:solidFill>
              <a:srgbClr val="D5DFE5"/>
            </a:solidFill>
            <a:prstDash val="solid"/>
          </a:ln>
        </p:spPr>
      </p:sp>
      <p:sp>
        <p:nvSpPr>
          <p:cNvPr id="30" name="Text 28"/>
          <p:cNvSpPr/>
          <p:nvPr/>
        </p:nvSpPr>
        <p:spPr>
          <a:xfrm>
            <a:off x="9464040" y="4151376"/>
            <a:ext cx="2011680" cy="585216"/>
          </a:xfrm>
          <a:prstGeom prst="rect">
            <a:avLst/>
          </a:prstGeom>
          <a:noFill/>
          <a:ln/>
        </p:spPr>
        <p:txBody>
          <a:bodyPr wrap="square" lIns="0" tIns="0" rIns="0" bIns="0" rtlCol="0" anchor="ctr"/>
          <a:lstStyle/>
          <a:p>
            <a:pPr algn="ctr" indent="0" marL="0">
              <a:buNone/>
            </a:pPr>
            <a:r>
              <a:rPr lang="en-US" sz="1800" dirty="0">
                <a:solidFill>
                  <a:srgbClr val="142D45"/>
                </a:solidFill>
                <a:latin typeface="Arial" pitchFamily="34" charset="0"/>
                <a:ea typeface="Arial" pitchFamily="34" charset="-122"/>
                <a:cs typeface="Arial" pitchFamily="34" charset="-120"/>
              </a:rPr>
              <a:t>Estimated belief</a:t>
            </a:r>
            <a:endParaRPr lang="en-US" sz="1800" dirty="0"/>
          </a:p>
          <a:p>
            <a:pPr algn="ctr" indent="0" marL="0">
              <a:buNone/>
            </a:pPr>
            <a:r>
              <a:rPr lang="en-US" sz="1800" dirty="0">
                <a:solidFill>
                  <a:srgbClr val="142D45"/>
                </a:solidFill>
                <a:latin typeface="Arial" pitchFamily="34" charset="0"/>
                <a:ea typeface="Arial" pitchFamily="34" charset="-122"/>
                <a:cs typeface="Arial" pitchFamily="34" charset="-120"/>
              </a:rPr>
              <a:t>ρ̂ used by lender</a:t>
            </a:r>
            <a:endParaRPr lang="en-US" sz="1800" dirty="0"/>
          </a:p>
        </p:txBody>
      </p:sp>
      <p:sp>
        <p:nvSpPr>
          <p:cNvPr id="31" name="Shape 29"/>
          <p:cNvSpPr/>
          <p:nvPr/>
        </p:nvSpPr>
        <p:spPr>
          <a:xfrm>
            <a:off x="2834640" y="4443984"/>
            <a:ext cx="640080" cy="0"/>
          </a:xfrm>
          <a:prstGeom prst="line">
            <a:avLst/>
          </a:prstGeom>
          <a:noFill/>
          <a:ln w="21590">
            <a:solidFill>
              <a:srgbClr val="536779"/>
            </a:solidFill>
            <a:prstDash val="solid"/>
            <a:headEnd type="triangle"/>
          </a:ln>
        </p:spPr>
      </p:sp>
      <p:sp>
        <p:nvSpPr>
          <p:cNvPr id="32" name="Shape 30"/>
          <p:cNvSpPr/>
          <p:nvPr/>
        </p:nvSpPr>
        <p:spPr>
          <a:xfrm>
            <a:off x="5760720" y="4443984"/>
            <a:ext cx="640080" cy="0"/>
          </a:xfrm>
          <a:prstGeom prst="line">
            <a:avLst/>
          </a:prstGeom>
          <a:noFill/>
          <a:ln w="21590">
            <a:solidFill>
              <a:srgbClr val="536779"/>
            </a:solidFill>
            <a:prstDash val="solid"/>
            <a:headEnd type="triangle"/>
          </a:ln>
        </p:spPr>
      </p:sp>
      <p:sp>
        <p:nvSpPr>
          <p:cNvPr id="33" name="Shape 31"/>
          <p:cNvSpPr/>
          <p:nvPr/>
        </p:nvSpPr>
        <p:spPr>
          <a:xfrm>
            <a:off x="8686800" y="4443984"/>
            <a:ext cx="640080" cy="0"/>
          </a:xfrm>
          <a:prstGeom prst="line">
            <a:avLst/>
          </a:prstGeom>
          <a:noFill/>
          <a:ln w="21590">
            <a:solidFill>
              <a:srgbClr val="536779"/>
            </a:solidFill>
            <a:prstDash val="solid"/>
            <a:headEnd type="triangle"/>
          </a:ln>
        </p:spPr>
      </p:sp>
      <p:sp>
        <p:nvSpPr>
          <p:cNvPr id="34" name="Text 32"/>
          <p:cNvSpPr/>
          <p:nvPr/>
        </p:nvSpPr>
        <p:spPr>
          <a:xfrm>
            <a:off x="594360" y="5166360"/>
            <a:ext cx="10607040" cy="384048"/>
          </a:xfrm>
          <a:prstGeom prst="rect">
            <a:avLst/>
          </a:prstGeom>
          <a:noFill/>
          <a:ln/>
        </p:spPr>
        <p:txBody>
          <a:bodyPr wrap="square" lIns="0" tIns="0" rIns="0" bIns="0" rtlCol="0" anchor="ctr"/>
          <a:lstStyle/>
          <a:p>
            <a:pPr indent="0" marL="0">
              <a:buNone/>
            </a:pPr>
            <a:r>
              <a:rPr lang="en-US" sz="2100" dirty="0">
                <a:solidFill>
                  <a:srgbClr val="087F82"/>
                </a:solidFill>
                <a:latin typeface="Arial" pitchFamily="34" charset="0"/>
                <a:ea typeface="Arial" pitchFamily="34" charset="-122"/>
                <a:cs typeface="Arial" pitchFamily="34" charset="-120"/>
              </a:rPr>
              <a:t>ρ = P(next payment | all prior payments made)</a:t>
            </a:r>
            <a:endParaRPr lang="en-US" sz="2100" dirty="0"/>
          </a:p>
        </p:txBody>
      </p:sp>
      <p:sp>
        <p:nvSpPr>
          <p:cNvPr id="35" name="Text 33"/>
          <p:cNvSpPr/>
          <p:nvPr/>
        </p:nvSpPr>
        <p:spPr>
          <a:xfrm>
            <a:off x="594360" y="5660136"/>
            <a:ext cx="10972800" cy="393192"/>
          </a:xfrm>
          <a:prstGeom prst="rect">
            <a:avLst/>
          </a:prstGeom>
          <a:noFill/>
          <a:ln/>
        </p:spPr>
        <p:txBody>
          <a:bodyPr wrap="square" lIns="0" tIns="0" rIns="0" bIns="0" rtlCol="0" anchor="ctr"/>
          <a:lstStyle/>
          <a:p>
            <a:pPr indent="0" marL="0">
              <a:buNone/>
            </a:pPr>
            <a:r>
              <a:rPr lang="en-US" sz="2300" b="1" dirty="0">
                <a:solidFill>
                  <a:srgbClr val="142D45"/>
                </a:solidFill>
                <a:latin typeface="Arial" pitchFamily="34" charset="0"/>
                <a:ea typeface="Arial" pitchFamily="34" charset="-122"/>
                <a:cs typeface="Arial" pitchFamily="34" charset="-120"/>
              </a:rPr>
              <a:t>Expected profit = Σₜ₌₁ᵀ (paymentₜ × ρ̂ᵗ) − principal − cost</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38912"/>
            <a:ext cx="11000232" cy="822960"/>
          </a:xfrm>
          <a:prstGeom prst="rect">
            <a:avLst/>
          </a:prstGeom>
          <a:noFill/>
          <a:ln/>
        </p:spPr>
        <p:txBody>
          <a:bodyPr wrap="square" lIns="0" tIns="0" rIns="0" bIns="0" rtlCol="0" anchor="ctr"/>
          <a:lstStyle/>
          <a:p>
            <a:pPr indent="0" marL="0">
              <a:buNone/>
            </a:pPr>
            <a:r>
              <a:rPr lang="en-US" sz="3100" b="1" dirty="0">
                <a:solidFill>
                  <a:srgbClr val="142D45"/>
                </a:solidFill>
                <a:latin typeface="Arial" pitchFamily="34" charset="0"/>
                <a:ea typeface="Arial" pitchFamily="34" charset="-122"/>
                <a:cs typeface="Arial" pitchFamily="34" charset="-120"/>
              </a:rPr>
              <a:t>From Approval Analysis to Economic Lending</a:t>
            </a:r>
            <a:endParaRPr lang="en-US" sz="3100" dirty="0"/>
          </a:p>
        </p:txBody>
      </p:sp>
      <p:sp>
        <p:nvSpPr>
          <p:cNvPr id="3" name="Shape 1"/>
          <p:cNvSpPr/>
          <p:nvPr/>
        </p:nvSpPr>
        <p:spPr>
          <a:xfrm>
            <a:off x="594360" y="1417320"/>
            <a:ext cx="11000232" cy="0"/>
          </a:xfrm>
          <a:prstGeom prst="line">
            <a:avLst/>
          </a:prstGeom>
          <a:noFill/>
          <a:ln w="12700">
            <a:solidFill>
              <a:srgbClr val="D5DFE5"/>
            </a:solidFill>
            <a:prstDash val="solid"/>
          </a:ln>
        </p:spPr>
      </p:sp>
      <p:sp>
        <p:nvSpPr>
          <p:cNvPr id="4" name="Text 2"/>
          <p:cNvSpPr/>
          <p:nvPr/>
        </p:nvSpPr>
        <p:spPr>
          <a:xfrm>
            <a:off x="594360" y="6446520"/>
            <a:ext cx="10607040" cy="210312"/>
          </a:xfrm>
          <a:prstGeom prst="rect">
            <a:avLst/>
          </a:prstGeom>
          <a:noFill/>
          <a:ln/>
        </p:spPr>
        <p:txBody>
          <a:bodyPr wrap="square" lIns="0" tIns="0" rIns="0" bIns="0" rtlCol="0" anchor="ctr"/>
          <a:lstStyle/>
          <a:p>
            <a:pPr indent="0" marL="0">
              <a:buNone/>
            </a:pPr>
            <a:r>
              <a:rPr lang="en-US" sz="950" dirty="0">
                <a:solidFill>
                  <a:srgbClr val="536779"/>
                </a:solidFill>
                <a:latin typeface="Arial" pitchFamily="34" charset="0"/>
                <a:ea typeface="Arial" pitchFamily="34" charset="-122"/>
                <a:cs typeface="Arial" pitchFamily="34" charset="-120"/>
              </a:rPr>
              <a:t>Source: project status and Version 2 methodology; latest documented test result, not a new test run.</a:t>
            </a:r>
            <a:endParaRPr lang="en-US" sz="950" dirty="0"/>
          </a:p>
        </p:txBody>
      </p:sp>
      <p:sp>
        <p:nvSpPr>
          <p:cNvPr id="5" name="Text 3"/>
          <p:cNvSpPr/>
          <p:nvPr/>
        </p:nvSpPr>
        <p:spPr>
          <a:xfrm>
            <a:off x="11155680" y="6437376"/>
            <a:ext cx="411480" cy="228600"/>
          </a:xfrm>
          <a:prstGeom prst="rect">
            <a:avLst/>
          </a:prstGeom>
          <a:noFill/>
          <a:ln/>
        </p:spPr>
        <p:txBody>
          <a:bodyPr wrap="square" lIns="0" tIns="0" rIns="0" bIns="0" rtlCol="0" anchor="ctr"/>
          <a:lstStyle/>
          <a:p>
            <a:pPr algn="r" indent="0" marL="0">
              <a:buNone/>
            </a:pPr>
            <a:r>
              <a:rPr lang="en-US" sz="1100" dirty="0">
                <a:solidFill>
                  <a:srgbClr val="536779"/>
                </a:solidFill>
                <a:latin typeface="Arial" pitchFamily="34" charset="0"/>
                <a:ea typeface="Arial" pitchFamily="34" charset="-122"/>
                <a:cs typeface="Arial" pitchFamily="34" charset="-120"/>
              </a:rPr>
              <a:t>3</a:t>
            </a:r>
            <a:endParaRPr lang="en-US" sz="1100" dirty="0"/>
          </a:p>
        </p:txBody>
      </p:sp>
      <p:sp>
        <p:nvSpPr>
          <p:cNvPr id="6" name="Text 4"/>
          <p:cNvSpPr/>
          <p:nvPr/>
        </p:nvSpPr>
        <p:spPr>
          <a:xfrm>
            <a:off x="594360" y="1682496"/>
            <a:ext cx="2743200" cy="274320"/>
          </a:xfrm>
          <a:prstGeom prst="rect">
            <a:avLst/>
          </a:prstGeom>
          <a:noFill/>
          <a:ln/>
        </p:spPr>
        <p:txBody>
          <a:bodyPr wrap="square" lIns="0" tIns="0" rIns="0" bIns="0" rtlCol="0" anchor="ctr"/>
          <a:lstStyle/>
          <a:p>
            <a:pPr indent="0" marL="0">
              <a:buNone/>
            </a:pPr>
            <a:r>
              <a:rPr lang="en-US" sz="1500" b="1" dirty="0">
                <a:solidFill>
                  <a:srgbClr val="536779"/>
                </a:solidFill>
                <a:latin typeface="Arial" pitchFamily="34" charset="0"/>
                <a:ea typeface="Arial" pitchFamily="34" charset="-122"/>
                <a:cs typeface="Arial" pitchFamily="34" charset="-120"/>
              </a:rPr>
              <a:t>VERSION 1</a:t>
            </a:r>
            <a:endParaRPr lang="en-US" sz="1500" dirty="0"/>
          </a:p>
        </p:txBody>
      </p:sp>
      <p:sp>
        <p:nvSpPr>
          <p:cNvPr id="7" name="Text 5"/>
          <p:cNvSpPr/>
          <p:nvPr/>
        </p:nvSpPr>
        <p:spPr>
          <a:xfrm>
            <a:off x="594360" y="2075688"/>
            <a:ext cx="4572000" cy="384048"/>
          </a:xfrm>
          <a:prstGeom prst="rect">
            <a:avLst/>
          </a:prstGeom>
          <a:noFill/>
          <a:ln/>
        </p:spPr>
        <p:txBody>
          <a:bodyPr wrap="square" lIns="0" tIns="0" rIns="0" bIns="0" rtlCol="0" anchor="ctr"/>
          <a:lstStyle/>
          <a:p>
            <a:pPr indent="0" marL="0">
              <a:buNone/>
            </a:pPr>
            <a:r>
              <a:rPr lang="en-US" sz="2300" dirty="0">
                <a:solidFill>
                  <a:srgbClr val="142D45"/>
                </a:solidFill>
                <a:latin typeface="Arial" pitchFamily="34" charset="0"/>
                <a:ea typeface="Arial" pitchFamily="34" charset="-122"/>
                <a:cs typeface="Arial" pitchFamily="34" charset="-120"/>
              </a:rPr>
              <a:t>Approval disparity benchmark</a:t>
            </a:r>
            <a:endParaRPr lang="en-US" sz="2300" dirty="0"/>
          </a:p>
        </p:txBody>
      </p:sp>
      <p:sp>
        <p:nvSpPr>
          <p:cNvPr id="8" name="Shape 6"/>
          <p:cNvSpPr/>
          <p:nvPr/>
        </p:nvSpPr>
        <p:spPr>
          <a:xfrm>
            <a:off x="5394960" y="2249424"/>
            <a:ext cx="822960" cy="0"/>
          </a:xfrm>
          <a:prstGeom prst="line">
            <a:avLst/>
          </a:prstGeom>
          <a:noFill/>
          <a:ln w="21590">
            <a:solidFill>
              <a:srgbClr val="087F82"/>
            </a:solidFill>
            <a:prstDash val="solid"/>
            <a:tailEnd type="triangle"/>
          </a:ln>
        </p:spPr>
      </p:sp>
      <p:sp>
        <p:nvSpPr>
          <p:cNvPr id="9" name="Text 7"/>
          <p:cNvSpPr/>
          <p:nvPr/>
        </p:nvSpPr>
        <p:spPr>
          <a:xfrm>
            <a:off x="6583680" y="1682496"/>
            <a:ext cx="4572000" cy="274320"/>
          </a:xfrm>
          <a:prstGeom prst="rect">
            <a:avLst/>
          </a:prstGeom>
          <a:noFill/>
          <a:ln/>
        </p:spPr>
        <p:txBody>
          <a:bodyPr wrap="square" lIns="0" tIns="0" rIns="0" bIns="0" rtlCol="0" anchor="ctr"/>
          <a:lstStyle/>
          <a:p>
            <a:pPr indent="0" marL="0">
              <a:buNone/>
            </a:pPr>
            <a:r>
              <a:rPr lang="en-US" sz="1500" b="1" dirty="0">
                <a:solidFill>
                  <a:srgbClr val="087F82"/>
                </a:solidFill>
                <a:latin typeface="Arial" pitchFamily="34" charset="0"/>
                <a:ea typeface="Arial" pitchFamily="34" charset="-122"/>
                <a:cs typeface="Arial" pitchFamily="34" charset="-120"/>
              </a:rPr>
              <a:t>VERSION 2</a:t>
            </a:r>
            <a:endParaRPr lang="en-US" sz="1500" dirty="0"/>
          </a:p>
        </p:txBody>
      </p:sp>
      <p:sp>
        <p:nvSpPr>
          <p:cNvPr id="10" name="Text 8"/>
          <p:cNvSpPr/>
          <p:nvPr/>
        </p:nvSpPr>
        <p:spPr>
          <a:xfrm>
            <a:off x="6583680" y="2075688"/>
            <a:ext cx="5029200" cy="713232"/>
          </a:xfrm>
          <a:prstGeom prst="rect">
            <a:avLst/>
          </a:prstGeom>
          <a:noFill/>
          <a:ln/>
        </p:spPr>
        <p:txBody>
          <a:bodyPr wrap="square" lIns="0" tIns="0" rIns="0" bIns="0" rtlCol="0" anchor="ctr"/>
          <a:lstStyle/>
          <a:p>
            <a:pPr indent="0" marL="0">
              <a:buNone/>
            </a:pPr>
            <a:r>
              <a:rPr lang="en-US" sz="2300" b="1" dirty="0">
                <a:solidFill>
                  <a:srgbClr val="142D45"/>
                </a:solidFill>
                <a:latin typeface="Arial" pitchFamily="34" charset="0"/>
                <a:ea typeface="Arial" pitchFamily="34" charset="-122"/>
                <a:cs typeface="Arial" pitchFamily="34" charset="-120"/>
              </a:rPr>
              <a:t>Risk → profit → constrained allocation</a:t>
            </a:r>
            <a:endParaRPr lang="en-US" sz="2300" dirty="0"/>
          </a:p>
        </p:txBody>
      </p:sp>
      <p:sp>
        <p:nvSpPr>
          <p:cNvPr id="11" name="Shape 9"/>
          <p:cNvSpPr/>
          <p:nvPr/>
        </p:nvSpPr>
        <p:spPr>
          <a:xfrm>
            <a:off x="594360" y="3072384"/>
            <a:ext cx="3337560" cy="0"/>
          </a:xfrm>
          <a:prstGeom prst="line">
            <a:avLst/>
          </a:prstGeom>
          <a:noFill/>
          <a:ln w="25400">
            <a:solidFill>
              <a:srgbClr val="087F82"/>
            </a:solidFill>
            <a:prstDash val="solid"/>
          </a:ln>
        </p:spPr>
      </p:sp>
      <p:sp>
        <p:nvSpPr>
          <p:cNvPr id="12" name="Text 10"/>
          <p:cNvSpPr/>
          <p:nvPr/>
        </p:nvSpPr>
        <p:spPr>
          <a:xfrm>
            <a:off x="594360" y="3300984"/>
            <a:ext cx="3337560" cy="621792"/>
          </a:xfrm>
          <a:prstGeom prst="rect">
            <a:avLst/>
          </a:prstGeom>
          <a:noFill/>
          <a:ln/>
        </p:spPr>
        <p:txBody>
          <a:bodyPr wrap="square" lIns="0" tIns="0" rIns="0" bIns="0" rtlCol="0" anchor="ctr"/>
          <a:lstStyle/>
          <a:p>
            <a:pPr indent="0" marL="0">
              <a:buNone/>
            </a:pPr>
            <a:r>
              <a:rPr lang="en-US" sz="2000" b="1" dirty="0">
                <a:solidFill>
                  <a:srgbClr val="142D45"/>
                </a:solidFill>
                <a:latin typeface="Arial" pitchFamily="34" charset="0"/>
                <a:ea typeface="Arial" pitchFamily="34" charset="-122"/>
                <a:cs typeface="Arial" pitchFamily="34" charset="-120"/>
              </a:rPr>
              <a:t>Population + accounting</a:t>
            </a:r>
            <a:endParaRPr lang="en-US" sz="2000" dirty="0"/>
          </a:p>
        </p:txBody>
      </p:sp>
      <p:sp>
        <p:nvSpPr>
          <p:cNvPr id="13" name="Text 11"/>
          <p:cNvSpPr/>
          <p:nvPr/>
        </p:nvSpPr>
        <p:spPr>
          <a:xfrm>
            <a:off x="594360" y="4059936"/>
            <a:ext cx="3337560" cy="1069848"/>
          </a:xfrm>
          <a:prstGeom prst="rect">
            <a:avLst/>
          </a:prstGeom>
          <a:noFill/>
          <a:ln/>
        </p:spPr>
        <p:txBody>
          <a:bodyPr wrap="square" lIns="0" tIns="0" rIns="0" bIns="0" rtlCol="0" anchor="ctr"/>
          <a:lstStyle/>
          <a:p>
            <a:pPr indent="0" marL="0">
              <a:buNone/>
            </a:pPr>
            <a:r>
              <a:rPr lang="en-US" sz="1800" dirty="0">
                <a:solidFill>
                  <a:srgbClr val="142D45"/>
                </a:solidFill>
                <a:latin typeface="Arial" pitchFamily="34" charset="0"/>
                <a:ea typeface="Arial" pitchFamily="34" charset="-122"/>
                <a:cs typeface="Arial" pitchFamily="34" charset="-120"/>
              </a:rPr>
              <a:t>Synthetic applicants</a:t>
            </a:r>
            <a:endParaRPr lang="en-US" sz="1800" dirty="0"/>
          </a:p>
          <a:p>
            <a:pPr indent="0" marL="0">
              <a:buNone/>
            </a:pPr>
            <a:r>
              <a:rPr lang="en-US" sz="1800" dirty="0">
                <a:solidFill>
                  <a:srgbClr val="142D45"/>
                </a:solidFill>
                <a:latin typeface="Arial" pitchFamily="34" charset="0"/>
                <a:ea typeface="Arial" pitchFamily="34" charset="-122"/>
                <a:cs typeface="Arial" pitchFamily="34" charset="-120"/>
              </a:rPr>
              <a:t>Repayment and default paths</a:t>
            </a:r>
            <a:endParaRPr lang="en-US" sz="1800" dirty="0"/>
          </a:p>
          <a:p>
            <a:pPr indent="0" marL="0">
              <a:buNone/>
            </a:pPr>
            <a:r>
              <a:rPr lang="en-US" sz="1800" dirty="0">
                <a:solidFill>
                  <a:srgbClr val="142D45"/>
                </a:solidFill>
                <a:latin typeface="Arial" pitchFamily="34" charset="0"/>
                <a:ea typeface="Arial" pitchFamily="34" charset="-122"/>
                <a:cs typeface="Arial" pitchFamily="34" charset="-120"/>
              </a:rPr>
              <a:t>Survival-weighted cash flows</a:t>
            </a:r>
            <a:endParaRPr lang="en-US" sz="1800" dirty="0"/>
          </a:p>
        </p:txBody>
      </p:sp>
      <p:sp>
        <p:nvSpPr>
          <p:cNvPr id="14" name="Shape 12"/>
          <p:cNvSpPr/>
          <p:nvPr/>
        </p:nvSpPr>
        <p:spPr>
          <a:xfrm>
            <a:off x="4434840" y="3072384"/>
            <a:ext cx="3337560" cy="0"/>
          </a:xfrm>
          <a:prstGeom prst="line">
            <a:avLst/>
          </a:prstGeom>
          <a:noFill/>
          <a:ln w="25400">
            <a:solidFill>
              <a:srgbClr val="087F82"/>
            </a:solidFill>
            <a:prstDash val="solid"/>
          </a:ln>
        </p:spPr>
      </p:sp>
      <p:sp>
        <p:nvSpPr>
          <p:cNvPr id="15" name="Text 13"/>
          <p:cNvSpPr/>
          <p:nvPr/>
        </p:nvSpPr>
        <p:spPr>
          <a:xfrm>
            <a:off x="4434840" y="3300984"/>
            <a:ext cx="3337560" cy="621792"/>
          </a:xfrm>
          <a:prstGeom prst="rect">
            <a:avLst/>
          </a:prstGeom>
          <a:noFill/>
          <a:ln/>
        </p:spPr>
        <p:txBody>
          <a:bodyPr wrap="square" lIns="0" tIns="0" rIns="0" bIns="0" rtlCol="0" anchor="ctr"/>
          <a:lstStyle/>
          <a:p>
            <a:pPr indent="0" marL="0">
              <a:buNone/>
            </a:pPr>
            <a:r>
              <a:rPr lang="en-US" sz="2000" b="1" dirty="0">
                <a:solidFill>
                  <a:srgbClr val="142D45"/>
                </a:solidFill>
                <a:latin typeface="Arial" pitchFamily="34" charset="0"/>
                <a:ea typeface="Arial" pitchFamily="34" charset="-122"/>
                <a:cs typeface="Arial" pitchFamily="34" charset="-120"/>
              </a:rPr>
              <a:t>Risk estimation</a:t>
            </a:r>
            <a:endParaRPr lang="en-US" sz="2000" dirty="0"/>
          </a:p>
        </p:txBody>
      </p:sp>
      <p:sp>
        <p:nvSpPr>
          <p:cNvPr id="16" name="Text 14"/>
          <p:cNvSpPr/>
          <p:nvPr/>
        </p:nvSpPr>
        <p:spPr>
          <a:xfrm>
            <a:off x="4434840" y="4059936"/>
            <a:ext cx="3337560" cy="1069848"/>
          </a:xfrm>
          <a:prstGeom prst="rect">
            <a:avLst/>
          </a:prstGeom>
          <a:noFill/>
          <a:ln/>
        </p:spPr>
        <p:txBody>
          <a:bodyPr wrap="square" lIns="0" tIns="0" rIns="0" bIns="0" rtlCol="0" anchor="ctr"/>
          <a:lstStyle/>
          <a:p>
            <a:pPr indent="0" marL="0">
              <a:buNone/>
            </a:pPr>
            <a:r>
              <a:rPr lang="en-US" sz="1800" dirty="0">
                <a:solidFill>
                  <a:srgbClr val="142D45"/>
                </a:solidFill>
                <a:latin typeface="Arial" pitchFamily="34" charset="0"/>
                <a:ea typeface="Arial" pitchFamily="34" charset="-122"/>
                <a:cs typeface="Arial" pitchFamily="34" charset="-120"/>
              </a:rPr>
              <a:t>Traditional logistic lender</a:t>
            </a:r>
            <a:endParaRPr lang="en-US" sz="1800" dirty="0"/>
          </a:p>
          <a:p>
            <a:pPr indent="0" marL="0">
              <a:buNone/>
            </a:pPr>
            <a:r>
              <a:rPr lang="en-US" sz="1800" dirty="0">
                <a:solidFill>
                  <a:srgbClr val="142D45"/>
                </a:solidFill>
                <a:latin typeface="Arial" pitchFamily="34" charset="0"/>
                <a:ea typeface="Arial" pitchFamily="34" charset="-122"/>
                <a:cs typeface="Arial" pitchFamily="34" charset="-120"/>
              </a:rPr>
              <a:t>Flexible ML lender</a:t>
            </a:r>
            <a:endParaRPr lang="en-US" sz="1800" dirty="0"/>
          </a:p>
          <a:p>
            <a:pPr indent="0" marL="0">
              <a:buNone/>
            </a:pPr>
            <a:r>
              <a:rPr lang="en-US" sz="1800" dirty="0">
                <a:solidFill>
                  <a:srgbClr val="142D45"/>
                </a:solidFill>
                <a:latin typeface="Arial" pitchFamily="34" charset="0"/>
                <a:ea typeface="Arial" pitchFamily="34" charset="-122"/>
                <a:cs typeface="Arial" pitchFamily="34" charset="-120"/>
              </a:rPr>
              <a:t>Hidden-truth evaluation</a:t>
            </a:r>
            <a:endParaRPr lang="en-US" sz="1800" dirty="0"/>
          </a:p>
        </p:txBody>
      </p:sp>
      <p:sp>
        <p:nvSpPr>
          <p:cNvPr id="17" name="Shape 15"/>
          <p:cNvSpPr/>
          <p:nvPr/>
        </p:nvSpPr>
        <p:spPr>
          <a:xfrm>
            <a:off x="8275320" y="3072384"/>
            <a:ext cx="3337560" cy="0"/>
          </a:xfrm>
          <a:prstGeom prst="line">
            <a:avLst/>
          </a:prstGeom>
          <a:noFill/>
          <a:ln w="25400">
            <a:solidFill>
              <a:srgbClr val="087F82"/>
            </a:solidFill>
            <a:prstDash val="solid"/>
          </a:ln>
        </p:spPr>
      </p:sp>
      <p:sp>
        <p:nvSpPr>
          <p:cNvPr id="18" name="Text 16"/>
          <p:cNvSpPr/>
          <p:nvPr/>
        </p:nvSpPr>
        <p:spPr>
          <a:xfrm>
            <a:off x="8275320" y="3300984"/>
            <a:ext cx="3337560" cy="621792"/>
          </a:xfrm>
          <a:prstGeom prst="rect">
            <a:avLst/>
          </a:prstGeom>
          <a:noFill/>
          <a:ln/>
        </p:spPr>
        <p:txBody>
          <a:bodyPr wrap="square" lIns="0" tIns="0" rIns="0" bIns="0" rtlCol="0" anchor="ctr"/>
          <a:lstStyle/>
          <a:p>
            <a:pPr indent="0" marL="0">
              <a:buNone/>
            </a:pPr>
            <a:r>
              <a:rPr lang="en-US" sz="2000" b="1" dirty="0">
                <a:solidFill>
                  <a:srgbClr val="142D45"/>
                </a:solidFill>
                <a:latin typeface="Arial" pitchFamily="34" charset="0"/>
                <a:ea typeface="Arial" pitchFamily="34" charset="-122"/>
                <a:cs typeface="Arial" pitchFamily="34" charset="-120"/>
              </a:rPr>
              <a:t>Allocation + mechanisms</a:t>
            </a:r>
            <a:endParaRPr lang="en-US" sz="2000" dirty="0"/>
          </a:p>
        </p:txBody>
      </p:sp>
      <p:sp>
        <p:nvSpPr>
          <p:cNvPr id="19" name="Text 17"/>
          <p:cNvSpPr/>
          <p:nvPr/>
        </p:nvSpPr>
        <p:spPr>
          <a:xfrm>
            <a:off x="8275320" y="4059936"/>
            <a:ext cx="3337560" cy="1069848"/>
          </a:xfrm>
          <a:prstGeom prst="rect">
            <a:avLst/>
          </a:prstGeom>
          <a:noFill/>
          <a:ln/>
        </p:spPr>
        <p:txBody>
          <a:bodyPr wrap="square" lIns="0" tIns="0" rIns="0" bIns="0" rtlCol="0" anchor="ctr"/>
          <a:lstStyle/>
          <a:p>
            <a:pPr indent="0" marL="0">
              <a:buNone/>
            </a:pPr>
            <a:r>
              <a:rPr lang="en-US" sz="1800" dirty="0">
                <a:solidFill>
                  <a:srgbClr val="142D45"/>
                </a:solidFill>
                <a:latin typeface="Arial" pitchFamily="34" charset="0"/>
                <a:ea typeface="Arial" pitchFamily="34" charset="-122"/>
                <a:cs typeface="Arial" pitchFamily="34" charset="-120"/>
              </a:rPr>
              <a:t>Binary budget optimization</a:t>
            </a:r>
            <a:endParaRPr lang="en-US" sz="1800" dirty="0"/>
          </a:p>
          <a:p>
            <a:pPr indent="0" marL="0">
              <a:buNone/>
            </a:pPr>
            <a:r>
              <a:rPr lang="en-US" sz="1800" dirty="0">
                <a:solidFill>
                  <a:srgbClr val="142D45"/>
                </a:solidFill>
                <a:latin typeface="Arial" pitchFamily="34" charset="0"/>
                <a:ea typeface="Arial" pitchFamily="34" charset="-122"/>
                <a:cs typeface="Arial" pitchFamily="34" charset="-120"/>
              </a:rPr>
              <a:t>Direct belief distortion</a:t>
            </a:r>
            <a:endParaRPr lang="en-US" sz="1800" dirty="0"/>
          </a:p>
          <a:p>
            <a:pPr indent="0" marL="0">
              <a:buNone/>
            </a:pPr>
            <a:r>
              <a:rPr lang="en-US" sz="1800" dirty="0">
                <a:solidFill>
                  <a:srgbClr val="142D45"/>
                </a:solidFill>
                <a:latin typeface="Arial" pitchFamily="34" charset="0"/>
                <a:ea typeface="Arial" pitchFamily="34" charset="-122"/>
                <a:cs typeface="Arial" pitchFamily="34" charset="-120"/>
              </a:rPr>
              <a:t>Upstream opportunity process</a:t>
            </a:r>
            <a:endParaRPr lang="en-US" sz="1800" dirty="0"/>
          </a:p>
        </p:txBody>
      </p:sp>
      <p:sp>
        <p:nvSpPr>
          <p:cNvPr id="20" name="Text 18"/>
          <p:cNvSpPr/>
          <p:nvPr/>
        </p:nvSpPr>
        <p:spPr>
          <a:xfrm>
            <a:off x="594360" y="5449824"/>
            <a:ext cx="10972800" cy="411480"/>
          </a:xfrm>
          <a:prstGeom prst="rect">
            <a:avLst/>
          </a:prstGeom>
          <a:noFill/>
          <a:ln/>
        </p:spPr>
        <p:txBody>
          <a:bodyPr wrap="square" lIns="0" tIns="0" rIns="0" bIns="0" rtlCol="0" anchor="ctr"/>
          <a:lstStyle/>
          <a:p>
            <a:pPr indent="0" marL="0">
              <a:buNone/>
            </a:pPr>
            <a:r>
              <a:rPr lang="en-US" sz="2000" b="1" dirty="0">
                <a:solidFill>
                  <a:srgbClr val="087F82"/>
                </a:solidFill>
                <a:latin typeface="Arial" pitchFamily="34" charset="0"/>
                <a:ea typeface="Arial" pitchFamily="34" charset="-122"/>
                <a:cs typeface="Arial" pitchFamily="34" charset="-120"/>
              </a:rPr>
              <a:t>10,000 applicants     6k / 2k / 2k cohorts     120-period stylized contract</a:t>
            </a:r>
            <a:endParaRPr lang="en-US" sz="2000" dirty="0"/>
          </a:p>
        </p:txBody>
      </p:sp>
      <p:sp>
        <p:nvSpPr>
          <p:cNvPr id="21" name="Text 19"/>
          <p:cNvSpPr/>
          <p:nvPr/>
        </p:nvSpPr>
        <p:spPr>
          <a:xfrm>
            <a:off x="594360" y="5998464"/>
            <a:ext cx="10972800" cy="292608"/>
          </a:xfrm>
          <a:prstGeom prst="rect">
            <a:avLst/>
          </a:prstGeom>
          <a:noFill/>
          <a:ln/>
        </p:spPr>
        <p:txBody>
          <a:bodyPr wrap="square" lIns="0" tIns="0" rIns="0" bIns="0" rtlCol="0" anchor="ctr"/>
          <a:lstStyle/>
          <a:p>
            <a:pPr indent="0" marL="0">
              <a:buNone/>
            </a:pPr>
            <a:r>
              <a:rPr lang="en-US" sz="1700" dirty="0">
                <a:solidFill>
                  <a:srgbClr val="536779"/>
                </a:solidFill>
                <a:latin typeface="Arial" pitchFamily="34" charset="0"/>
                <a:ea typeface="Arial" pitchFamily="34" charset="-122"/>
                <a:cs typeface="Arial" pitchFamily="34" charset="-120"/>
              </a:rPr>
              <a:t>284 tests passed (documented)     •     Repeated-seed analysis ongoing</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38912"/>
            <a:ext cx="11000232" cy="822960"/>
          </a:xfrm>
          <a:prstGeom prst="rect">
            <a:avLst/>
          </a:prstGeom>
          <a:noFill/>
          <a:ln/>
        </p:spPr>
        <p:txBody>
          <a:bodyPr wrap="square" lIns="0" tIns="0" rIns="0" bIns="0" rtlCol="0" anchor="ctr"/>
          <a:lstStyle/>
          <a:p>
            <a:pPr indent="0" marL="0">
              <a:buNone/>
            </a:pPr>
            <a:r>
              <a:rPr lang="en-US" sz="3100" b="1" dirty="0">
                <a:solidFill>
                  <a:srgbClr val="142D45"/>
                </a:solidFill>
                <a:latin typeface="Arial" pitchFamily="34" charset="0"/>
                <a:ea typeface="Arial" pitchFamily="34" charset="-122"/>
                <a:cs typeface="Arial" pitchFamily="34" charset="-120"/>
              </a:rPr>
              <a:t>Prediction Accuracy and Economic Value</a:t>
            </a:r>
            <a:endParaRPr lang="en-US" sz="3100" dirty="0"/>
          </a:p>
        </p:txBody>
      </p:sp>
      <p:sp>
        <p:nvSpPr>
          <p:cNvPr id="3" name="Shape 1"/>
          <p:cNvSpPr/>
          <p:nvPr/>
        </p:nvSpPr>
        <p:spPr>
          <a:xfrm>
            <a:off x="594360" y="1417320"/>
            <a:ext cx="11000232" cy="0"/>
          </a:xfrm>
          <a:prstGeom prst="line">
            <a:avLst/>
          </a:prstGeom>
          <a:noFill/>
          <a:ln w="12700">
            <a:solidFill>
              <a:srgbClr val="D5DFE5"/>
            </a:solidFill>
            <a:prstDash val="solid"/>
          </a:ln>
        </p:spPr>
      </p:sp>
      <p:sp>
        <p:nvSpPr>
          <p:cNvPr id="4" name="Text 2"/>
          <p:cNvSpPr/>
          <p:nvPr/>
        </p:nvSpPr>
        <p:spPr>
          <a:xfrm>
            <a:off x="594360" y="6446520"/>
            <a:ext cx="10607040" cy="210312"/>
          </a:xfrm>
          <a:prstGeom prst="rect">
            <a:avLst/>
          </a:prstGeom>
          <a:noFill/>
          <a:ln/>
        </p:spPr>
        <p:txBody>
          <a:bodyPr wrap="square" lIns="0" tIns="0" rIns="0" bIns="0" rtlCol="0" anchor="ctr"/>
          <a:lstStyle/>
          <a:p>
            <a:pPr indent="0" marL="0">
              <a:buNone/>
            </a:pPr>
            <a:r>
              <a:rPr lang="en-US" sz="950" dirty="0">
                <a:solidFill>
                  <a:srgbClr val="536779"/>
                </a:solidFill>
                <a:latin typeface="Arial" pitchFamily="34" charset="0"/>
                <a:ea typeface="Arial" pitchFamily="34" charset="-122"/>
                <a:cs typeface="Arial" pitchFamily="34" charset="-120"/>
              </a:rPr>
              <a:t>Source: held-out Version 2 synthetic benchmarks; one development population, not a general model ranking.</a:t>
            </a:r>
            <a:endParaRPr lang="en-US" sz="950" dirty="0"/>
          </a:p>
        </p:txBody>
      </p:sp>
      <p:sp>
        <p:nvSpPr>
          <p:cNvPr id="5" name="Text 3"/>
          <p:cNvSpPr/>
          <p:nvPr/>
        </p:nvSpPr>
        <p:spPr>
          <a:xfrm>
            <a:off x="11155680" y="6437376"/>
            <a:ext cx="411480" cy="228600"/>
          </a:xfrm>
          <a:prstGeom prst="rect">
            <a:avLst/>
          </a:prstGeom>
          <a:noFill/>
          <a:ln/>
        </p:spPr>
        <p:txBody>
          <a:bodyPr wrap="square" lIns="0" tIns="0" rIns="0" bIns="0" rtlCol="0" anchor="ctr"/>
          <a:lstStyle/>
          <a:p>
            <a:pPr algn="r" indent="0" marL="0">
              <a:buNone/>
            </a:pPr>
            <a:r>
              <a:rPr lang="en-US" sz="1100" dirty="0">
                <a:solidFill>
                  <a:srgbClr val="536779"/>
                </a:solidFill>
                <a:latin typeface="Arial" pitchFamily="34" charset="0"/>
                <a:ea typeface="Arial" pitchFamily="34" charset="-122"/>
                <a:cs typeface="Arial" pitchFamily="34" charset="-120"/>
              </a:rPr>
              <a:t>4</a:t>
            </a:r>
            <a:endParaRPr lang="en-US" sz="1100" dirty="0"/>
          </a:p>
        </p:txBody>
      </p:sp>
      <p:sp>
        <p:nvSpPr>
          <p:cNvPr id="6" name="Text 4"/>
          <p:cNvSpPr/>
          <p:nvPr/>
        </p:nvSpPr>
        <p:spPr>
          <a:xfrm>
            <a:off x="594360" y="1682496"/>
            <a:ext cx="5532120" cy="393192"/>
          </a:xfrm>
          <a:prstGeom prst="rect">
            <a:avLst/>
          </a:prstGeom>
          <a:noFill/>
          <a:ln/>
        </p:spPr>
        <p:txBody>
          <a:bodyPr wrap="square" lIns="0" tIns="0" rIns="0" bIns="0" rtlCol="0" anchor="ctr"/>
          <a:lstStyle/>
          <a:p>
            <a:pPr indent="0" marL="0">
              <a:buNone/>
            </a:pPr>
            <a:r>
              <a:rPr lang="en-US" sz="2100" b="1" dirty="0">
                <a:solidFill>
                  <a:srgbClr val="142D45"/>
                </a:solidFill>
                <a:latin typeface="Arial" pitchFamily="34" charset="0"/>
                <a:ea typeface="Arial" pitchFamily="34" charset="-122"/>
                <a:cs typeface="Arial" pitchFamily="34" charset="-120"/>
              </a:rPr>
              <a:t>Probability and request-profit errors</a:t>
            </a:r>
            <a:endParaRPr lang="en-US" sz="2100" dirty="0"/>
          </a:p>
        </p:txBody>
      </p:sp>
      <p:sp>
        <p:nvSpPr>
          <p:cNvPr id="7" name="Text 5"/>
          <p:cNvSpPr/>
          <p:nvPr/>
        </p:nvSpPr>
        <p:spPr>
          <a:xfrm>
            <a:off x="3136392" y="2240280"/>
            <a:ext cx="1508760" cy="301752"/>
          </a:xfrm>
          <a:prstGeom prst="rect">
            <a:avLst/>
          </a:prstGeom>
          <a:noFill/>
          <a:ln/>
        </p:spPr>
        <p:txBody>
          <a:bodyPr wrap="square" lIns="0" tIns="0" rIns="0" bIns="0" rtlCol="0" anchor="ctr"/>
          <a:lstStyle/>
          <a:p>
            <a:pPr algn="r" indent="0" marL="0">
              <a:buNone/>
            </a:pPr>
            <a:r>
              <a:rPr lang="en-US" sz="1500" b="1" dirty="0">
                <a:solidFill>
                  <a:srgbClr val="142D45"/>
                </a:solidFill>
                <a:latin typeface="Arial" pitchFamily="34" charset="0"/>
                <a:ea typeface="Arial" pitchFamily="34" charset="-122"/>
                <a:cs typeface="Arial" pitchFamily="34" charset="-120"/>
              </a:rPr>
              <a:t>Traditional</a:t>
            </a:r>
            <a:endParaRPr lang="en-US" sz="1500" dirty="0"/>
          </a:p>
        </p:txBody>
      </p:sp>
      <p:sp>
        <p:nvSpPr>
          <p:cNvPr id="8" name="Text 6"/>
          <p:cNvSpPr/>
          <p:nvPr/>
        </p:nvSpPr>
        <p:spPr>
          <a:xfrm>
            <a:off x="4773168" y="2240280"/>
            <a:ext cx="1463040" cy="301752"/>
          </a:xfrm>
          <a:prstGeom prst="rect">
            <a:avLst/>
          </a:prstGeom>
          <a:noFill/>
          <a:ln/>
        </p:spPr>
        <p:txBody>
          <a:bodyPr wrap="square" lIns="0" tIns="0" rIns="0" bIns="0" rtlCol="0" anchor="ctr"/>
          <a:lstStyle/>
          <a:p>
            <a:pPr algn="r" indent="0" marL="0">
              <a:buNone/>
            </a:pPr>
            <a:r>
              <a:rPr lang="en-US" sz="1500" b="1" dirty="0">
                <a:solidFill>
                  <a:srgbClr val="087F82"/>
                </a:solidFill>
                <a:latin typeface="Arial" pitchFamily="34" charset="0"/>
                <a:ea typeface="Arial" pitchFamily="34" charset="-122"/>
                <a:cs typeface="Arial" pitchFamily="34" charset="-120"/>
              </a:rPr>
              <a:t>ML (HistGB)</a:t>
            </a:r>
            <a:endParaRPr lang="en-US" sz="1500" dirty="0"/>
          </a:p>
        </p:txBody>
      </p:sp>
      <p:sp>
        <p:nvSpPr>
          <p:cNvPr id="9" name="Text 7"/>
          <p:cNvSpPr/>
          <p:nvPr/>
        </p:nvSpPr>
        <p:spPr>
          <a:xfrm>
            <a:off x="594360" y="2788920"/>
            <a:ext cx="2487168" cy="365760"/>
          </a:xfrm>
          <a:prstGeom prst="rect">
            <a:avLst/>
          </a:prstGeom>
          <a:noFill/>
          <a:ln/>
        </p:spPr>
        <p:txBody>
          <a:bodyPr wrap="square" lIns="0" tIns="0" rIns="0" bIns="0" rtlCol="0" anchor="ctr"/>
          <a:lstStyle/>
          <a:p>
            <a:pPr indent="0" marL="0">
              <a:buNone/>
            </a:pPr>
            <a:r>
              <a:rPr lang="en-US" sz="1800" dirty="0">
                <a:solidFill>
                  <a:srgbClr val="142D45"/>
                </a:solidFill>
                <a:latin typeface="Arial" pitchFamily="34" charset="0"/>
                <a:ea typeface="Arial" pitchFamily="34" charset="-122"/>
                <a:cs typeface="Arial" pitchFamily="34" charset="-120"/>
              </a:rPr>
              <a:t>Additive risk MAE</a:t>
            </a:r>
            <a:endParaRPr lang="en-US" sz="1800" dirty="0"/>
          </a:p>
        </p:txBody>
      </p:sp>
      <p:sp>
        <p:nvSpPr>
          <p:cNvPr id="10" name="Text 8"/>
          <p:cNvSpPr/>
          <p:nvPr/>
        </p:nvSpPr>
        <p:spPr>
          <a:xfrm>
            <a:off x="3108960" y="2788920"/>
            <a:ext cx="1536192" cy="365760"/>
          </a:xfrm>
          <a:prstGeom prst="rect">
            <a:avLst/>
          </a:prstGeom>
          <a:noFill/>
          <a:ln/>
        </p:spPr>
        <p:txBody>
          <a:bodyPr wrap="square" lIns="0" tIns="0" rIns="0" bIns="0" rtlCol="0" anchor="ctr"/>
          <a:lstStyle/>
          <a:p>
            <a:pPr algn="r" indent="0" marL="0">
              <a:buNone/>
            </a:pPr>
            <a:r>
              <a:rPr lang="en-US" sz="2100" b="1" dirty="0">
                <a:solidFill>
                  <a:srgbClr val="142D45"/>
                </a:solidFill>
                <a:latin typeface="Arial" pitchFamily="34" charset="0"/>
                <a:ea typeface="Arial" pitchFamily="34" charset="-122"/>
                <a:cs typeface="Arial" pitchFamily="34" charset="-120"/>
              </a:rPr>
              <a:t>0.000364</a:t>
            </a:r>
            <a:endParaRPr lang="en-US" sz="2100" dirty="0"/>
          </a:p>
        </p:txBody>
      </p:sp>
      <p:sp>
        <p:nvSpPr>
          <p:cNvPr id="11" name="Text 9"/>
          <p:cNvSpPr/>
          <p:nvPr/>
        </p:nvSpPr>
        <p:spPr>
          <a:xfrm>
            <a:off x="4754880" y="2788920"/>
            <a:ext cx="1481328" cy="365760"/>
          </a:xfrm>
          <a:prstGeom prst="rect">
            <a:avLst/>
          </a:prstGeom>
          <a:noFill/>
          <a:ln/>
        </p:spPr>
        <p:txBody>
          <a:bodyPr wrap="square" lIns="0" tIns="0" rIns="0" bIns="0" rtlCol="0" anchor="ctr"/>
          <a:lstStyle/>
          <a:p>
            <a:pPr algn="r" indent="0" marL="0">
              <a:buNone/>
            </a:pPr>
            <a:r>
              <a:rPr lang="en-US" sz="2100" b="1" dirty="0">
                <a:solidFill>
                  <a:srgbClr val="087F82"/>
                </a:solidFill>
                <a:latin typeface="Arial" pitchFamily="34" charset="0"/>
                <a:ea typeface="Arial" pitchFamily="34" charset="-122"/>
                <a:cs typeface="Arial" pitchFamily="34" charset="-120"/>
              </a:rPr>
              <a:t>0.001341</a:t>
            </a:r>
            <a:endParaRPr lang="en-US" sz="2100" dirty="0"/>
          </a:p>
        </p:txBody>
      </p:sp>
      <p:sp>
        <p:nvSpPr>
          <p:cNvPr id="12" name="Shape 10"/>
          <p:cNvSpPr/>
          <p:nvPr/>
        </p:nvSpPr>
        <p:spPr>
          <a:xfrm>
            <a:off x="594360" y="3310128"/>
            <a:ext cx="5641848" cy="0"/>
          </a:xfrm>
          <a:prstGeom prst="line">
            <a:avLst/>
          </a:prstGeom>
          <a:noFill/>
          <a:ln w="12700">
            <a:solidFill>
              <a:srgbClr val="D5DFE5"/>
            </a:solidFill>
            <a:prstDash val="solid"/>
          </a:ln>
        </p:spPr>
      </p:sp>
      <p:sp>
        <p:nvSpPr>
          <p:cNvPr id="13" name="Text 11"/>
          <p:cNvSpPr/>
          <p:nvPr/>
        </p:nvSpPr>
        <p:spPr>
          <a:xfrm>
            <a:off x="594360" y="3511296"/>
            <a:ext cx="2487168" cy="365760"/>
          </a:xfrm>
          <a:prstGeom prst="rect">
            <a:avLst/>
          </a:prstGeom>
          <a:noFill/>
          <a:ln/>
        </p:spPr>
        <p:txBody>
          <a:bodyPr wrap="square" lIns="0" tIns="0" rIns="0" bIns="0" rtlCol="0" anchor="ctr"/>
          <a:lstStyle/>
          <a:p>
            <a:pPr indent="0" marL="0">
              <a:buNone/>
            </a:pPr>
            <a:r>
              <a:rPr lang="en-US" sz="1800" dirty="0">
                <a:solidFill>
                  <a:srgbClr val="142D45"/>
                </a:solidFill>
                <a:latin typeface="Arial" pitchFamily="34" charset="0"/>
                <a:ea typeface="Arial" pitchFamily="34" charset="-122"/>
                <a:cs typeface="Arial" pitchFamily="34" charset="-120"/>
              </a:rPr>
              <a:t>Nonlinear risk MAE</a:t>
            </a:r>
            <a:endParaRPr lang="en-US" sz="1800" dirty="0"/>
          </a:p>
        </p:txBody>
      </p:sp>
      <p:sp>
        <p:nvSpPr>
          <p:cNvPr id="14" name="Text 12"/>
          <p:cNvSpPr/>
          <p:nvPr/>
        </p:nvSpPr>
        <p:spPr>
          <a:xfrm>
            <a:off x="3108960" y="3511296"/>
            <a:ext cx="1536192" cy="365760"/>
          </a:xfrm>
          <a:prstGeom prst="rect">
            <a:avLst/>
          </a:prstGeom>
          <a:noFill/>
          <a:ln/>
        </p:spPr>
        <p:txBody>
          <a:bodyPr wrap="square" lIns="0" tIns="0" rIns="0" bIns="0" rtlCol="0" anchor="ctr"/>
          <a:lstStyle/>
          <a:p>
            <a:pPr algn="r" indent="0" marL="0">
              <a:buNone/>
            </a:pPr>
            <a:r>
              <a:rPr lang="en-US" sz="2100" b="1" dirty="0">
                <a:solidFill>
                  <a:srgbClr val="142D45"/>
                </a:solidFill>
                <a:latin typeface="Arial" pitchFamily="34" charset="0"/>
                <a:ea typeface="Arial" pitchFamily="34" charset="-122"/>
                <a:cs typeface="Arial" pitchFamily="34" charset="-120"/>
              </a:rPr>
              <a:t>0.013471</a:t>
            </a:r>
            <a:endParaRPr lang="en-US" sz="2100" dirty="0"/>
          </a:p>
        </p:txBody>
      </p:sp>
      <p:sp>
        <p:nvSpPr>
          <p:cNvPr id="15" name="Text 13"/>
          <p:cNvSpPr/>
          <p:nvPr/>
        </p:nvSpPr>
        <p:spPr>
          <a:xfrm>
            <a:off x="4754880" y="3511296"/>
            <a:ext cx="1481328" cy="365760"/>
          </a:xfrm>
          <a:prstGeom prst="rect">
            <a:avLst/>
          </a:prstGeom>
          <a:noFill/>
          <a:ln/>
        </p:spPr>
        <p:txBody>
          <a:bodyPr wrap="square" lIns="0" tIns="0" rIns="0" bIns="0" rtlCol="0" anchor="ctr"/>
          <a:lstStyle/>
          <a:p>
            <a:pPr algn="r" indent="0" marL="0">
              <a:buNone/>
            </a:pPr>
            <a:r>
              <a:rPr lang="en-US" sz="2100" b="1" dirty="0">
                <a:solidFill>
                  <a:srgbClr val="087F82"/>
                </a:solidFill>
                <a:latin typeface="Arial" pitchFamily="34" charset="0"/>
                <a:ea typeface="Arial" pitchFamily="34" charset="-122"/>
                <a:cs typeface="Arial" pitchFamily="34" charset="-120"/>
              </a:rPr>
              <a:t>0.018465</a:t>
            </a:r>
            <a:endParaRPr lang="en-US" sz="2100" dirty="0"/>
          </a:p>
        </p:txBody>
      </p:sp>
      <p:sp>
        <p:nvSpPr>
          <p:cNvPr id="16" name="Shape 14"/>
          <p:cNvSpPr/>
          <p:nvPr/>
        </p:nvSpPr>
        <p:spPr>
          <a:xfrm>
            <a:off x="594360" y="4032504"/>
            <a:ext cx="5641848" cy="0"/>
          </a:xfrm>
          <a:prstGeom prst="line">
            <a:avLst/>
          </a:prstGeom>
          <a:noFill/>
          <a:ln w="12700">
            <a:solidFill>
              <a:srgbClr val="D5DFE5"/>
            </a:solidFill>
            <a:prstDash val="solid"/>
          </a:ln>
        </p:spPr>
      </p:sp>
      <p:sp>
        <p:nvSpPr>
          <p:cNvPr id="17" name="Text 15"/>
          <p:cNvSpPr/>
          <p:nvPr/>
        </p:nvSpPr>
        <p:spPr>
          <a:xfrm>
            <a:off x="594360" y="4233672"/>
            <a:ext cx="2487168" cy="365760"/>
          </a:xfrm>
          <a:prstGeom prst="rect">
            <a:avLst/>
          </a:prstGeom>
          <a:noFill/>
          <a:ln/>
        </p:spPr>
        <p:txBody>
          <a:bodyPr wrap="square" lIns="0" tIns="0" rIns="0" bIns="0" rtlCol="0" anchor="ctr"/>
          <a:lstStyle/>
          <a:p>
            <a:pPr indent="0" marL="0">
              <a:buNone/>
            </a:pPr>
            <a:r>
              <a:rPr lang="en-US" sz="1800" dirty="0">
                <a:solidFill>
                  <a:srgbClr val="142D45"/>
                </a:solidFill>
                <a:latin typeface="Arial" pitchFamily="34" charset="0"/>
                <a:ea typeface="Arial" pitchFamily="34" charset="-122"/>
                <a:cs typeface="Arial" pitchFamily="34" charset="-120"/>
              </a:rPr>
              <a:t>Nonlinear profit MAE</a:t>
            </a:r>
            <a:endParaRPr lang="en-US" sz="1800" dirty="0"/>
          </a:p>
        </p:txBody>
      </p:sp>
      <p:sp>
        <p:nvSpPr>
          <p:cNvPr id="18" name="Text 16"/>
          <p:cNvSpPr/>
          <p:nvPr/>
        </p:nvSpPr>
        <p:spPr>
          <a:xfrm>
            <a:off x="3108960" y="4233672"/>
            <a:ext cx="1536192" cy="365760"/>
          </a:xfrm>
          <a:prstGeom prst="rect">
            <a:avLst/>
          </a:prstGeom>
          <a:noFill/>
          <a:ln/>
        </p:spPr>
        <p:txBody>
          <a:bodyPr wrap="square" lIns="0" tIns="0" rIns="0" bIns="0" rtlCol="0" anchor="ctr"/>
          <a:lstStyle/>
          <a:p>
            <a:pPr algn="r" indent="0" marL="0">
              <a:buNone/>
            </a:pPr>
            <a:r>
              <a:rPr lang="en-US" sz="2100" b="1" dirty="0">
                <a:solidFill>
                  <a:srgbClr val="142D45"/>
                </a:solidFill>
                <a:latin typeface="Arial" pitchFamily="34" charset="0"/>
                <a:ea typeface="Arial" pitchFamily="34" charset="-122"/>
                <a:cs typeface="Arial" pitchFamily="34" charset="-120"/>
              </a:rPr>
              <a:t>$13,297</a:t>
            </a:r>
            <a:endParaRPr lang="en-US" sz="2100" dirty="0"/>
          </a:p>
        </p:txBody>
      </p:sp>
      <p:sp>
        <p:nvSpPr>
          <p:cNvPr id="19" name="Text 17"/>
          <p:cNvSpPr/>
          <p:nvPr/>
        </p:nvSpPr>
        <p:spPr>
          <a:xfrm>
            <a:off x="4754880" y="4233672"/>
            <a:ext cx="1481328" cy="365760"/>
          </a:xfrm>
          <a:prstGeom prst="rect">
            <a:avLst/>
          </a:prstGeom>
          <a:noFill/>
          <a:ln/>
        </p:spPr>
        <p:txBody>
          <a:bodyPr wrap="square" lIns="0" tIns="0" rIns="0" bIns="0" rtlCol="0" anchor="ctr"/>
          <a:lstStyle/>
          <a:p>
            <a:pPr algn="r" indent="0" marL="0">
              <a:buNone/>
            </a:pPr>
            <a:r>
              <a:rPr lang="en-US" sz="2100" b="1" dirty="0">
                <a:solidFill>
                  <a:srgbClr val="087F82"/>
                </a:solidFill>
                <a:latin typeface="Arial" pitchFamily="34" charset="0"/>
                <a:ea typeface="Arial" pitchFamily="34" charset="-122"/>
                <a:cs typeface="Arial" pitchFamily="34" charset="-120"/>
              </a:rPr>
              <a:t>$12,026</a:t>
            </a:r>
            <a:endParaRPr lang="en-US" sz="2100" dirty="0"/>
          </a:p>
        </p:txBody>
      </p:sp>
      <p:sp>
        <p:nvSpPr>
          <p:cNvPr id="20" name="Shape 18"/>
          <p:cNvSpPr/>
          <p:nvPr/>
        </p:nvSpPr>
        <p:spPr>
          <a:xfrm>
            <a:off x="594360" y="4754880"/>
            <a:ext cx="5641848" cy="0"/>
          </a:xfrm>
          <a:prstGeom prst="line">
            <a:avLst/>
          </a:prstGeom>
          <a:noFill/>
          <a:ln w="12700">
            <a:solidFill>
              <a:srgbClr val="D5DFE5"/>
            </a:solidFill>
            <a:prstDash val="solid"/>
          </a:ln>
        </p:spPr>
      </p:sp>
      <p:sp>
        <p:nvSpPr>
          <p:cNvPr id="21" name="Text 19"/>
          <p:cNvSpPr/>
          <p:nvPr/>
        </p:nvSpPr>
        <p:spPr>
          <a:xfrm>
            <a:off x="594360" y="5157216"/>
            <a:ext cx="5641848" cy="548640"/>
          </a:xfrm>
          <a:prstGeom prst="rect">
            <a:avLst/>
          </a:prstGeom>
          <a:noFill/>
          <a:ln/>
        </p:spPr>
        <p:txBody>
          <a:bodyPr wrap="square" lIns="0" tIns="0" rIns="0" bIns="0" rtlCol="0" anchor="ctr"/>
          <a:lstStyle/>
          <a:p>
            <a:pPr indent="0" marL="0">
              <a:buNone/>
            </a:pPr>
            <a:r>
              <a:rPr lang="en-US" sz="1600" dirty="0">
                <a:solidFill>
                  <a:srgbClr val="536779"/>
                </a:solidFill>
                <a:latin typeface="Arial" pitchFamily="34" charset="0"/>
                <a:ea typeface="Arial" pitchFamily="34" charset="-122"/>
                <a:cs typeface="Arial" pitchFamily="34" charset="-120"/>
              </a:rPr>
              <a:t>Risk MAE is in probability units. Lower is better.</a:t>
            </a:r>
            <a:endParaRPr lang="en-US" sz="1600" dirty="0"/>
          </a:p>
        </p:txBody>
      </p:sp>
      <p:sp>
        <p:nvSpPr>
          <p:cNvPr id="22" name="Text 20"/>
          <p:cNvSpPr/>
          <p:nvPr/>
        </p:nvSpPr>
        <p:spPr>
          <a:xfrm>
            <a:off x="6766560" y="1682496"/>
            <a:ext cx="4782312" cy="393192"/>
          </a:xfrm>
          <a:prstGeom prst="rect">
            <a:avLst/>
          </a:prstGeom>
          <a:noFill/>
          <a:ln/>
        </p:spPr>
        <p:txBody>
          <a:bodyPr wrap="square" lIns="0" tIns="0" rIns="0" bIns="0" rtlCol="0" anchor="ctr"/>
          <a:lstStyle/>
          <a:p>
            <a:pPr indent="0" marL="0">
              <a:buNone/>
            </a:pPr>
            <a:r>
              <a:rPr lang="en-US" sz="2100" b="1" dirty="0">
                <a:solidFill>
                  <a:srgbClr val="142D45"/>
                </a:solidFill>
                <a:latin typeface="Arial" pitchFamily="34" charset="0"/>
                <a:ea typeface="Arial" pitchFamily="34" charset="-122"/>
                <a:cs typeface="Arial" pitchFamily="34" charset="-120"/>
              </a:rPr>
              <a:t>Nonlinear world, 20% budget</a:t>
            </a:r>
            <a:endParaRPr lang="en-US" sz="2100" dirty="0"/>
          </a:p>
        </p:txBody>
      </p:sp>
      <p:sp>
        <p:nvSpPr>
          <p:cNvPr id="23" name="Text 21"/>
          <p:cNvSpPr/>
          <p:nvPr/>
        </p:nvSpPr>
        <p:spPr>
          <a:xfrm>
            <a:off x="6766560" y="2157984"/>
            <a:ext cx="4663440" cy="320040"/>
          </a:xfrm>
          <a:prstGeom prst="rect">
            <a:avLst/>
          </a:prstGeom>
          <a:noFill/>
          <a:ln/>
        </p:spPr>
        <p:txBody>
          <a:bodyPr wrap="square" lIns="0" tIns="0" rIns="0" bIns="0" rtlCol="0" anchor="ctr"/>
          <a:lstStyle/>
          <a:p>
            <a:pPr indent="0" marL="0">
              <a:buNone/>
            </a:pPr>
            <a:r>
              <a:rPr lang="en-US" sz="1600" dirty="0">
                <a:solidFill>
                  <a:srgbClr val="536779"/>
                </a:solidFill>
                <a:latin typeface="Arial" pitchFamily="34" charset="0"/>
                <a:ea typeface="Arial" pitchFamily="34" charset="-122"/>
                <a:cs typeface="Arial" pitchFamily="34" charset="-120"/>
              </a:rPr>
              <a:t>Regret as % of oracle expected profit</a:t>
            </a:r>
            <a:endParaRPr lang="en-US" sz="1600" dirty="0"/>
          </a:p>
        </p:txBody>
      </p:sp>
      <p:graphicFrame>
        <p:nvGraphicFramePr>
          <p:cNvPr id="24" name="Chart 0" descr=""/>
          <p:cNvGraphicFramePr/>
          <p:nvPr/>
        </p:nvGraphicFramePr>
        <p:xfrm>
          <a:off x="6675120" y="2633472"/>
          <a:ext cx="4901184" cy="2624328"/>
        </p:xfrm>
        <a:graphic xmlns:a="http://schemas.openxmlformats.org/drawingml/2006/main">
          <a:graphicData uri="http://schemas.openxmlformats.org/drawingml/2006/chart">
            <c:chart xmlns:c="http://schemas.openxmlformats.org/drawingml/2006/chart" r:id="rId1"/>
          </a:graphicData>
        </a:graphic>
      </p:graphicFrame>
      <p:sp>
        <p:nvSpPr>
          <p:cNvPr id="25" name="Text 22"/>
          <p:cNvSpPr/>
          <p:nvPr/>
        </p:nvSpPr>
        <p:spPr>
          <a:xfrm>
            <a:off x="6766560" y="5349240"/>
            <a:ext cx="4709160" cy="530352"/>
          </a:xfrm>
          <a:prstGeom prst="rect">
            <a:avLst/>
          </a:prstGeom>
          <a:noFill/>
          <a:ln/>
        </p:spPr>
        <p:txBody>
          <a:bodyPr wrap="square" lIns="0" tIns="0" rIns="0" bIns="0" rtlCol="0" anchor="ctr"/>
          <a:lstStyle/>
          <a:p>
            <a:pPr indent="0" marL="0">
              <a:buNone/>
            </a:pPr>
            <a:r>
              <a:rPr lang="en-US" sz="1600" dirty="0">
                <a:solidFill>
                  <a:srgbClr val="536779"/>
                </a:solidFill>
                <a:latin typeface="Arial" pitchFamily="34" charset="0"/>
                <a:ea typeface="Arial" pitchFamily="34" charset="-122"/>
                <a:cs typeface="Arial" pitchFamily="34" charset="-120"/>
              </a:rPr>
              <a:t>Traditional had lower regret in the other</a:t>
            </a:r>
            <a:endParaRPr lang="en-US" sz="1600" dirty="0"/>
          </a:p>
          <a:p>
            <a:pPr indent="0" marL="0">
              <a:buNone/>
            </a:pPr>
            <a:r>
              <a:rPr lang="en-US" sz="1600" dirty="0">
                <a:solidFill>
                  <a:srgbClr val="536779"/>
                </a:solidFill>
                <a:latin typeface="Arial" pitchFamily="34" charset="0"/>
                <a:ea typeface="Arial" pitchFamily="34" charset="-122"/>
                <a:cs typeface="Arial" pitchFamily="34" charset="-120"/>
              </a:rPr>
              <a:t>five primary world/budget comparisons.</a:t>
            </a:r>
            <a:endParaRPr lang="en-US" sz="1600" dirty="0"/>
          </a:p>
        </p:txBody>
      </p:sp>
      <p:sp>
        <p:nvSpPr>
          <p:cNvPr id="26" name="Text 23"/>
          <p:cNvSpPr/>
          <p:nvPr/>
        </p:nvSpPr>
        <p:spPr>
          <a:xfrm>
            <a:off x="594360" y="6007608"/>
            <a:ext cx="10972800" cy="301752"/>
          </a:xfrm>
          <a:prstGeom prst="rect">
            <a:avLst/>
          </a:prstGeom>
          <a:noFill/>
          <a:ln/>
        </p:spPr>
        <p:txBody>
          <a:bodyPr wrap="square" lIns="0" tIns="0" rIns="0" bIns="0" rtlCol="0" anchor="ctr"/>
          <a:lstStyle/>
          <a:p>
            <a:pPr indent="0" marL="0">
              <a:buNone/>
            </a:pPr>
            <a:r>
              <a:rPr lang="en-US" sz="2100" b="1" dirty="0">
                <a:solidFill>
                  <a:srgbClr val="087F82"/>
                </a:solidFill>
                <a:latin typeface="Arial" pitchFamily="34" charset="0"/>
                <a:ea typeface="Arial" pitchFamily="34" charset="-122"/>
                <a:cs typeface="Arial" pitchFamily="34" charset="-120"/>
              </a:rPr>
              <a:t>Economic value depends on functional form and capital scarcity.</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38912"/>
            <a:ext cx="11000232" cy="822960"/>
          </a:xfrm>
          <a:prstGeom prst="rect">
            <a:avLst/>
          </a:prstGeom>
          <a:noFill/>
          <a:ln/>
        </p:spPr>
        <p:txBody>
          <a:bodyPr wrap="square" lIns="0" tIns="0" rIns="0" bIns="0" rtlCol="0" anchor="ctr"/>
          <a:lstStyle/>
          <a:p>
            <a:pPr indent="0" marL="0">
              <a:buNone/>
            </a:pPr>
            <a:r>
              <a:rPr lang="en-US" sz="3100" b="1" dirty="0">
                <a:solidFill>
                  <a:srgbClr val="142D45"/>
                </a:solidFill>
                <a:latin typeface="Arial" pitchFamily="34" charset="0"/>
                <a:ea typeface="Arial" pitchFamily="34" charset="-122"/>
                <a:cs typeface="Arial" pitchFamily="34" charset="-120"/>
              </a:rPr>
              <a:t>Direct and Systemic Mechanisms</a:t>
            </a:r>
            <a:endParaRPr lang="en-US" sz="3100" dirty="0"/>
          </a:p>
        </p:txBody>
      </p:sp>
      <p:sp>
        <p:nvSpPr>
          <p:cNvPr id="3" name="Shape 1"/>
          <p:cNvSpPr/>
          <p:nvPr/>
        </p:nvSpPr>
        <p:spPr>
          <a:xfrm>
            <a:off x="594360" y="1417320"/>
            <a:ext cx="11000232" cy="0"/>
          </a:xfrm>
          <a:prstGeom prst="line">
            <a:avLst/>
          </a:prstGeom>
          <a:noFill/>
          <a:ln w="12700">
            <a:solidFill>
              <a:srgbClr val="D5DFE5"/>
            </a:solidFill>
            <a:prstDash val="solid"/>
          </a:ln>
        </p:spPr>
      </p:sp>
      <p:sp>
        <p:nvSpPr>
          <p:cNvPr id="4" name="Text 2"/>
          <p:cNvSpPr/>
          <p:nvPr/>
        </p:nvSpPr>
        <p:spPr>
          <a:xfrm>
            <a:off x="594360" y="6446520"/>
            <a:ext cx="10607040" cy="210312"/>
          </a:xfrm>
          <a:prstGeom prst="rect">
            <a:avLst/>
          </a:prstGeom>
          <a:noFill/>
          <a:ln/>
        </p:spPr>
        <p:txBody>
          <a:bodyPr wrap="square" lIns="0" tIns="0" rIns="0" bIns="0" rtlCol="0" anchor="ctr"/>
          <a:lstStyle/>
          <a:p>
            <a:pPr indent="0" marL="0">
              <a:buNone/>
            </a:pPr>
            <a:r>
              <a:rPr lang="en-US" sz="950" dirty="0">
                <a:solidFill>
                  <a:srgbClr val="536779"/>
                </a:solidFill>
                <a:latin typeface="Arial" pitchFamily="34" charset="0"/>
                <a:ea typeface="Arial" pitchFamily="34" charset="-122"/>
                <a:cs typeface="Arial" pitchFamily="34" charset="-120"/>
              </a:rPr>
              <a:t>Source: deterministic synthetic mechanism experiments; treatments are researcher-defined, not empirical estimates.</a:t>
            </a:r>
            <a:endParaRPr lang="en-US" sz="950" dirty="0"/>
          </a:p>
        </p:txBody>
      </p:sp>
      <p:sp>
        <p:nvSpPr>
          <p:cNvPr id="5" name="Text 3"/>
          <p:cNvSpPr/>
          <p:nvPr/>
        </p:nvSpPr>
        <p:spPr>
          <a:xfrm>
            <a:off x="11155680" y="6437376"/>
            <a:ext cx="411480" cy="228600"/>
          </a:xfrm>
          <a:prstGeom prst="rect">
            <a:avLst/>
          </a:prstGeom>
          <a:noFill/>
          <a:ln/>
        </p:spPr>
        <p:txBody>
          <a:bodyPr wrap="square" lIns="0" tIns="0" rIns="0" bIns="0" rtlCol="0" anchor="ctr"/>
          <a:lstStyle/>
          <a:p>
            <a:pPr algn="r" indent="0" marL="0">
              <a:buNone/>
            </a:pPr>
            <a:r>
              <a:rPr lang="en-US" sz="1100" dirty="0">
                <a:solidFill>
                  <a:srgbClr val="536779"/>
                </a:solidFill>
                <a:latin typeface="Arial" pitchFamily="34" charset="0"/>
                <a:ea typeface="Arial" pitchFamily="34" charset="-122"/>
                <a:cs typeface="Arial" pitchFamily="34" charset="-120"/>
              </a:rPr>
              <a:t>5</a:t>
            </a:r>
            <a:endParaRPr lang="en-US" sz="1100" dirty="0"/>
          </a:p>
        </p:txBody>
      </p:sp>
      <p:sp>
        <p:nvSpPr>
          <p:cNvPr id="6" name="Shape 4"/>
          <p:cNvSpPr/>
          <p:nvPr/>
        </p:nvSpPr>
        <p:spPr>
          <a:xfrm>
            <a:off x="6108192" y="1673352"/>
            <a:ext cx="0" cy="4535424"/>
          </a:xfrm>
          <a:prstGeom prst="line">
            <a:avLst/>
          </a:prstGeom>
          <a:noFill/>
          <a:ln w="12700">
            <a:solidFill>
              <a:srgbClr val="D5DFE5"/>
            </a:solidFill>
            <a:prstDash val="solid"/>
          </a:ln>
        </p:spPr>
      </p:sp>
      <p:sp>
        <p:nvSpPr>
          <p:cNvPr id="7" name="Text 5"/>
          <p:cNvSpPr/>
          <p:nvPr/>
        </p:nvSpPr>
        <p:spPr>
          <a:xfrm>
            <a:off x="594360" y="1709928"/>
            <a:ext cx="5166360" cy="320040"/>
          </a:xfrm>
          <a:prstGeom prst="rect">
            <a:avLst/>
          </a:prstGeom>
          <a:noFill/>
          <a:ln/>
        </p:spPr>
        <p:txBody>
          <a:bodyPr wrap="square" lIns="0" tIns="0" rIns="0" bIns="0" rtlCol="0" anchor="ctr"/>
          <a:lstStyle/>
          <a:p>
            <a:pPr indent="0" marL="0">
              <a:buNone/>
            </a:pPr>
            <a:r>
              <a:rPr lang="en-US" sz="1900" b="1" dirty="0">
                <a:solidFill>
                  <a:srgbClr val="AC551E"/>
                </a:solidFill>
                <a:latin typeface="Arial" pitchFamily="34" charset="0"/>
                <a:ea typeface="Arial" pitchFamily="34" charset="-122"/>
                <a:cs typeface="Arial" pitchFamily="34" charset="-120"/>
              </a:rPr>
              <a:t>DIRECT BELIEF DISTORTION</a:t>
            </a:r>
            <a:endParaRPr lang="en-US" sz="1900" dirty="0"/>
          </a:p>
        </p:txBody>
      </p:sp>
      <p:sp>
        <p:nvSpPr>
          <p:cNvPr id="8" name="Text 6"/>
          <p:cNvSpPr/>
          <p:nvPr/>
        </p:nvSpPr>
        <p:spPr>
          <a:xfrm>
            <a:off x="594360" y="2157984"/>
            <a:ext cx="5212080" cy="356616"/>
          </a:xfrm>
          <a:prstGeom prst="rect">
            <a:avLst/>
          </a:prstGeom>
          <a:noFill/>
          <a:ln/>
        </p:spPr>
        <p:txBody>
          <a:bodyPr wrap="square" lIns="0" tIns="0" rIns="0" bIns="0" rtlCol="0" anchor="ctr"/>
          <a:lstStyle/>
          <a:p>
            <a:pPr indent="0" marL="0">
              <a:buNone/>
            </a:pPr>
            <a:r>
              <a:rPr lang="en-US" sz="1800" dirty="0">
                <a:solidFill>
                  <a:srgbClr val="536779"/>
                </a:solidFill>
                <a:latin typeface="Arial" pitchFamily="34" charset="0"/>
                <a:ea typeface="Arial" pitchFamily="34" charset="-122"/>
                <a:cs typeface="Arial" pitchFamily="34" charset="-120"/>
              </a:rPr>
              <a:t>δ = 0.20; true borrower risk unchanged</a:t>
            </a:r>
            <a:endParaRPr lang="en-US" sz="1800" dirty="0"/>
          </a:p>
        </p:txBody>
      </p:sp>
      <p:sp>
        <p:nvSpPr>
          <p:cNvPr id="9" name="Text 7"/>
          <p:cNvSpPr/>
          <p:nvPr/>
        </p:nvSpPr>
        <p:spPr>
          <a:xfrm>
            <a:off x="6492240" y="1709928"/>
            <a:ext cx="5074920" cy="320040"/>
          </a:xfrm>
          <a:prstGeom prst="rect">
            <a:avLst/>
          </a:prstGeom>
          <a:noFill/>
          <a:ln/>
        </p:spPr>
        <p:txBody>
          <a:bodyPr wrap="square" lIns="0" tIns="0" rIns="0" bIns="0" rtlCol="0" anchor="ctr"/>
          <a:lstStyle/>
          <a:p>
            <a:pPr indent="0" marL="0">
              <a:buNone/>
            </a:pPr>
            <a:r>
              <a:rPr lang="en-US" sz="1900" b="1" dirty="0">
                <a:solidFill>
                  <a:srgbClr val="087F82"/>
                </a:solidFill>
                <a:latin typeface="Arial" pitchFamily="34" charset="0"/>
                <a:ea typeface="Arial" pitchFamily="34" charset="-122"/>
                <a:cs typeface="Arial" pitchFamily="34" charset="-120"/>
              </a:rPr>
              <a:t>SYSTEMIC OPPORTUNITY</a:t>
            </a:r>
            <a:endParaRPr lang="en-US" sz="1900" dirty="0"/>
          </a:p>
        </p:txBody>
      </p:sp>
      <p:sp>
        <p:nvSpPr>
          <p:cNvPr id="10" name="Text 8"/>
          <p:cNvSpPr/>
          <p:nvPr/>
        </p:nvSpPr>
        <p:spPr>
          <a:xfrm>
            <a:off x="6492240" y="2157984"/>
            <a:ext cx="5074920" cy="356616"/>
          </a:xfrm>
          <a:prstGeom prst="rect">
            <a:avLst/>
          </a:prstGeom>
          <a:noFill/>
          <a:ln/>
        </p:spPr>
        <p:txBody>
          <a:bodyPr wrap="square" lIns="0" tIns="0" rIns="0" bIns="0" rtlCol="0" anchor="ctr"/>
          <a:lstStyle/>
          <a:p>
            <a:pPr indent="0" marL="0">
              <a:buNone/>
            </a:pPr>
            <a:r>
              <a:rPr lang="en-US" sz="1800" dirty="0">
                <a:solidFill>
                  <a:srgbClr val="536779"/>
                </a:solidFill>
                <a:latin typeface="Arial" pitchFamily="34" charset="0"/>
                <a:ea typeface="Arial" pitchFamily="34" charset="-122"/>
                <a:cs typeface="Arial" pitchFamily="34" charset="-120"/>
              </a:rPr>
              <a:t>s = 0.40; final lender excludes group</a:t>
            </a:r>
            <a:endParaRPr lang="en-US" sz="1800" dirty="0"/>
          </a:p>
        </p:txBody>
      </p:sp>
      <p:sp>
        <p:nvSpPr>
          <p:cNvPr id="11" name="Shape 9"/>
          <p:cNvSpPr/>
          <p:nvPr/>
        </p:nvSpPr>
        <p:spPr>
          <a:xfrm>
            <a:off x="594360" y="2743200"/>
            <a:ext cx="1143000" cy="594360"/>
          </a:xfrm>
          <a:prstGeom prst="rect">
            <a:avLst/>
          </a:prstGeom>
          <a:solidFill>
            <a:srgbClr val="FFFFFF"/>
          </a:solidFill>
          <a:ln w="12700">
            <a:solidFill>
              <a:srgbClr val="D5DFE5"/>
            </a:solidFill>
            <a:prstDash val="solid"/>
          </a:ln>
        </p:spPr>
      </p:sp>
      <p:sp>
        <p:nvSpPr>
          <p:cNvPr id="12" name="Text 10"/>
          <p:cNvSpPr/>
          <p:nvPr/>
        </p:nvSpPr>
        <p:spPr>
          <a:xfrm>
            <a:off x="685800" y="2825496"/>
            <a:ext cx="960120" cy="429768"/>
          </a:xfrm>
          <a:prstGeom prst="rect">
            <a:avLst/>
          </a:prstGeom>
          <a:noFill/>
          <a:ln/>
        </p:spPr>
        <p:txBody>
          <a:bodyPr wrap="square" lIns="0" tIns="0" rIns="0" bIns="0" rtlCol="0" anchor="ctr"/>
          <a:lstStyle/>
          <a:p>
            <a:pPr algn="ctr" indent="0" marL="0">
              <a:buNone/>
            </a:pPr>
            <a:r>
              <a:rPr lang="en-US" sz="1800" dirty="0">
                <a:solidFill>
                  <a:srgbClr val="AC551E"/>
                </a:solidFill>
                <a:latin typeface="Arial" pitchFamily="34" charset="0"/>
                <a:ea typeface="Arial" pitchFamily="34" charset="-122"/>
                <a:cs typeface="Arial" pitchFamily="34" charset="-120"/>
              </a:rPr>
              <a:t>Group B</a:t>
            </a:r>
            <a:endParaRPr lang="en-US" sz="1800" dirty="0"/>
          </a:p>
        </p:txBody>
      </p:sp>
      <p:sp>
        <p:nvSpPr>
          <p:cNvPr id="13" name="Shape 11"/>
          <p:cNvSpPr/>
          <p:nvPr/>
        </p:nvSpPr>
        <p:spPr>
          <a:xfrm>
            <a:off x="1965960" y="2743200"/>
            <a:ext cx="1508760" cy="594360"/>
          </a:xfrm>
          <a:prstGeom prst="rect">
            <a:avLst/>
          </a:prstGeom>
          <a:solidFill>
            <a:srgbClr val="FFFFFF"/>
          </a:solidFill>
          <a:ln w="12700">
            <a:solidFill>
              <a:srgbClr val="D5DFE5"/>
            </a:solidFill>
            <a:prstDash val="solid"/>
          </a:ln>
        </p:spPr>
      </p:sp>
      <p:sp>
        <p:nvSpPr>
          <p:cNvPr id="14" name="Text 12"/>
          <p:cNvSpPr/>
          <p:nvPr/>
        </p:nvSpPr>
        <p:spPr>
          <a:xfrm>
            <a:off x="2057400" y="2825496"/>
            <a:ext cx="1325880" cy="429768"/>
          </a:xfrm>
          <a:prstGeom prst="rect">
            <a:avLst/>
          </a:prstGeom>
          <a:noFill/>
          <a:ln/>
        </p:spPr>
        <p:txBody>
          <a:bodyPr wrap="square" lIns="0" tIns="0" rIns="0" bIns="0" rtlCol="0" anchor="ctr"/>
          <a:lstStyle/>
          <a:p>
            <a:pPr algn="ctr" indent="0" marL="0">
              <a:buNone/>
            </a:pPr>
            <a:r>
              <a:rPr lang="en-US" sz="1800" dirty="0">
                <a:solidFill>
                  <a:srgbClr val="AC551E"/>
                </a:solidFill>
                <a:latin typeface="Arial" pitchFamily="34" charset="0"/>
                <a:ea typeface="Arial" pitchFamily="34" charset="-122"/>
                <a:cs typeface="Arial" pitchFamily="34" charset="-120"/>
              </a:rPr>
              <a:t>Lower belief</a:t>
            </a:r>
            <a:endParaRPr lang="en-US" sz="1800" dirty="0"/>
          </a:p>
        </p:txBody>
      </p:sp>
      <p:sp>
        <p:nvSpPr>
          <p:cNvPr id="15" name="Shape 13"/>
          <p:cNvSpPr/>
          <p:nvPr/>
        </p:nvSpPr>
        <p:spPr>
          <a:xfrm>
            <a:off x="3703320" y="2743200"/>
            <a:ext cx="2011680" cy="594360"/>
          </a:xfrm>
          <a:prstGeom prst="rect">
            <a:avLst/>
          </a:prstGeom>
          <a:solidFill>
            <a:srgbClr val="FFFFFF"/>
          </a:solidFill>
          <a:ln w="12700">
            <a:solidFill>
              <a:srgbClr val="D5DFE5"/>
            </a:solidFill>
            <a:prstDash val="solid"/>
          </a:ln>
        </p:spPr>
      </p:sp>
      <p:sp>
        <p:nvSpPr>
          <p:cNvPr id="16" name="Text 14"/>
          <p:cNvSpPr/>
          <p:nvPr/>
        </p:nvSpPr>
        <p:spPr>
          <a:xfrm>
            <a:off x="3794760" y="2825496"/>
            <a:ext cx="1828800" cy="429768"/>
          </a:xfrm>
          <a:prstGeom prst="rect">
            <a:avLst/>
          </a:prstGeom>
          <a:noFill/>
          <a:ln/>
        </p:spPr>
        <p:txBody>
          <a:bodyPr wrap="square" lIns="0" tIns="0" rIns="0" bIns="0" rtlCol="0" anchor="ctr"/>
          <a:lstStyle/>
          <a:p>
            <a:pPr algn="ctr" indent="0" marL="0">
              <a:buNone/>
            </a:pPr>
            <a:r>
              <a:rPr lang="en-US" sz="1800" dirty="0">
                <a:solidFill>
                  <a:srgbClr val="AC551E"/>
                </a:solidFill>
                <a:latin typeface="Arial" pitchFamily="34" charset="0"/>
                <a:ea typeface="Arial" pitchFamily="34" charset="-122"/>
                <a:cs typeface="Arial" pitchFamily="34" charset="-120"/>
              </a:rPr>
              <a:t>Profit + funding</a:t>
            </a:r>
            <a:endParaRPr lang="en-US" sz="1800" dirty="0"/>
          </a:p>
        </p:txBody>
      </p:sp>
      <p:sp>
        <p:nvSpPr>
          <p:cNvPr id="17" name="Shape 15"/>
          <p:cNvSpPr/>
          <p:nvPr/>
        </p:nvSpPr>
        <p:spPr>
          <a:xfrm>
            <a:off x="1755648" y="3044952"/>
            <a:ext cx="173736" cy="0"/>
          </a:xfrm>
          <a:prstGeom prst="line">
            <a:avLst/>
          </a:prstGeom>
          <a:noFill/>
          <a:ln w="21590">
            <a:solidFill>
              <a:srgbClr val="AC551E"/>
            </a:solidFill>
            <a:prstDash val="solid"/>
            <a:tailEnd type="triangle"/>
          </a:ln>
        </p:spPr>
      </p:sp>
      <p:sp>
        <p:nvSpPr>
          <p:cNvPr id="18" name="Shape 16"/>
          <p:cNvSpPr/>
          <p:nvPr/>
        </p:nvSpPr>
        <p:spPr>
          <a:xfrm>
            <a:off x="3493008" y="3044952"/>
            <a:ext cx="173736" cy="0"/>
          </a:xfrm>
          <a:prstGeom prst="line">
            <a:avLst/>
          </a:prstGeom>
          <a:noFill/>
          <a:ln w="21590">
            <a:solidFill>
              <a:srgbClr val="AC551E"/>
            </a:solidFill>
            <a:prstDash val="solid"/>
            <a:tailEnd type="triangle"/>
          </a:ln>
        </p:spPr>
      </p:sp>
      <p:sp>
        <p:nvSpPr>
          <p:cNvPr id="19" name="Shape 17"/>
          <p:cNvSpPr/>
          <p:nvPr/>
        </p:nvSpPr>
        <p:spPr>
          <a:xfrm>
            <a:off x="6492240" y="2743200"/>
            <a:ext cx="1143000" cy="594360"/>
          </a:xfrm>
          <a:prstGeom prst="rect">
            <a:avLst/>
          </a:prstGeom>
          <a:solidFill>
            <a:srgbClr val="FFFFFF"/>
          </a:solidFill>
          <a:ln w="12700">
            <a:solidFill>
              <a:srgbClr val="D5DFE5"/>
            </a:solidFill>
            <a:prstDash val="solid"/>
          </a:ln>
        </p:spPr>
      </p:sp>
      <p:sp>
        <p:nvSpPr>
          <p:cNvPr id="20" name="Text 18"/>
          <p:cNvSpPr/>
          <p:nvPr/>
        </p:nvSpPr>
        <p:spPr>
          <a:xfrm>
            <a:off x="6583680" y="2825496"/>
            <a:ext cx="960120" cy="429768"/>
          </a:xfrm>
          <a:prstGeom prst="rect">
            <a:avLst/>
          </a:prstGeom>
          <a:noFill/>
          <a:ln/>
        </p:spPr>
        <p:txBody>
          <a:bodyPr wrap="square" lIns="0" tIns="0" rIns="0" bIns="0" rtlCol="0" anchor="ctr"/>
          <a:lstStyle/>
          <a:p>
            <a:pPr algn="ctr" indent="0" marL="0">
              <a:buNone/>
            </a:pPr>
            <a:r>
              <a:rPr lang="en-US" sz="1800" dirty="0">
                <a:solidFill>
                  <a:srgbClr val="087F82"/>
                </a:solidFill>
                <a:latin typeface="Arial" pitchFamily="34" charset="0"/>
                <a:ea typeface="Arial" pitchFamily="34" charset="-122"/>
                <a:cs typeface="Arial" pitchFamily="34" charset="-120"/>
              </a:rPr>
              <a:t>Group B</a:t>
            </a:r>
            <a:endParaRPr lang="en-US" sz="1800" dirty="0"/>
          </a:p>
        </p:txBody>
      </p:sp>
      <p:sp>
        <p:nvSpPr>
          <p:cNvPr id="21" name="Shape 19"/>
          <p:cNvSpPr/>
          <p:nvPr/>
        </p:nvSpPr>
        <p:spPr>
          <a:xfrm>
            <a:off x="7863840" y="2743200"/>
            <a:ext cx="1508760" cy="594360"/>
          </a:xfrm>
          <a:prstGeom prst="rect">
            <a:avLst/>
          </a:prstGeom>
          <a:solidFill>
            <a:srgbClr val="FFFFFF"/>
          </a:solidFill>
          <a:ln w="12700">
            <a:solidFill>
              <a:srgbClr val="D5DFE5"/>
            </a:solidFill>
            <a:prstDash val="solid"/>
          </a:ln>
        </p:spPr>
      </p:sp>
      <p:sp>
        <p:nvSpPr>
          <p:cNvPr id="22" name="Text 20"/>
          <p:cNvSpPr/>
          <p:nvPr/>
        </p:nvSpPr>
        <p:spPr>
          <a:xfrm>
            <a:off x="7955280" y="2825496"/>
            <a:ext cx="1325880" cy="429768"/>
          </a:xfrm>
          <a:prstGeom prst="rect">
            <a:avLst/>
          </a:prstGeom>
          <a:noFill/>
          <a:ln/>
        </p:spPr>
        <p:txBody>
          <a:bodyPr wrap="square" lIns="0" tIns="0" rIns="0" bIns="0" rtlCol="0" anchor="ctr"/>
          <a:lstStyle/>
          <a:p>
            <a:pPr algn="ctr" indent="0" marL="0">
              <a:buNone/>
            </a:pPr>
            <a:r>
              <a:rPr lang="en-US" sz="1800" dirty="0">
                <a:solidFill>
                  <a:srgbClr val="087F82"/>
                </a:solidFill>
                <a:latin typeface="Arial" pitchFamily="34" charset="0"/>
                <a:ea typeface="Arial" pitchFamily="34" charset="-122"/>
                <a:cs typeface="Arial" pitchFamily="34" charset="-120"/>
              </a:rPr>
              <a:t>Opportunity</a:t>
            </a:r>
            <a:endParaRPr lang="en-US" sz="1800" dirty="0"/>
          </a:p>
        </p:txBody>
      </p:sp>
      <p:sp>
        <p:nvSpPr>
          <p:cNvPr id="23" name="Shape 21"/>
          <p:cNvSpPr/>
          <p:nvPr/>
        </p:nvSpPr>
        <p:spPr>
          <a:xfrm>
            <a:off x="9601200" y="2743200"/>
            <a:ext cx="1965960" cy="594360"/>
          </a:xfrm>
          <a:prstGeom prst="rect">
            <a:avLst/>
          </a:prstGeom>
          <a:solidFill>
            <a:srgbClr val="FFFFFF"/>
          </a:solidFill>
          <a:ln w="12700">
            <a:solidFill>
              <a:srgbClr val="D5DFE5"/>
            </a:solidFill>
            <a:prstDash val="solid"/>
          </a:ln>
        </p:spPr>
      </p:sp>
      <p:sp>
        <p:nvSpPr>
          <p:cNvPr id="24" name="Text 22"/>
          <p:cNvSpPr/>
          <p:nvPr/>
        </p:nvSpPr>
        <p:spPr>
          <a:xfrm>
            <a:off x="9692640" y="2825496"/>
            <a:ext cx="1783080" cy="429768"/>
          </a:xfrm>
          <a:prstGeom prst="rect">
            <a:avLst/>
          </a:prstGeom>
          <a:noFill/>
          <a:ln/>
        </p:spPr>
        <p:txBody>
          <a:bodyPr wrap="square" lIns="0" tIns="0" rIns="0" bIns="0" rtlCol="0" anchor="ctr"/>
          <a:lstStyle/>
          <a:p>
            <a:pPr algn="ctr" indent="0" marL="0">
              <a:buNone/>
            </a:pPr>
            <a:r>
              <a:rPr lang="en-US" sz="1800" dirty="0">
                <a:solidFill>
                  <a:srgbClr val="087F82"/>
                </a:solidFill>
                <a:latin typeface="Arial" pitchFamily="34" charset="0"/>
                <a:ea typeface="Arial" pitchFamily="34" charset="-122"/>
                <a:cs typeface="Arial" pitchFamily="34" charset="-120"/>
              </a:rPr>
              <a:t>Finances + risk</a:t>
            </a:r>
            <a:endParaRPr lang="en-US" sz="1800" dirty="0"/>
          </a:p>
        </p:txBody>
      </p:sp>
      <p:sp>
        <p:nvSpPr>
          <p:cNvPr id="25" name="Shape 23"/>
          <p:cNvSpPr/>
          <p:nvPr/>
        </p:nvSpPr>
        <p:spPr>
          <a:xfrm>
            <a:off x="7653528" y="3044952"/>
            <a:ext cx="173736" cy="0"/>
          </a:xfrm>
          <a:prstGeom prst="line">
            <a:avLst/>
          </a:prstGeom>
          <a:noFill/>
          <a:ln w="21590">
            <a:solidFill>
              <a:srgbClr val="087F82"/>
            </a:solidFill>
            <a:prstDash val="solid"/>
            <a:tailEnd type="triangle"/>
          </a:ln>
        </p:spPr>
      </p:sp>
      <p:sp>
        <p:nvSpPr>
          <p:cNvPr id="26" name="Shape 24"/>
          <p:cNvSpPr/>
          <p:nvPr/>
        </p:nvSpPr>
        <p:spPr>
          <a:xfrm>
            <a:off x="9390888" y="3044952"/>
            <a:ext cx="173736" cy="0"/>
          </a:xfrm>
          <a:prstGeom prst="line">
            <a:avLst/>
          </a:prstGeom>
          <a:noFill/>
          <a:ln w="21590">
            <a:solidFill>
              <a:srgbClr val="087F82"/>
            </a:solidFill>
            <a:prstDash val="solid"/>
            <a:tailEnd type="triangle"/>
          </a:ln>
        </p:spPr>
      </p:sp>
      <p:sp>
        <p:nvSpPr>
          <p:cNvPr id="27" name="Text 25"/>
          <p:cNvSpPr/>
          <p:nvPr/>
        </p:nvSpPr>
        <p:spPr>
          <a:xfrm>
            <a:off x="594360" y="3593592"/>
            <a:ext cx="5212080" cy="393192"/>
          </a:xfrm>
          <a:prstGeom prst="rect">
            <a:avLst/>
          </a:prstGeom>
          <a:noFill/>
          <a:ln/>
        </p:spPr>
        <p:txBody>
          <a:bodyPr wrap="square" lIns="0" tIns="0" rIns="0" bIns="0" rtlCol="0" anchor="ctr"/>
          <a:lstStyle/>
          <a:p>
            <a:pPr indent="0" marL="0">
              <a:buNone/>
            </a:pPr>
            <a:r>
              <a:rPr lang="en-US" sz="1600" dirty="0">
                <a:solidFill>
                  <a:srgbClr val="536779"/>
                </a:solidFill>
                <a:latin typeface="Arial" pitchFamily="34" charset="0"/>
                <a:ea typeface="Arial" pitchFamily="34" charset="-122"/>
                <a:cs typeface="Arial" pitchFamily="34" charset="-120"/>
              </a:rPr>
              <a:t>Additive world, traditional lender, 40% budget</a:t>
            </a:r>
            <a:endParaRPr lang="en-US" sz="1600" dirty="0"/>
          </a:p>
        </p:txBody>
      </p:sp>
      <p:sp>
        <p:nvSpPr>
          <p:cNvPr id="28" name="Text 26"/>
          <p:cNvSpPr/>
          <p:nvPr/>
        </p:nvSpPr>
        <p:spPr>
          <a:xfrm>
            <a:off x="594360" y="4206240"/>
            <a:ext cx="2468880" cy="530352"/>
          </a:xfrm>
          <a:prstGeom prst="rect">
            <a:avLst/>
          </a:prstGeom>
          <a:noFill/>
          <a:ln/>
        </p:spPr>
        <p:txBody>
          <a:bodyPr wrap="square" lIns="0" tIns="0" rIns="0" bIns="0" rtlCol="0" anchor="ctr"/>
          <a:lstStyle/>
          <a:p>
            <a:pPr indent="0" marL="0">
              <a:buNone/>
            </a:pPr>
            <a:r>
              <a:rPr lang="en-US" sz="3200" b="1" dirty="0">
                <a:solidFill>
                  <a:srgbClr val="142D45"/>
                </a:solidFill>
                <a:latin typeface="Arial" pitchFamily="34" charset="0"/>
                <a:ea typeface="Arial" pitchFamily="34" charset="-122"/>
                <a:cs typeface="Arial" pitchFamily="34" charset="-120"/>
              </a:rPr>
              <a:t>+3.96 pp</a:t>
            </a:r>
            <a:endParaRPr lang="en-US" sz="3200" dirty="0"/>
          </a:p>
        </p:txBody>
      </p:sp>
      <p:sp>
        <p:nvSpPr>
          <p:cNvPr id="29" name="Text 27"/>
          <p:cNvSpPr/>
          <p:nvPr/>
        </p:nvSpPr>
        <p:spPr>
          <a:xfrm>
            <a:off x="3337560" y="4206240"/>
            <a:ext cx="2468880" cy="530352"/>
          </a:xfrm>
          <a:prstGeom prst="rect">
            <a:avLst/>
          </a:prstGeom>
          <a:noFill/>
          <a:ln/>
        </p:spPr>
        <p:txBody>
          <a:bodyPr wrap="square" lIns="0" tIns="0" rIns="0" bIns="0" rtlCol="0" anchor="ctr"/>
          <a:lstStyle/>
          <a:p>
            <a:pPr indent="0" marL="0">
              <a:buNone/>
            </a:pPr>
            <a:r>
              <a:rPr lang="en-US" sz="3200" b="1" dirty="0">
                <a:solidFill>
                  <a:srgbClr val="AC551E"/>
                </a:solidFill>
                <a:latin typeface="Arial" pitchFamily="34" charset="0"/>
                <a:ea typeface="Arial" pitchFamily="34" charset="-122"/>
                <a:cs typeface="Arial" pitchFamily="34" charset="-120"/>
              </a:rPr>
              <a:t>−3.85 pp</a:t>
            </a:r>
            <a:endParaRPr lang="en-US" sz="3200" dirty="0"/>
          </a:p>
        </p:txBody>
      </p:sp>
      <p:sp>
        <p:nvSpPr>
          <p:cNvPr id="30" name="Text 28"/>
          <p:cNvSpPr/>
          <p:nvPr/>
        </p:nvSpPr>
        <p:spPr>
          <a:xfrm>
            <a:off x="594360" y="4800600"/>
            <a:ext cx="2468880" cy="310896"/>
          </a:xfrm>
          <a:prstGeom prst="rect">
            <a:avLst/>
          </a:prstGeom>
          <a:noFill/>
          <a:ln/>
        </p:spPr>
        <p:txBody>
          <a:bodyPr wrap="square" lIns="0" tIns="0" rIns="0" bIns="0" rtlCol="0" anchor="ctr"/>
          <a:lstStyle/>
          <a:p>
            <a:pPr indent="0" marL="0">
              <a:buNone/>
            </a:pPr>
            <a:r>
              <a:rPr lang="en-US" sz="1700" dirty="0">
                <a:solidFill>
                  <a:srgbClr val="536779"/>
                </a:solidFill>
                <a:latin typeface="Arial" pitchFamily="34" charset="0"/>
                <a:ea typeface="Arial" pitchFamily="34" charset="-122"/>
                <a:cs typeface="Arial" pitchFamily="34" charset="-120"/>
              </a:rPr>
              <a:t>Group A funding</a:t>
            </a:r>
            <a:endParaRPr lang="en-US" sz="1700" dirty="0"/>
          </a:p>
        </p:txBody>
      </p:sp>
      <p:sp>
        <p:nvSpPr>
          <p:cNvPr id="31" name="Text 29"/>
          <p:cNvSpPr/>
          <p:nvPr/>
        </p:nvSpPr>
        <p:spPr>
          <a:xfrm>
            <a:off x="3337560" y="4800600"/>
            <a:ext cx="2468880" cy="310896"/>
          </a:xfrm>
          <a:prstGeom prst="rect">
            <a:avLst/>
          </a:prstGeom>
          <a:noFill/>
          <a:ln/>
        </p:spPr>
        <p:txBody>
          <a:bodyPr wrap="square" lIns="0" tIns="0" rIns="0" bIns="0" rtlCol="0" anchor="ctr"/>
          <a:lstStyle/>
          <a:p>
            <a:pPr indent="0" marL="0">
              <a:buNone/>
            </a:pPr>
            <a:r>
              <a:rPr lang="en-US" sz="1700" dirty="0">
                <a:solidFill>
                  <a:srgbClr val="536779"/>
                </a:solidFill>
                <a:latin typeface="Arial" pitchFamily="34" charset="0"/>
                <a:ea typeface="Arial" pitchFamily="34" charset="-122"/>
                <a:cs typeface="Arial" pitchFamily="34" charset="-120"/>
              </a:rPr>
              <a:t>Group B funding</a:t>
            </a:r>
            <a:endParaRPr lang="en-US" sz="1700" dirty="0"/>
          </a:p>
        </p:txBody>
      </p:sp>
      <p:sp>
        <p:nvSpPr>
          <p:cNvPr id="32" name="Text 30"/>
          <p:cNvSpPr/>
          <p:nvPr/>
        </p:nvSpPr>
        <p:spPr>
          <a:xfrm>
            <a:off x="594360" y="5376672"/>
            <a:ext cx="5212080" cy="374904"/>
          </a:xfrm>
          <a:prstGeom prst="rect">
            <a:avLst/>
          </a:prstGeom>
          <a:noFill/>
          <a:ln/>
        </p:spPr>
        <p:txBody>
          <a:bodyPr wrap="square" lIns="0" tIns="0" rIns="0" bIns="0" rtlCol="0" anchor="ctr"/>
          <a:lstStyle/>
          <a:p>
            <a:pPr indent="0" marL="0">
              <a:buNone/>
            </a:pPr>
            <a:r>
              <a:rPr lang="en-US" sz="2100" b="1" dirty="0">
                <a:solidFill>
                  <a:srgbClr val="142D45"/>
                </a:solidFill>
                <a:latin typeface="Arial" pitchFamily="34" charset="0"/>
                <a:ea typeface="Arial" pitchFamily="34" charset="-122"/>
                <a:cs typeface="Arial" pitchFamily="34" charset="-120"/>
              </a:rPr>
              <a:t>B−A funding-gap change: −7.80 pp</a:t>
            </a:r>
            <a:endParaRPr lang="en-US" sz="2100" dirty="0"/>
          </a:p>
        </p:txBody>
      </p:sp>
      <p:sp>
        <p:nvSpPr>
          <p:cNvPr id="33" name="Text 31"/>
          <p:cNvSpPr/>
          <p:nvPr/>
        </p:nvSpPr>
        <p:spPr>
          <a:xfrm>
            <a:off x="594360" y="5907024"/>
            <a:ext cx="5212080" cy="292608"/>
          </a:xfrm>
          <a:prstGeom prst="rect">
            <a:avLst/>
          </a:prstGeom>
          <a:noFill/>
          <a:ln/>
        </p:spPr>
        <p:txBody>
          <a:bodyPr wrap="square" lIns="0" tIns="0" rIns="0" bIns="0" rtlCol="0" anchor="ctr"/>
          <a:lstStyle/>
          <a:p>
            <a:pPr indent="0" marL="0">
              <a:buNone/>
            </a:pPr>
            <a:r>
              <a:rPr lang="en-US" sz="1700" dirty="0">
                <a:solidFill>
                  <a:srgbClr val="536779"/>
                </a:solidFill>
                <a:latin typeface="Arial" pitchFamily="34" charset="0"/>
                <a:ea typeface="Arial" pitchFamily="34" charset="-122"/>
                <a:cs typeface="Arial" pitchFamily="34" charset="-120"/>
              </a:rPr>
              <a:t>Separate oracle-reference cost: $211K</a:t>
            </a:r>
            <a:endParaRPr lang="en-US" sz="1700" dirty="0"/>
          </a:p>
        </p:txBody>
      </p:sp>
      <p:sp>
        <p:nvSpPr>
          <p:cNvPr id="34" name="Text 32"/>
          <p:cNvSpPr/>
          <p:nvPr/>
        </p:nvSpPr>
        <p:spPr>
          <a:xfrm>
            <a:off x="6492240" y="3767328"/>
            <a:ext cx="5074920" cy="521208"/>
          </a:xfrm>
          <a:prstGeom prst="rect">
            <a:avLst/>
          </a:prstGeom>
          <a:noFill/>
          <a:ln/>
        </p:spPr>
        <p:txBody>
          <a:bodyPr wrap="square" lIns="0" tIns="0" rIns="0" bIns="0" rtlCol="0" anchor="ctr"/>
          <a:lstStyle/>
          <a:p>
            <a:pPr indent="0" marL="0">
              <a:buNone/>
            </a:pPr>
            <a:r>
              <a:rPr lang="en-US" sz="3200" b="1" dirty="0">
                <a:solidFill>
                  <a:srgbClr val="087F82"/>
                </a:solidFill>
                <a:latin typeface="Arial" pitchFamily="34" charset="0"/>
                <a:ea typeface="Arial" pitchFamily="34" charset="-122"/>
                <a:cs typeface="Arial" pitchFamily="34" charset="-120"/>
              </a:rPr>
              <a:t>70.22% → 61.83%</a:t>
            </a:r>
            <a:endParaRPr lang="en-US" sz="3200" dirty="0"/>
          </a:p>
        </p:txBody>
      </p:sp>
      <p:sp>
        <p:nvSpPr>
          <p:cNvPr id="35" name="Text 33"/>
          <p:cNvSpPr/>
          <p:nvPr/>
        </p:nvSpPr>
        <p:spPr>
          <a:xfrm>
            <a:off x="6492240" y="4389120"/>
            <a:ext cx="4937760" cy="338328"/>
          </a:xfrm>
          <a:prstGeom prst="rect">
            <a:avLst/>
          </a:prstGeom>
          <a:noFill/>
          <a:ln/>
        </p:spPr>
        <p:txBody>
          <a:bodyPr wrap="square" lIns="0" tIns="0" rIns="0" bIns="0" rtlCol="0" anchor="ctr"/>
          <a:lstStyle/>
          <a:p>
            <a:pPr indent="0" marL="0">
              <a:buNone/>
            </a:pPr>
            <a:r>
              <a:rPr lang="en-US" sz="1800" dirty="0">
                <a:solidFill>
                  <a:srgbClr val="536779"/>
                </a:solidFill>
                <a:latin typeface="Arial" pitchFamily="34" charset="0"/>
                <a:ea typeface="Arial" pitchFamily="34" charset="-122"/>
                <a:cs typeface="Arial" pitchFamily="34" charset="-120"/>
              </a:rPr>
              <a:t>Group B opportunity access</a:t>
            </a:r>
            <a:endParaRPr lang="en-US" sz="1800" dirty="0"/>
          </a:p>
        </p:txBody>
      </p:sp>
      <p:sp>
        <p:nvSpPr>
          <p:cNvPr id="36" name="Text 34"/>
          <p:cNvSpPr/>
          <p:nvPr/>
        </p:nvSpPr>
        <p:spPr>
          <a:xfrm>
            <a:off x="6492240" y="4892040"/>
            <a:ext cx="5074920" cy="365760"/>
          </a:xfrm>
          <a:prstGeom prst="rect">
            <a:avLst/>
          </a:prstGeom>
          <a:noFill/>
          <a:ln/>
        </p:spPr>
        <p:txBody>
          <a:bodyPr wrap="square" lIns="0" tIns="0" rIns="0" bIns="0" rtlCol="0" anchor="ctr"/>
          <a:lstStyle/>
          <a:p>
            <a:pPr indent="0" marL="0">
              <a:buNone/>
            </a:pPr>
            <a:r>
              <a:rPr lang="en-US" sz="2000" b="1" dirty="0">
                <a:solidFill>
                  <a:srgbClr val="142D45"/>
                </a:solidFill>
                <a:latin typeface="Arial" pitchFamily="34" charset="0"/>
                <a:ea typeface="Arial" pitchFamily="34" charset="-122"/>
                <a:cs typeface="Arial" pitchFamily="34" charset="-120"/>
              </a:rPr>
              <a:t>417 applicants lose access (8.40% of B)</a:t>
            </a:r>
            <a:endParaRPr lang="en-US" sz="2000" dirty="0"/>
          </a:p>
        </p:txBody>
      </p:sp>
      <p:sp>
        <p:nvSpPr>
          <p:cNvPr id="37" name="Text 35"/>
          <p:cNvSpPr/>
          <p:nvPr/>
        </p:nvSpPr>
        <p:spPr>
          <a:xfrm>
            <a:off x="6492240" y="5477256"/>
            <a:ext cx="5074920" cy="676656"/>
          </a:xfrm>
          <a:prstGeom prst="rect">
            <a:avLst/>
          </a:prstGeom>
          <a:noFill/>
          <a:ln/>
        </p:spPr>
        <p:txBody>
          <a:bodyPr wrap="square" lIns="0" tIns="0" rIns="0" bIns="0" rtlCol="0" anchor="ctr"/>
          <a:lstStyle/>
          <a:p>
            <a:pPr indent="0" marL="0">
              <a:buNone/>
            </a:pPr>
            <a:r>
              <a:rPr lang="en-US" sz="1800" dirty="0">
                <a:solidFill>
                  <a:srgbClr val="142D45"/>
                </a:solidFill>
                <a:latin typeface="Arial" pitchFamily="34" charset="0"/>
                <a:ea typeface="Arial" pitchFamily="34" charset="-122"/>
                <a:cs typeface="Arial" pitchFamily="34" charset="-120"/>
              </a:rPr>
              <a:t>Among switchers: income −$8.3K</a:t>
            </a:r>
            <a:endParaRPr lang="en-US" sz="1800" dirty="0"/>
          </a:p>
          <a:p>
            <a:pPr indent="0" marL="0">
              <a:buNone/>
            </a:pPr>
            <a:r>
              <a:rPr lang="en-US" sz="1800" dirty="0">
                <a:solidFill>
                  <a:srgbClr val="142D45"/>
                </a:solidFill>
                <a:latin typeface="Arial" pitchFamily="34" charset="0"/>
                <a:ea typeface="Arial" pitchFamily="34" charset="-122"/>
                <a:cs typeface="Arial" pitchFamily="34" charset="-120"/>
              </a:rPr>
              <a:t>assets −$9.7K; employment −1.48 years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38912"/>
            <a:ext cx="11000232" cy="822960"/>
          </a:xfrm>
          <a:prstGeom prst="rect">
            <a:avLst/>
          </a:prstGeom>
          <a:noFill/>
          <a:ln/>
        </p:spPr>
        <p:txBody>
          <a:bodyPr wrap="square" lIns="0" tIns="0" rIns="0" bIns="0" rtlCol="0" anchor="ctr"/>
          <a:lstStyle/>
          <a:p>
            <a:pPr indent="0" marL="0">
              <a:buNone/>
            </a:pPr>
            <a:r>
              <a:rPr lang="en-US" sz="3100" b="1" dirty="0">
                <a:solidFill>
                  <a:srgbClr val="142D45"/>
                </a:solidFill>
                <a:latin typeface="Arial" pitchFamily="34" charset="0"/>
                <a:ea typeface="Arial" pitchFamily="34" charset="-122"/>
                <a:cs typeface="Arial" pitchFamily="34" charset="-120"/>
              </a:rPr>
              <a:t>Current Status and Next Steps</a:t>
            </a:r>
            <a:endParaRPr lang="en-US" sz="3100" dirty="0"/>
          </a:p>
        </p:txBody>
      </p:sp>
      <p:sp>
        <p:nvSpPr>
          <p:cNvPr id="3" name="Shape 1"/>
          <p:cNvSpPr/>
          <p:nvPr/>
        </p:nvSpPr>
        <p:spPr>
          <a:xfrm>
            <a:off x="594360" y="1417320"/>
            <a:ext cx="11000232" cy="0"/>
          </a:xfrm>
          <a:prstGeom prst="line">
            <a:avLst/>
          </a:prstGeom>
          <a:noFill/>
          <a:ln w="12700">
            <a:solidFill>
              <a:srgbClr val="D5DFE5"/>
            </a:solidFill>
            <a:prstDash val="solid"/>
          </a:ln>
        </p:spPr>
      </p:sp>
      <p:sp>
        <p:nvSpPr>
          <p:cNvPr id="4" name="Text 2"/>
          <p:cNvSpPr/>
          <p:nvPr/>
        </p:nvSpPr>
        <p:spPr>
          <a:xfrm>
            <a:off x="594360" y="6446520"/>
            <a:ext cx="10607040" cy="210312"/>
          </a:xfrm>
          <a:prstGeom prst="rect">
            <a:avLst/>
          </a:prstGeom>
          <a:noFill/>
          <a:ln/>
        </p:spPr>
        <p:txBody>
          <a:bodyPr wrap="square" lIns="0" tIns="0" rIns="0" bIns="0" rtlCol="0" anchor="ctr"/>
          <a:lstStyle/>
          <a:p>
            <a:pPr indent="0" marL="0">
              <a:buNone/>
            </a:pPr>
            <a:r>
              <a:rPr lang="en-US" sz="950" dirty="0">
                <a:solidFill>
                  <a:srgbClr val="536779"/>
                </a:solidFill>
                <a:latin typeface="Arial" pitchFamily="34" charset="0"/>
                <a:ea typeface="Arial" pitchFamily="34" charset="-122"/>
                <a:cs typeface="Arial" pitchFamily="34" charset="-120"/>
              </a:rPr>
              <a:t>Source: corrected checkpoint JSON and project status; full 50-replication study remains incomplete.</a:t>
            </a:r>
            <a:endParaRPr lang="en-US" sz="950" dirty="0"/>
          </a:p>
        </p:txBody>
      </p:sp>
      <p:sp>
        <p:nvSpPr>
          <p:cNvPr id="5" name="Text 3"/>
          <p:cNvSpPr/>
          <p:nvPr/>
        </p:nvSpPr>
        <p:spPr>
          <a:xfrm>
            <a:off x="11155680" y="6437376"/>
            <a:ext cx="411480" cy="228600"/>
          </a:xfrm>
          <a:prstGeom prst="rect">
            <a:avLst/>
          </a:prstGeom>
          <a:noFill/>
          <a:ln/>
        </p:spPr>
        <p:txBody>
          <a:bodyPr wrap="square" lIns="0" tIns="0" rIns="0" bIns="0" rtlCol="0" anchor="ctr"/>
          <a:lstStyle/>
          <a:p>
            <a:pPr algn="r" indent="0" marL="0">
              <a:buNone/>
            </a:pPr>
            <a:r>
              <a:rPr lang="en-US" sz="1100" dirty="0">
                <a:solidFill>
                  <a:srgbClr val="536779"/>
                </a:solidFill>
                <a:latin typeface="Arial" pitchFamily="34" charset="0"/>
                <a:ea typeface="Arial" pitchFamily="34" charset="-122"/>
                <a:cs typeface="Arial" pitchFamily="34" charset="-120"/>
              </a:rPr>
              <a:t>6</a:t>
            </a:r>
            <a:endParaRPr lang="en-US" sz="1100" dirty="0"/>
          </a:p>
        </p:txBody>
      </p:sp>
      <p:sp>
        <p:nvSpPr>
          <p:cNvPr id="6" name="Text 4"/>
          <p:cNvSpPr/>
          <p:nvPr/>
        </p:nvSpPr>
        <p:spPr>
          <a:xfrm>
            <a:off x="594360" y="1682496"/>
            <a:ext cx="4937760" cy="310896"/>
          </a:xfrm>
          <a:prstGeom prst="rect">
            <a:avLst/>
          </a:prstGeom>
          <a:noFill/>
          <a:ln/>
        </p:spPr>
        <p:txBody>
          <a:bodyPr wrap="square" lIns="0" tIns="0" rIns="0" bIns="0" rtlCol="0" anchor="ctr"/>
          <a:lstStyle/>
          <a:p>
            <a:pPr indent="0" marL="0">
              <a:buNone/>
            </a:pPr>
            <a:r>
              <a:rPr lang="en-US" sz="1700" b="1" dirty="0">
                <a:solidFill>
                  <a:srgbClr val="087F82"/>
                </a:solidFill>
                <a:latin typeface="Arial" pitchFamily="34" charset="0"/>
                <a:ea typeface="Arial" pitchFamily="34" charset="-122"/>
                <a:cs typeface="Arial" pitchFamily="34" charset="-120"/>
              </a:rPr>
              <a:t>COMPLETED</a:t>
            </a:r>
            <a:endParaRPr lang="en-US" sz="1700" dirty="0"/>
          </a:p>
        </p:txBody>
      </p:sp>
      <p:sp>
        <p:nvSpPr>
          <p:cNvPr id="7" name="Text 5"/>
          <p:cNvSpPr/>
          <p:nvPr/>
        </p:nvSpPr>
        <p:spPr>
          <a:xfrm>
            <a:off x="594360" y="2221992"/>
            <a:ext cx="5166360" cy="1097280"/>
          </a:xfrm>
          <a:prstGeom prst="rect">
            <a:avLst/>
          </a:prstGeom>
          <a:noFill/>
          <a:ln/>
        </p:spPr>
        <p:txBody>
          <a:bodyPr wrap="square" lIns="0" tIns="0" rIns="0" bIns="0" rtlCol="0" anchor="ctr"/>
          <a:lstStyle/>
          <a:p>
            <a:pPr indent="0" marL="0">
              <a:buNone/>
            </a:pPr>
            <a:r>
              <a:rPr lang="en-US" sz="2200" dirty="0">
                <a:solidFill>
                  <a:srgbClr val="142D45"/>
                </a:solidFill>
                <a:latin typeface="Arial" pitchFamily="34" charset="0"/>
                <a:ea typeface="Arial" pitchFamily="34" charset="-122"/>
                <a:cs typeface="Arial" pitchFamily="34" charset="-120"/>
              </a:rPr>
              <a:t>Economic simulation and risk models</a:t>
            </a:r>
            <a:endParaRPr lang="en-US" sz="2200" dirty="0"/>
          </a:p>
          <a:p>
            <a:pPr indent="0" marL="0">
              <a:buNone/>
            </a:pPr>
            <a:r>
              <a:rPr lang="en-US" sz="2200" dirty="0">
                <a:solidFill>
                  <a:srgbClr val="142D45"/>
                </a:solidFill>
                <a:latin typeface="Arial" pitchFamily="34" charset="0"/>
                <a:ea typeface="Arial" pitchFamily="34" charset="-122"/>
                <a:cs typeface="Arial" pitchFamily="34" charset="-120"/>
              </a:rPr>
              <a:t>Budget-constrained portfolios</a:t>
            </a:r>
            <a:endParaRPr lang="en-US" sz="2200" dirty="0"/>
          </a:p>
          <a:p>
            <a:pPr indent="0" marL="0">
              <a:buNone/>
            </a:pPr>
            <a:r>
              <a:rPr lang="en-US" sz="2200" dirty="0">
                <a:solidFill>
                  <a:srgbClr val="142D45"/>
                </a:solidFill>
                <a:latin typeface="Arial" pitchFamily="34" charset="0"/>
                <a:ea typeface="Arial" pitchFamily="34" charset="-122"/>
                <a:cs typeface="Arial" pitchFamily="34" charset="-120"/>
              </a:rPr>
              <a:t>Direct and systemic experiments</a:t>
            </a:r>
            <a:endParaRPr lang="en-US" sz="2200" dirty="0"/>
          </a:p>
        </p:txBody>
      </p:sp>
      <p:sp>
        <p:nvSpPr>
          <p:cNvPr id="8" name="Text 6"/>
          <p:cNvSpPr/>
          <p:nvPr/>
        </p:nvSpPr>
        <p:spPr>
          <a:xfrm>
            <a:off x="594360" y="3685032"/>
            <a:ext cx="4937760" cy="292608"/>
          </a:xfrm>
          <a:prstGeom prst="rect">
            <a:avLst/>
          </a:prstGeom>
          <a:noFill/>
          <a:ln/>
        </p:spPr>
        <p:txBody>
          <a:bodyPr wrap="square" lIns="0" tIns="0" rIns="0" bIns="0" rtlCol="0" anchor="ctr"/>
          <a:lstStyle/>
          <a:p>
            <a:pPr indent="0" marL="0">
              <a:buNone/>
            </a:pPr>
            <a:r>
              <a:rPr lang="en-US" sz="1700" b="1" dirty="0">
                <a:solidFill>
                  <a:srgbClr val="087F82"/>
                </a:solidFill>
                <a:latin typeface="Arial" pitchFamily="34" charset="0"/>
                <a:ea typeface="Arial" pitchFamily="34" charset="-122"/>
                <a:cs typeface="Arial" pitchFamily="34" charset="-120"/>
              </a:rPr>
              <a:t>CORRECTED MINI-BATCH</a:t>
            </a:r>
            <a:endParaRPr lang="en-US" sz="1700" dirty="0"/>
          </a:p>
        </p:txBody>
      </p:sp>
      <p:sp>
        <p:nvSpPr>
          <p:cNvPr id="9" name="Text 7"/>
          <p:cNvSpPr/>
          <p:nvPr/>
        </p:nvSpPr>
        <p:spPr>
          <a:xfrm>
            <a:off x="594360" y="4160520"/>
            <a:ext cx="5257800" cy="502920"/>
          </a:xfrm>
          <a:prstGeom prst="rect">
            <a:avLst/>
          </a:prstGeom>
          <a:noFill/>
          <a:ln/>
        </p:spPr>
        <p:txBody>
          <a:bodyPr wrap="square" lIns="0" tIns="0" rIns="0" bIns="0" rtlCol="0" anchor="ctr"/>
          <a:lstStyle/>
          <a:p>
            <a:pPr indent="0" marL="0">
              <a:buNone/>
            </a:pPr>
            <a:r>
              <a:rPr lang="en-US" sz="2900" b="1" dirty="0">
                <a:solidFill>
                  <a:srgbClr val="142D45"/>
                </a:solidFill>
                <a:latin typeface="Arial" pitchFamily="34" charset="0"/>
                <a:ea typeface="Arial" pitchFamily="34" charset="-122"/>
                <a:cs typeface="Arial" pitchFamily="34" charset="-120"/>
              </a:rPr>
              <a:t>5 replications / 360 portfolios</a:t>
            </a:r>
            <a:endParaRPr lang="en-US" sz="2900" dirty="0"/>
          </a:p>
        </p:txBody>
      </p:sp>
      <p:sp>
        <p:nvSpPr>
          <p:cNvPr id="10" name="Text 8"/>
          <p:cNvSpPr/>
          <p:nvPr/>
        </p:nvSpPr>
        <p:spPr>
          <a:xfrm>
            <a:off x="594360" y="4873752"/>
            <a:ext cx="5257800" cy="685800"/>
          </a:xfrm>
          <a:prstGeom prst="rect">
            <a:avLst/>
          </a:prstGeom>
          <a:noFill/>
          <a:ln/>
        </p:spPr>
        <p:txBody>
          <a:bodyPr wrap="square" lIns="0" tIns="0" rIns="0" bIns="0" rtlCol="0" anchor="ctr"/>
          <a:lstStyle/>
          <a:p>
            <a:pPr indent="0" marL="0">
              <a:buNone/>
            </a:pPr>
            <a:r>
              <a:rPr lang="en-US" sz="1800" dirty="0">
                <a:solidFill>
                  <a:srgbClr val="536779"/>
                </a:solidFill>
                <a:latin typeface="Arial" pitchFamily="34" charset="0"/>
                <a:ea typeface="Arial" pitchFamily="34" charset="-122"/>
                <a:cs typeface="Arial" pitchFamily="34" charset="-120"/>
              </a:rPr>
              <a:t>Validated; the 50-run study is unfinished.</a:t>
            </a:r>
            <a:endParaRPr lang="en-US" sz="1800" dirty="0"/>
          </a:p>
          <a:p>
            <a:pPr indent="0" marL="0">
              <a:buNone/>
            </a:pPr>
            <a:r>
              <a:rPr lang="en-US" sz="1800" dirty="0">
                <a:solidFill>
                  <a:srgbClr val="536779"/>
                </a:solidFill>
                <a:latin typeface="Arial" pitchFamily="34" charset="0"/>
                <a:ea typeface="Arial" pitchFamily="34" charset="-122"/>
                <a:cs typeface="Arial" pitchFamily="34" charset="-120"/>
              </a:rPr>
              <a:t>19 legacy successes excluded as provisional.</a:t>
            </a:r>
            <a:endParaRPr lang="en-US" sz="1800" dirty="0"/>
          </a:p>
        </p:txBody>
      </p:sp>
      <p:sp>
        <p:nvSpPr>
          <p:cNvPr id="11" name="Text 9"/>
          <p:cNvSpPr/>
          <p:nvPr/>
        </p:nvSpPr>
        <p:spPr>
          <a:xfrm>
            <a:off x="594360" y="5888736"/>
            <a:ext cx="5257800" cy="292608"/>
          </a:xfrm>
          <a:prstGeom prst="rect">
            <a:avLst/>
          </a:prstGeom>
          <a:noFill/>
          <a:ln/>
        </p:spPr>
        <p:txBody>
          <a:bodyPr wrap="square" lIns="0" tIns="0" rIns="0" bIns="0" rtlCol="0" anchor="ctr"/>
          <a:lstStyle/>
          <a:p>
            <a:pPr indent="0" marL="0">
              <a:buNone/>
            </a:pPr>
            <a:r>
              <a:rPr lang="en-US" sz="1800" dirty="0">
                <a:solidFill>
                  <a:srgbClr val="536779"/>
                </a:solidFill>
                <a:latin typeface="Arial" pitchFamily="34" charset="0"/>
                <a:ea typeface="Arial" pitchFamily="34" charset="-122"/>
                <a:cs typeface="Arial" pitchFamily="34" charset="-120"/>
              </a:rPr>
              <a:t>284 passed / 32 existing warnings</a:t>
            </a:r>
            <a:endParaRPr lang="en-US" sz="1800" dirty="0"/>
          </a:p>
        </p:txBody>
      </p:sp>
      <p:sp>
        <p:nvSpPr>
          <p:cNvPr id="12" name="Shape 10"/>
          <p:cNvSpPr/>
          <p:nvPr/>
        </p:nvSpPr>
        <p:spPr>
          <a:xfrm>
            <a:off x="6153912" y="1700784"/>
            <a:ext cx="0" cy="4526280"/>
          </a:xfrm>
          <a:prstGeom prst="line">
            <a:avLst/>
          </a:prstGeom>
          <a:noFill/>
          <a:ln w="12700">
            <a:solidFill>
              <a:srgbClr val="D5DFE5"/>
            </a:solidFill>
            <a:prstDash val="solid"/>
          </a:ln>
        </p:spPr>
      </p:sp>
      <p:sp>
        <p:nvSpPr>
          <p:cNvPr id="13" name="Text 11"/>
          <p:cNvSpPr/>
          <p:nvPr/>
        </p:nvSpPr>
        <p:spPr>
          <a:xfrm>
            <a:off x="6565392" y="1682496"/>
            <a:ext cx="4937760" cy="310896"/>
          </a:xfrm>
          <a:prstGeom prst="rect">
            <a:avLst/>
          </a:prstGeom>
          <a:noFill/>
          <a:ln/>
        </p:spPr>
        <p:txBody>
          <a:bodyPr wrap="square" lIns="0" tIns="0" rIns="0" bIns="0" rtlCol="0" anchor="ctr"/>
          <a:lstStyle/>
          <a:p>
            <a:pPr indent="0" marL="0">
              <a:buNone/>
            </a:pPr>
            <a:r>
              <a:rPr lang="en-US" sz="1700" b="1" dirty="0">
                <a:solidFill>
                  <a:srgbClr val="087F82"/>
                </a:solidFill>
                <a:latin typeface="Arial" pitchFamily="34" charset="0"/>
                <a:ea typeface="Arial" pitchFamily="34" charset="-122"/>
                <a:cs typeface="Arial" pitchFamily="34" charset="-120"/>
              </a:rPr>
              <a:t>NEXT</a:t>
            </a:r>
            <a:endParaRPr lang="en-US" sz="1700" dirty="0"/>
          </a:p>
        </p:txBody>
      </p:sp>
      <p:sp>
        <p:nvSpPr>
          <p:cNvPr id="14" name="Text 12"/>
          <p:cNvSpPr/>
          <p:nvPr/>
        </p:nvSpPr>
        <p:spPr>
          <a:xfrm>
            <a:off x="6565392" y="2231136"/>
            <a:ext cx="411480" cy="329184"/>
          </a:xfrm>
          <a:prstGeom prst="rect">
            <a:avLst/>
          </a:prstGeom>
          <a:noFill/>
          <a:ln/>
        </p:spPr>
        <p:txBody>
          <a:bodyPr wrap="square" lIns="0" tIns="0" rIns="0" bIns="0" rtlCol="0" anchor="ctr"/>
          <a:lstStyle/>
          <a:p>
            <a:pPr indent="0" marL="0">
              <a:buNone/>
            </a:pPr>
            <a:r>
              <a:rPr lang="en-US" sz="1700" b="1" dirty="0">
                <a:solidFill>
                  <a:srgbClr val="087F82"/>
                </a:solidFill>
                <a:latin typeface="Arial" pitchFamily="34" charset="0"/>
                <a:ea typeface="Arial" pitchFamily="34" charset="-122"/>
                <a:cs typeface="Arial" pitchFamily="34" charset="-120"/>
              </a:rPr>
              <a:t>01</a:t>
            </a:r>
            <a:endParaRPr lang="en-US" sz="1700" dirty="0"/>
          </a:p>
        </p:txBody>
      </p:sp>
      <p:sp>
        <p:nvSpPr>
          <p:cNvPr id="15" name="Text 13"/>
          <p:cNvSpPr/>
          <p:nvPr/>
        </p:nvSpPr>
        <p:spPr>
          <a:xfrm>
            <a:off x="7205472" y="2231136"/>
            <a:ext cx="4370832" cy="548640"/>
          </a:xfrm>
          <a:prstGeom prst="rect">
            <a:avLst/>
          </a:prstGeom>
          <a:noFill/>
          <a:ln/>
        </p:spPr>
        <p:txBody>
          <a:bodyPr wrap="square" lIns="0" tIns="0" rIns="0" bIns="0" rtlCol="0" anchor="ctr"/>
          <a:lstStyle/>
          <a:p>
            <a:pPr indent="0" marL="0">
              <a:buNone/>
            </a:pPr>
            <a:r>
              <a:rPr lang="en-US" sz="2000" dirty="0">
                <a:solidFill>
                  <a:srgbClr val="142D45"/>
                </a:solidFill>
                <a:latin typeface="Arial" pitchFamily="34" charset="0"/>
                <a:ea typeface="Arial" pitchFamily="34" charset="-122"/>
                <a:cs typeface="Arial" pitchFamily="34" charset="-120"/>
              </a:rPr>
              <a:t>Authorize 45 remaining corrected runs</a:t>
            </a:r>
            <a:endParaRPr lang="en-US" sz="2000" dirty="0"/>
          </a:p>
        </p:txBody>
      </p:sp>
      <p:sp>
        <p:nvSpPr>
          <p:cNvPr id="16" name="Text 14"/>
          <p:cNvSpPr/>
          <p:nvPr/>
        </p:nvSpPr>
        <p:spPr>
          <a:xfrm>
            <a:off x="6565392" y="2990088"/>
            <a:ext cx="411480" cy="329184"/>
          </a:xfrm>
          <a:prstGeom prst="rect">
            <a:avLst/>
          </a:prstGeom>
          <a:noFill/>
          <a:ln/>
        </p:spPr>
        <p:txBody>
          <a:bodyPr wrap="square" lIns="0" tIns="0" rIns="0" bIns="0" rtlCol="0" anchor="ctr"/>
          <a:lstStyle/>
          <a:p>
            <a:pPr indent="0" marL="0">
              <a:buNone/>
            </a:pPr>
            <a:r>
              <a:rPr lang="en-US" sz="1700" b="1" dirty="0">
                <a:solidFill>
                  <a:srgbClr val="087F82"/>
                </a:solidFill>
                <a:latin typeface="Arial" pitchFamily="34" charset="0"/>
                <a:ea typeface="Arial" pitchFamily="34" charset="-122"/>
                <a:cs typeface="Arial" pitchFamily="34" charset="-120"/>
              </a:rPr>
              <a:t>02</a:t>
            </a:r>
            <a:endParaRPr lang="en-US" sz="1700" dirty="0"/>
          </a:p>
        </p:txBody>
      </p:sp>
      <p:sp>
        <p:nvSpPr>
          <p:cNvPr id="17" name="Text 15"/>
          <p:cNvSpPr/>
          <p:nvPr/>
        </p:nvSpPr>
        <p:spPr>
          <a:xfrm>
            <a:off x="7205472" y="2990088"/>
            <a:ext cx="4370832" cy="548640"/>
          </a:xfrm>
          <a:prstGeom prst="rect">
            <a:avLst/>
          </a:prstGeom>
          <a:noFill/>
          <a:ln/>
        </p:spPr>
        <p:txBody>
          <a:bodyPr wrap="square" lIns="0" tIns="0" rIns="0" bIns="0" rtlCol="0" anchor="ctr"/>
          <a:lstStyle/>
          <a:p>
            <a:pPr indent="0" marL="0">
              <a:buNone/>
            </a:pPr>
            <a:r>
              <a:rPr lang="en-US" sz="2000" dirty="0">
                <a:solidFill>
                  <a:srgbClr val="142D45"/>
                </a:solidFill>
                <a:latin typeface="Arial" pitchFamily="34" charset="0"/>
                <a:ea typeface="Arial" pitchFamily="34" charset="-122"/>
                <a:cs typeface="Arial" pitchFamily="34" charset="-120"/>
              </a:rPr>
              <a:t>Combine direct + systemic mechanisms</a:t>
            </a:r>
            <a:endParaRPr lang="en-US" sz="2000" dirty="0"/>
          </a:p>
        </p:txBody>
      </p:sp>
      <p:sp>
        <p:nvSpPr>
          <p:cNvPr id="18" name="Text 16"/>
          <p:cNvSpPr/>
          <p:nvPr/>
        </p:nvSpPr>
        <p:spPr>
          <a:xfrm>
            <a:off x="6565392" y="3749040"/>
            <a:ext cx="411480" cy="329184"/>
          </a:xfrm>
          <a:prstGeom prst="rect">
            <a:avLst/>
          </a:prstGeom>
          <a:noFill/>
          <a:ln/>
        </p:spPr>
        <p:txBody>
          <a:bodyPr wrap="square" lIns="0" tIns="0" rIns="0" bIns="0" rtlCol="0" anchor="ctr"/>
          <a:lstStyle/>
          <a:p>
            <a:pPr indent="0" marL="0">
              <a:buNone/>
            </a:pPr>
            <a:r>
              <a:rPr lang="en-US" sz="1700" b="1" dirty="0">
                <a:solidFill>
                  <a:srgbClr val="087F82"/>
                </a:solidFill>
                <a:latin typeface="Arial" pitchFamily="34" charset="0"/>
                <a:ea typeface="Arial" pitchFamily="34" charset="-122"/>
                <a:cs typeface="Arial" pitchFamily="34" charset="-120"/>
              </a:rPr>
              <a:t>03</a:t>
            </a:r>
            <a:endParaRPr lang="en-US" sz="1700" dirty="0"/>
          </a:p>
        </p:txBody>
      </p:sp>
      <p:sp>
        <p:nvSpPr>
          <p:cNvPr id="19" name="Text 17"/>
          <p:cNvSpPr/>
          <p:nvPr/>
        </p:nvSpPr>
        <p:spPr>
          <a:xfrm>
            <a:off x="7205472" y="3749040"/>
            <a:ext cx="4370832" cy="548640"/>
          </a:xfrm>
          <a:prstGeom prst="rect">
            <a:avLst/>
          </a:prstGeom>
          <a:noFill/>
          <a:ln/>
        </p:spPr>
        <p:txBody>
          <a:bodyPr wrap="square" lIns="0" tIns="0" rIns="0" bIns="0" rtlCol="0" anchor="ctr"/>
          <a:lstStyle/>
          <a:p>
            <a:pPr indent="0" marL="0">
              <a:buNone/>
            </a:pPr>
            <a:r>
              <a:rPr lang="en-US" sz="2000" dirty="0">
                <a:solidFill>
                  <a:srgbClr val="142D45"/>
                </a:solidFill>
                <a:latin typeface="Arial" pitchFamily="34" charset="0"/>
                <a:ea typeface="Arial" pitchFamily="34" charset="-122"/>
                <a:cs typeface="Arial" pitchFamily="34" charset="-120"/>
              </a:rPr>
              <a:t>Complete robustness analysis</a:t>
            </a:r>
            <a:endParaRPr lang="en-US" sz="2000" dirty="0"/>
          </a:p>
        </p:txBody>
      </p:sp>
      <p:sp>
        <p:nvSpPr>
          <p:cNvPr id="20" name="Text 18"/>
          <p:cNvSpPr/>
          <p:nvPr/>
        </p:nvSpPr>
        <p:spPr>
          <a:xfrm>
            <a:off x="6565392" y="4507992"/>
            <a:ext cx="411480" cy="329184"/>
          </a:xfrm>
          <a:prstGeom prst="rect">
            <a:avLst/>
          </a:prstGeom>
          <a:noFill/>
          <a:ln/>
        </p:spPr>
        <p:txBody>
          <a:bodyPr wrap="square" lIns="0" tIns="0" rIns="0" bIns="0" rtlCol="0" anchor="ctr"/>
          <a:lstStyle/>
          <a:p>
            <a:pPr indent="0" marL="0">
              <a:buNone/>
            </a:pPr>
            <a:r>
              <a:rPr lang="en-US" sz="1700" b="1" dirty="0">
                <a:solidFill>
                  <a:srgbClr val="087F82"/>
                </a:solidFill>
                <a:latin typeface="Arial" pitchFamily="34" charset="0"/>
                <a:ea typeface="Arial" pitchFamily="34" charset="-122"/>
                <a:cs typeface="Arial" pitchFamily="34" charset="-120"/>
              </a:rPr>
              <a:t>04</a:t>
            </a:r>
            <a:endParaRPr lang="en-US" sz="1700" dirty="0"/>
          </a:p>
        </p:txBody>
      </p:sp>
      <p:sp>
        <p:nvSpPr>
          <p:cNvPr id="21" name="Text 19"/>
          <p:cNvSpPr/>
          <p:nvPr/>
        </p:nvSpPr>
        <p:spPr>
          <a:xfrm>
            <a:off x="7205472" y="4507992"/>
            <a:ext cx="4370832" cy="548640"/>
          </a:xfrm>
          <a:prstGeom prst="rect">
            <a:avLst/>
          </a:prstGeom>
          <a:noFill/>
          <a:ln/>
        </p:spPr>
        <p:txBody>
          <a:bodyPr wrap="square" lIns="0" tIns="0" rIns="0" bIns="0" rtlCol="0" anchor="ctr"/>
          <a:lstStyle/>
          <a:p>
            <a:pPr indent="0" marL="0">
              <a:buNone/>
            </a:pPr>
            <a:r>
              <a:rPr lang="en-US" sz="2000" dirty="0">
                <a:solidFill>
                  <a:srgbClr val="142D45"/>
                </a:solidFill>
                <a:latin typeface="Arial" pitchFamily="34" charset="0"/>
                <a:ea typeface="Arial" pitchFamily="34" charset="-122"/>
                <a:cs typeface="Arial" pitchFamily="34" charset="-120"/>
              </a:rPr>
              <a:t>Update dashboard; write final paper</a:t>
            </a:r>
            <a:endParaRPr lang="en-US" sz="2000" dirty="0"/>
          </a:p>
        </p:txBody>
      </p:sp>
      <p:sp>
        <p:nvSpPr>
          <p:cNvPr id="22" name="Text 20"/>
          <p:cNvSpPr/>
          <p:nvPr/>
        </p:nvSpPr>
        <p:spPr>
          <a:xfrm>
            <a:off x="6565392" y="5550408"/>
            <a:ext cx="5010912" cy="640080"/>
          </a:xfrm>
          <a:prstGeom prst="rect">
            <a:avLst/>
          </a:prstGeom>
          <a:noFill/>
          <a:ln/>
        </p:spPr>
        <p:txBody>
          <a:bodyPr wrap="square" lIns="0" tIns="0" rIns="0" bIns="0" rtlCol="0" anchor="ctr"/>
          <a:lstStyle/>
          <a:p>
            <a:pPr indent="0" marL="0">
              <a:buNone/>
            </a:pPr>
            <a:r>
              <a:rPr lang="en-US" sz="2100" b="1" dirty="0">
                <a:solidFill>
                  <a:srgbClr val="087F82"/>
                </a:solidFill>
                <a:latin typeface="Arial" pitchFamily="34" charset="0"/>
                <a:ea typeface="Arial" pitchFamily="34" charset="-122"/>
                <a:cs typeface="Arial" pitchFamily="34" charset="-120"/>
              </a:rPr>
              <a:t>Separate estimation error from direct</a:t>
            </a:r>
            <a:endParaRPr lang="en-US" sz="2100" dirty="0"/>
          </a:p>
          <a:p>
            <a:pPr indent="0" marL="0">
              <a:buNone/>
            </a:pPr>
            <a:r>
              <a:rPr lang="en-US" sz="2100" b="1" dirty="0">
                <a:solidFill>
                  <a:srgbClr val="087F82"/>
                </a:solidFill>
                <a:latin typeface="Arial" pitchFamily="34" charset="0"/>
                <a:ea typeface="Arial" pitchFamily="34" charset="-122"/>
                <a:cs typeface="Arial" pitchFamily="34" charset="-120"/>
              </a:rPr>
              <a:t>and upstream discrimination.</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Virginia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Under Imperfect Information</dc:title>
  <dc:subject>Virginia Tech ECON 4994 research progress</dc:subject>
  <dc:creator>Nguyen Phan Nguyen</dc:creator>
  <cp:lastModifiedBy>Nguyen Phan Nguyen</cp:lastModifiedBy>
  <cp:revision>1</cp:revision>
  <dcterms:created xsi:type="dcterms:W3CDTF">2026-09-17T06:40:46Z</dcterms:created>
  <dcterms:modified xsi:type="dcterms:W3CDTF">2026-09-17T06:40:46Z</dcterms:modified>
</cp:coreProperties>
</file>
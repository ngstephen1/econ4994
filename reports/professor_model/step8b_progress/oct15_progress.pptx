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2e25a477777422b" /><Relationship Type="http://schemas.openxmlformats.org/officeDocument/2006/relationships/extended-properties" Target="/docProps/app.xml" Id="R9f10815549a645b9" /><Relationship Type="http://schemas.openxmlformats.org/officeDocument/2006/relationships/officeDocument" Target="/ppt/presentation.xml" Id="Rf8823b64329b4fda" /></Relationships>
</file>

<file path=ppt/presentation.xml><?xml version="1.0" encoding="utf-8"?>
<p:presentation xmlns:p="http://schemas.openxmlformats.org/presentationml/2006/main">
  <p:sldMasterIdLst>
    <p:sldMasterId xmlns:r="http://schemas.openxmlformats.org/officeDocument/2006/relationships" id="2147483648" r:id="R01317c8f3b0a4f99"/>
  </p:sldMasterIdLst>
  <p:notesMasterIdLst>
    <p:notesMasterId xmlns:r="http://schemas.openxmlformats.org/officeDocument/2006/relationships" r:id="R7a9d635d4d954b65"/>
  </p:notesMasterIdLst>
  <p:sldIdLst>
    <p:sldId xmlns:r="http://schemas.openxmlformats.org/officeDocument/2006/relationships" id="256" r:id="R12a1a45f1a0a4525"/>
    <p:sldId xmlns:r="http://schemas.openxmlformats.org/officeDocument/2006/relationships" id="257" r:id="R705f42a9af534bd0"/>
    <p:sldId xmlns:r="http://schemas.openxmlformats.org/officeDocument/2006/relationships" id="258" r:id="R2478a32182174f74"/>
    <p:sldId xmlns:r="http://schemas.openxmlformats.org/officeDocument/2006/relationships" id="259" r:id="Rd0c235b0fe4648c3"/>
    <p:sldId xmlns:r="http://schemas.openxmlformats.org/officeDocument/2006/relationships" id="260" r:id="Rab58d72461584be1"/>
    <p:sldId xmlns:r="http://schemas.openxmlformats.org/officeDocument/2006/relationships" id="261" r:id="R095b7d7cb2e2497e"/>
    <p:sldId xmlns:r="http://schemas.openxmlformats.org/officeDocument/2006/relationships" id="262" r:id="R3aa46ed866cb4bf8"/>
    <p:sldId xmlns:r="http://schemas.openxmlformats.org/officeDocument/2006/relationships" id="263" r:id="R546448ef12ca437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12a485941841c3" /><Relationship Type="http://schemas.openxmlformats.org/officeDocument/2006/relationships/slideMaster" Target="/ppt/slideMasters/slideMaster1.xml" Id="R01317c8f3b0a4f99" /><Relationship Type="http://schemas.openxmlformats.org/officeDocument/2006/relationships/notesMaster" Target="/ppt/notesMasters/notesMaster1.xml" Id="R7a9d635d4d954b65" /><Relationship Type="http://schemas.openxmlformats.org/officeDocument/2006/relationships/presProps" Target="/ppt/presProps.xml" Id="R554b74ab319f4480" /><Relationship Type="http://schemas.openxmlformats.org/officeDocument/2006/relationships/tableStyles" Target="/ppt/tableStyles.xml" Id="Rad57df7e6d624dfc" /><Relationship Type="http://schemas.openxmlformats.org/officeDocument/2006/relationships/slide" Target="/ppt/slides/slide1.xml" Id="R12a1a45f1a0a4525" /><Relationship Type="http://schemas.openxmlformats.org/officeDocument/2006/relationships/slide" Target="/ppt/slides/slide2.xml" Id="R705f42a9af534bd0" /><Relationship Type="http://schemas.openxmlformats.org/officeDocument/2006/relationships/slide" Target="/ppt/slides/slide3.xml" Id="R2478a32182174f74" /><Relationship Type="http://schemas.openxmlformats.org/officeDocument/2006/relationships/slide" Target="/ppt/slides/slide4.xml" Id="Rd0c235b0fe4648c3" /><Relationship Type="http://schemas.openxmlformats.org/officeDocument/2006/relationships/slide" Target="/ppt/slides/slide5.xml" Id="Rab58d72461584be1" /><Relationship Type="http://schemas.openxmlformats.org/officeDocument/2006/relationships/slide" Target="/ppt/slides/slide6.xml" Id="R095b7d7cb2e2497e" /><Relationship Type="http://schemas.openxmlformats.org/officeDocument/2006/relationships/slide" Target="/ppt/slides/slide7.xml" Id="R3aa46ed866cb4bf8" /><Relationship Type="http://schemas.openxmlformats.org/officeDocument/2006/relationships/slide" Target="/ppt/slides/slide8.xml" Id="R546448ef12ca43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f4e470b5214b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92397282772497d" /><Relationship Type="http://schemas.openxmlformats.org/officeDocument/2006/relationships/notesMaster" Target="/ppt/notesMasters/notesMaster1.xml" Id="R833cd93742f24c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041148800844ca" /><Relationship Type="http://schemas.openxmlformats.org/officeDocument/2006/relationships/notesMaster" Target="/ppt/notesMasters/notesMaster1.xml" Id="Rc22c7c6c50da47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cde255c8bc452d" /><Relationship Type="http://schemas.openxmlformats.org/officeDocument/2006/relationships/notesMaster" Target="/ppt/notesMasters/notesMaster1.xml" Id="Rdbd088121ff14a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2cbafd6f184f5e" /><Relationship Type="http://schemas.openxmlformats.org/officeDocument/2006/relationships/notesMaster" Target="/ppt/notesMasters/notesMaster1.xml" Id="R0b9106801b2a43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0f18c10a93494c" /><Relationship Type="http://schemas.openxmlformats.org/officeDocument/2006/relationships/notesMaster" Target="/ppt/notesMasters/notesMaster1.xml" Id="R75bf52588fa846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396aa5aace424a" /><Relationship Type="http://schemas.openxmlformats.org/officeDocument/2006/relationships/notesMaster" Target="/ppt/notesMasters/notesMaster1.xml" Id="R6be64a99a3c84b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17c0f619d34420" /><Relationship Type="http://schemas.openxmlformats.org/officeDocument/2006/relationships/notesMaster" Target="/ppt/notesMasters/notesMaster1.xml" Id="R06601ebb814243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aaf201007b4d15" /><Relationship Type="http://schemas.openxmlformats.org/officeDocument/2006/relationships/notesMaster" Target="/ppt/notesMasters/notesMaster1.xml" Id="R2eb7f3ae53a54e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research title: Lending Under Imperfect Information: Risk Estimation, Group Disparities, and Credit Allocation. One fixed synthetic population. 183/200 independent measurement-noise draws yield a smaller absolute group approval gap under the blind policy. This descriptive frequency does not prove normative fairness.</a:t>
            </a:r>
          </a:p>
          <a:p xmlns:a="http://schemas.openxmlformats.org/drawingml/2006/main">
            <a:r>
              <a:t/>
            </a:r>
          </a:p>
          <a:p xmlns:a="http://schemas.openxmlformats.org/drawingml/2006/main">
            <a:r>
              <a:t>Evidence sources and computations:</a:t>
            </a:r>
          </a:p>
          <a:p xmlns:a="http://schemas.openxmlformats.org/drawingml/2006/main">
            <a:r>
              <a:t>data/synthetic/professor_model/baseline/applicants_bank_view.csv</a:t>
            </a:r>
          </a:p>
          <a:p xmlns:a="http://schemas.openxmlformats.org/drawingml/2006/main">
            <a:r>
              <a:t>Columns: applicant_id</a:t>
            </a:r>
          </a:p>
          <a:p xmlns:a="http://schemas.openxmlformats.org/drawingml/2006/main">
            <a:r>
              <a:t>Computation: unique IDs</a:t>
            </a:r>
          </a:p>
          <a:p xmlns:a="http://schemas.openxmlformats.org/drawingml/2006/main">
            <a:r>
              <a:t>Display rounding: integer</a:t>
            </a:r>
          </a:p>
          <a:p xmlns:a="http://schemas.openxmlformats.org/drawingml/2006/main">
            <a:r>
              <a:t/>
            </a:r>
          </a:p>
          <a:p xmlns:a="http://schemas.openxmlformats.org/drawingml/2006/main">
            <a:r>
              <a:t>results/tables/professor_model/noise_robustness_full/noise_full_results.csv</a:t>
            </a:r>
          </a:p>
          <a:p xmlns:a="http://schemas.openxmlformats.org/drawingml/2006/main">
            <a:r>
              <a:t>Columns: replication, aware_gap_pp, blind_gap_pp</a:t>
            </a:r>
          </a:p>
          <a:p xmlns:a="http://schemas.openxmlformats.org/drawingml/2006/main">
            <a:r>
              <a:t>Computation: 200 unique pairs, 183 abs(blind)&lt;abs(aware)</a:t>
            </a:r>
          </a:p>
          <a:p xmlns:a="http://schemas.openxmlformats.org/drawingml/2006/main">
            <a:r>
              <a:t>Display rounding: 1 decimal percent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simulator uses hidden truth to construct PN. Banks only fit on observed Y,D,C and, for the aware model, B plus an intercept. PN is a fitting target, not a feature. Raw predictions remain separate from clipped probabilities. PD means conditional per-period default in the working contract, so survival through payment t is (1−PD)^t. Bank policies optimize perceived expected profit first, then the evaluator values saved decisions with hidden truth. No realized default labels or V1/V2 mechanisms enter this family.</a:t>
            </a:r>
          </a:p>
          <a:p xmlns:a="http://schemas.openxmlformats.org/drawingml/2006/main">
            <a:r>
              <a:t/>
            </a:r>
          </a:p>
          <a:p xmlns:a="http://schemas.openxmlformats.org/drawingml/2006/main">
            <a:r>
              <a:t>Evidence sources and computations:</a:t>
            </a:r>
          </a:p>
          <a:p xmlns:a="http://schemas.openxmlformats.org/drawingml/2006/main">
            <a:r>
              <a:t>docs/professor_loan_economics.md; docs/professor_bank_regression.md</a:t>
            </a:r>
          </a:p>
          <a:p xmlns:a="http://schemas.openxmlformats.org/drawingml/2006/main">
            <a:r>
              <a:t>Columns: equations</a:t>
            </a:r>
          </a:p>
          <a:p xmlns:a="http://schemas.openxmlformats.org/drawingml/2006/main">
            <a:r>
              <a:t>Computation: retain exact working definitions</a:t>
            </a:r>
          </a:p>
          <a:p xmlns:a="http://schemas.openxmlformats.org/drawingml/2006/main">
            <a:r>
              <a:t>Display rounding: coefficients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preview IDs: prof_000001, prof_000002, prof_000003, prof_000004, prof_000005. Values come from a 1:1 join of the three saved CSVs, sorted lexicographically, without selecting on outcomes. PN is the original canonical Step 4 draw, not a Monte Carlo target. Primitive distributions: log(Y)~N(11,SD .7), D~N(.35,SD .16), B~Bernoulli(.15), ε~N(0,SD1), ω~N(0,SD .2), C=.4ε+ω. Untruncated D includes 1,489 negative observations. True PD has no structural B term. The realized canonical SD(η)/SD(.8true_PD) is 182.652237145257. Current economics uses constant conditional per-period default.</a:t>
            </a:r>
          </a:p>
          <a:p xmlns:a="http://schemas.openxmlformats.org/drawingml/2006/main">
            <a:r>
              <a:t/>
            </a:r>
          </a:p>
          <a:p xmlns:a="http://schemas.openxmlformats.org/drawingml/2006/main">
            <a:r>
              <a:t>Evidence sources and computations:</a:t>
            </a:r>
          </a:p>
          <a:p xmlns:a="http://schemas.openxmlformats.org/drawingml/2006/main">
            <a:r>
              <a:t>configs/professor_model/baseline.yaml; data/synthetic/professor_model/baseline/simulation_truth.csv; risk_measurement_noise_private.csv</a:t>
            </a:r>
          </a:p>
          <a:p xmlns:a="http://schemas.openxmlformats.org/drawingml/2006/main">
            <a:r>
              <a:t>Columns: true_PD, eta</a:t>
            </a:r>
          </a:p>
          <a:p xmlns:a="http://schemas.openxmlformats.org/drawingml/2006/main">
            <a:r>
              <a:t>Computation: 100*mean(PD), SD(eta)/SD(.8PD)</a:t>
            </a:r>
          </a:p>
          <a:p xmlns:a="http://schemas.openxmlformats.org/drawingml/2006/main">
            <a:r>
              <a:t>Display rounding: 4 decimals percent, nearest integer ratio</a:t>
            </a:r>
          </a:p>
          <a:p xmlns:a="http://schemas.openxmlformats.org/drawingml/2006/main">
            <a:r>
              <a:t/>
            </a:r>
          </a:p>
          <a:p xmlns:a="http://schemas.openxmlformats.org/drawingml/2006/main">
            <a:r>
              <a:t>data/synthetic/professor_model/baseline/applicants_bank_view.csv; data/synthetic/professor_model/baseline/simulation_truth.csv; data/synthetic/professor_model/baseline/training_signals.csv</a:t>
            </a:r>
          </a:p>
          <a:p xmlns:a="http://schemas.openxmlformats.org/drawingml/2006/main">
            <a:r>
              <a:t>Columns: applicant_id,B,Y,D,C,true_PD,PN</a:t>
            </a:r>
          </a:p>
          <a:p xmlns:a="http://schemas.openxmlformats.org/drawingml/2006/main">
            <a:r>
              <a:t>Computation: 1:1 ID join, first five lexicographic IDs</a:t>
            </a:r>
          </a:p>
          <a:p xmlns:a="http://schemas.openxmlformats.org/drawingml/2006/main">
            <a:r>
              <a:t>Display rounding: Y whole dollars, D/C 3 decimals, PD% 4 decimals, raw PN 4 decimals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Canonical noise uses seed 4994 child [5], while Step 8B uses master 499408 children [0] through [199]. The canonical draw is not included as replication 201. Exact true profits: aware $2366074476.846421, blind $2366599763.614127, oracle $2370206703.8651967. All three use the same saved capital $1,826,087,220.7466326, 20,000 evaluation requests, T30, theta .10, r .05 per period. Approvals are 3,900, 3,802, and 3,406. Group gaps are derived from saved group rates. Profit means nominal true expected profit, not realized profit. Signed oracle comparisons need not be nonnegative for every possible score-dependent cutoff family.</a:t>
            </a:r>
          </a:p>
          <a:p xmlns:a="http://schemas.openxmlformats.org/drawingml/2006/main">
            <a:r>
              <a:t/>
            </a:r>
          </a:p>
          <a:p xmlns:a="http://schemas.openxmlformats.org/drawingml/2006/main">
            <a:r>
              <a:t>Evidence sources and computations:</a:t>
            </a:r>
          </a:p>
          <a:p xmlns:a="http://schemas.openxmlformats.org/drawingml/2006/main">
            <a:r>
              <a:t>results/tables/professor_model/group_aware_vs_blind_portfolio.csv; group_aware_vs_blind_group_audit.csv</a:t>
            </a:r>
          </a:p>
          <a:p xmlns:a="http://schemas.openxmlformats.org/drawingml/2006/main">
            <a:r>
              <a:t>Columns: approval_gap_pp,true_expected_portfolio_profit,approval_rate</a:t>
            </a:r>
          </a:p>
          <a:p xmlns:a="http://schemas.openxmlformats.org/drawingml/2006/main">
            <a:r>
              <a:t>Computation: cross-check gaps from B1-B0 group rates</a:t>
            </a:r>
          </a:p>
          <a:p xmlns:a="http://schemas.openxmlformats.org/drawingml/2006/main">
            <a:r>
              <a:t>Display rounding: gaps 2 decimals pp, profits 4 decimals billions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Frozen population100000, split80000/20000, contract and original capital. Exactly200 distinct successful indices0..199,400 unique policy cells, no missing pairs or duplicates. All record/source/configuration hashes match. First5 reproduce pilot science exactly and are adopted without refitting. The canonical single draw remains a separate reference. Main run641.545seconds with tests alongside part of the run. Source excerpt uses indices0,1,2 only and takes paired values once per replication, not400 repeated paired values. Raw noise rows are reconstructible, not persisted as200 complete applicant datasets.</a:t>
            </a:r>
          </a:p>
          <a:p xmlns:a="http://schemas.openxmlformats.org/drawingml/2006/main">
            <a:r>
              <a:t/>
            </a:r>
          </a:p>
          <a:p xmlns:a="http://schemas.openxmlformats.org/drawingml/2006/main">
            <a:r>
              <a:t>Evidence sources and computations:</a:t>
            </a:r>
          </a:p>
          <a:p xmlns:a="http://schemas.openxmlformats.org/drawingml/2006/main">
            <a:r>
              <a:t>results/tables/professor_model/noise_robustness_full/noise_full_results.csv; results/metrics/professor_model/noise_robustness_full/replications/</a:t>
            </a:r>
          </a:p>
          <a:p xmlns:a="http://schemas.openxmlformats.org/drawingml/2006/main">
            <a:r>
              <a:t>Columns: replication,policy,aware_gap_pp,blind_gap_pp,gap_change_pp,origin</a:t>
            </a:r>
          </a:p>
          <a:p xmlns:a="http://schemas.openxmlformats.org/drawingml/2006/main">
            <a:r>
              <a:t>Computation: pair completeness; indices 0,1,2 only</a:t>
            </a:r>
          </a:p>
          <a:p xmlns:a="http://schemas.openxmlformats.org/drawingml/2006/main">
            <a:r>
              <a:t>Display rounding: 3 decimals pp, integer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Charts contain every replication. Gap panels deliberately use different x ranges to make the blind distribution legible. Aware p2.5/p97.5 −46.657711/+82.128929pp, MCSE2.560158pp. Blind p2.5/p97.5 −1.200024/+1.453878pp, MCSE.042370pp. Aware mean is asymmetric and median is0, with95/200negative,92positive,13zero reject-all cases. B mean.0000632779704111, SD.0010631270967191, MCSE.0000751744379353. Original B coefficient.0007105261442719142. The chart marks zero, canonical coefficient, and mean. Evaluator-only noise-free B projection 0.000003841994945131447 is small but not exactly zero. All200 OLS decompositions pass, maximum residual2.25514e−17. These finite-sample projections and descriptive noise frequencies neither prove intentional discrimination nor normative fairness.</a:t>
            </a:r>
          </a:p>
          <a:p xmlns:a="http://schemas.openxmlformats.org/drawingml/2006/main">
            <a:r>
              <a:t/>
            </a:r>
          </a:p>
          <a:p xmlns:a="http://schemas.openxmlformats.org/drawingml/2006/main">
            <a:r>
              <a:t>Evidence sources and computations:</a:t>
            </a:r>
          </a:p>
          <a:p xmlns:a="http://schemas.openxmlformats.org/drawingml/2006/main">
            <a:r>
              <a:t>results/tables/professor_model/noise_robustness_full/noise_full_results.csv; replication_000.json through replication_199.json</a:t>
            </a:r>
          </a:p>
          <a:p xmlns:a="http://schemas.openxmlformats.org/drawingml/2006/main">
            <a:r>
              <a:t>Columns: beta_B_hat,aware_gap_pp,blind_gap_pp</a:t>
            </a:r>
          </a:p>
          <a:p xmlns:a="http://schemas.openxmlformats.org/drawingml/2006/main">
            <a:r>
              <a:t>Computation: independent record aggregation, ddof=1, SD/sqrt(200), linear quantiles</a:t>
            </a:r>
          </a:p>
          <a:p xmlns:a="http://schemas.openxmlformats.org/drawingml/2006/main">
            <a:r>
              <a:t>Display rounding: 3 decimals pp, 8 decimals coefficient, 1 decimal frequencies</a:t>
            </a:r>
          </a:p>
          <a:p xmlns:a="http://schemas.openxmlformats.org/drawingml/2006/main">
            <a:r>
              <a:t/>
            </a:r>
          </a:p>
          <a:p xmlns:a="http://schemas.openxmlformats.org/drawingml/2006/main">
            <a:r>
              <a:t>results/metrics/professor_model/noise_robustness_full/signal_reference_EVALUATOR_ONLY.json</a:t>
            </a:r>
          </a:p>
          <a:p xmlns:a="http://schemas.openxmlformats.org/drawingml/2006/main">
            <a:r>
              <a:t>Columns: reference.beta_B_signal</a:t>
            </a:r>
          </a:p>
          <a:p xmlns:a="http://schemas.openxmlformats.org/drawingml/2006/main">
            <a:r>
              <a:t>Computation: read evaluator-only saved reference</a:t>
            </a:r>
          </a:p>
          <a:p xmlns:a="http://schemas.openxmlformats.org/drawingml/2006/main">
            <a:r>
              <a:t>Display rounding: 12 decimals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Paired difference means blind minus aware true expected profit. Mean$24,616,229.7545, median$651,806.6808, SD$235,673,271.0845, MCSE$16,664,616.8128. Empirical p2.5/p97.5 −$4,279,050.0811/+7,122,265.8269. Extremes: replication8 +$2,361,202,289.1137 and92 +$2,365,919,379.4631. Full-range upper plot shows all200 points. Central lower window shows198/200 and explicitly identifies that the other2 occur above. No trimming/winsorization enters summaries. Aware13/200 and blind11/200 reject-all. Zero blocks would require &gt;90% of capital in17/200 per policy, including infeasible blocks13aware/11blind. Those infeasible blocks consume no actual capital. Every nonempty prefix contains the lowest-risk zero block, so no nonempty cutoff is feasible when it is oversized. Clipping is not calibration. No risk ties split or budgets exceeded. Payment formula thetaY(1.05)^t, without costs or discounting, creates large stylized nominal profit levels.</a:t>
            </a:r>
          </a:p>
          <a:p xmlns:a="http://schemas.openxmlformats.org/drawingml/2006/main">
            <a:r>
              <a:t/>
            </a:r>
          </a:p>
          <a:p xmlns:a="http://schemas.openxmlformats.org/drawingml/2006/main">
            <a:r>
              <a:t>Evidence sources and computations:</a:t>
            </a:r>
          </a:p>
          <a:p xmlns:a="http://schemas.openxmlformats.org/drawingml/2006/main">
            <a:r>
              <a:t>results/tables/professor_model/noise_robustness_full/noise_full_results.csv</a:t>
            </a:r>
          </a:p>
          <a:p xmlns:a="http://schemas.openxmlformats.org/drawingml/2006/main">
            <a:r>
              <a:t>Columns: true_profit_change_USD,number_approved,reject_all_selected,zero_block_principal_USD,available_bank_capital</a:t>
            </a:r>
          </a:p>
          <a:p xmlns:a="http://schemas.openxmlformats.org/drawingml/2006/main">
            <a:r>
              <a:t>Computation: 200 paired differences, extrema retained; per-policy denominators 200</a:t>
            </a:r>
          </a:p>
          <a:p xmlns:a="http://schemas.openxmlformats.org/drawingml/2006/main">
            <a:r>
              <a:t>Display rounding: mean 3 decimals M, median nearest USD, counts integer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steps are recommendations only and require separate scientific specifications. The current study fixes one population and varies onlyη. RemovingB changes all re-estimated slopes, bounded ties, and optimal cutoffs, so this comparison does not isolate a pureB-coefficient effect. An intervention could hold other coefficients fixed. No flexible ML comparisons, empirical HMDA analysis, systemic/direct interventions, or new-population study are part of the completed professor family. The latest documented full suite is624passed4preexistingV2checkpointfilename failures32warnings, not a fresh test execution for this report. Professor suite344passedwithoutwarnings. Historical Step8A heading and Step1annual-rate suggestion are retained historical evidence; current validated full records and implemented per-period accounting govern this deck.</a:t>
            </a:r>
          </a:p>
          <a:p xmlns:a="http://schemas.openxmlformats.org/drawingml/2006/main">
            <a:r>
              <a:t/>
            </a:r>
          </a:p>
          <a:p xmlns:a="http://schemas.openxmlformats.org/drawingml/2006/main">
            <a:r>
              <a:t>Evidence sources and computations:</a:t>
            </a:r>
          </a:p>
          <a:p xmlns:a="http://schemas.openxmlformats.org/drawingml/2006/main">
            <a:r>
              <a:t>results/tables/professor_model/noise_robustness_full/noise_full_results.csv; docs/PROJECT_STATUS.md</a:t>
            </a:r>
          </a:p>
          <a:p xmlns:a="http://schemas.openxmlformats.org/drawingml/2006/main">
            <a:r>
              <a:t>Columns: paired metrics, latest documented suite</a:t>
            </a:r>
          </a:p>
          <a:p xmlns:a="http://schemas.openxmlformats.org/drawingml/2006/main">
            <a:r>
              <a:t>Computation: reuse audited findings, no fresh test run</a:t>
            </a:r>
          </a:p>
          <a:p xmlns:a="http://schemas.openxmlformats.org/drawingml/2006/main">
            <a:r>
              <a:t>Display rounding: documented 624 passed / 4 failures / 32 warnings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3055f1c9a6426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dc154e3228a4d4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cabd07876a4eb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6821633a8a544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53e0607749f41f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5abfadd0eb341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A6CFD5-835A-4B29-A647-E6F04FAA14A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F3B400F-DDA5-4417-9BB8-6977B5EA848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724A1B8-F883-49A2-8808-4C191D0295A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493712-D7F8-4D77-813D-E6FDCF27629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3B84D70-5ECD-40B8-BBC2-D233E93DD97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A894E56-6EE7-4778-8B73-A88F037F63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7B727E-6003-4E88-8DD6-F631823C0D0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E103DC1-D094-4747-ADD1-48811FCC70D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86FDA9-591B-472D-9A78-A869C79469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1C753BB-5694-4D37-B41A-73C2EA6BC02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1f5957ffc4495d" /><Relationship Type="http://schemas.openxmlformats.org/officeDocument/2006/relationships/slideLayout" Target="/ppt/slideLayouts/slideLayout1.xml" Id="R57846706b6cd4218" /><Relationship Type="http://schemas.openxmlformats.org/officeDocument/2006/relationships/slideLayout" Target="/ppt/slideLayouts/slideLayout2.xml" Id="Racc041849c394fcb" /><Relationship Type="http://schemas.openxmlformats.org/officeDocument/2006/relationships/slideLayout" Target="/ppt/slideLayouts/slideLayout3.xml" Id="Re45bbfab4b45475b" /><Relationship Type="http://schemas.openxmlformats.org/officeDocument/2006/relationships/slideLayout" Target="/ppt/slideLayouts/slideLayout4.xml" Id="R9ad5f2a88f27485a" /><Relationship Type="http://schemas.openxmlformats.org/officeDocument/2006/relationships/slideLayout" Target="/ppt/slideLayouts/slideLayout5.xml" Id="R718f249442e348b8" /><Relationship Type="http://schemas.openxmlformats.org/officeDocument/2006/relationships/slideLayout" Target="/ppt/slideLayouts/slideLayout6.xml" Id="R3ee180808b1c47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846706b6cd4218"/>
    <p:sldLayoutId xmlns:r="http://schemas.openxmlformats.org/officeDocument/2006/relationships" id="2147483650" r:id="Racc041849c394fcb"/>
    <p:sldLayoutId xmlns:r="http://schemas.openxmlformats.org/officeDocument/2006/relationships" id="2147483651" r:id="Re45bbfab4b45475b"/>
    <p:sldLayoutId xmlns:r="http://schemas.openxmlformats.org/officeDocument/2006/relationships" id="2147483652" r:id="R9ad5f2a88f27485a"/>
    <p:sldLayoutId xmlns:r="http://schemas.openxmlformats.org/officeDocument/2006/relationships" id="2147483653" r:id="R718f249442e348b8"/>
    <p:sldLayoutId xmlns:r="http://schemas.openxmlformats.org/officeDocument/2006/relationships" id="2147483654" r:id="R3ee180808b1c47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4a964feadbe49ec" /><Relationship Type="http://schemas.openxmlformats.org/officeDocument/2006/relationships/notesSlide" Target="/ppt/notesSlides/notesSlide1.xml" Id="R7d3e12e625c347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290089455554ba0" /><Relationship Type="http://schemas.openxmlformats.org/officeDocument/2006/relationships/notesSlide" Target="/ppt/notesSlides/notesSlide2.xml" Id="R744071ef399546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04c6f9192324201" /><Relationship Type="http://schemas.openxmlformats.org/officeDocument/2006/relationships/notesSlide" Target="/ppt/notesSlides/notesSlide3.xml" Id="Rfe960c7a77ec45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4e063e3eec545fe" /><Relationship Type="http://schemas.openxmlformats.org/officeDocument/2006/relationships/chart" Target="/ppt/slides/charts/chart1.xml" Id="R049c7c3d1ebf4b32" /><Relationship Type="http://schemas.openxmlformats.org/officeDocument/2006/relationships/notesSlide" Target="/ppt/notesSlides/notesSlide4.xml" Id="R7a641c0403ef44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3f7a93d3b0348f5" /><Relationship Type="http://schemas.openxmlformats.org/officeDocument/2006/relationships/notesSlide" Target="/ppt/notesSlides/notesSlide5.xml" Id="R52cfb327159943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f037f62d39043cb" /><Relationship Type="http://schemas.openxmlformats.org/officeDocument/2006/relationships/image" Target="/ppt/media/image.png" Id="R34f0bfd5d8834976" /><Relationship Type="http://schemas.openxmlformats.org/officeDocument/2006/relationships/image" Target="/ppt/media/image2.png" Id="Rdcee33f09fb7478c" /><Relationship Type="http://schemas.openxmlformats.org/officeDocument/2006/relationships/notesSlide" Target="/ppt/notesSlides/notesSlide6.xml" Id="R9c84ff7a52d640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aee0166bdfe4f12" /><Relationship Type="http://schemas.openxmlformats.org/officeDocument/2006/relationships/image" Target="/ppt/media/image3.png" Id="Ra1f21bc057604ca4" /><Relationship Type="http://schemas.openxmlformats.org/officeDocument/2006/relationships/notesSlide" Target="/ppt/notesSlides/notesSlide7.xml" Id="R90a48bb9be574a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952c92934a64fa5" /><Relationship Type="http://schemas.openxmlformats.org/officeDocument/2006/relationships/notesSlide" Target="/ppt/notesSlides/notesSlide8.xml" Id="R240557dcedc5405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Approval gap (pp)</c:v>
          </c:tx>
          <c:spPr>
            <a:solidFill xmlns:a="http://schemas.openxmlformats.org/drawingml/2006/main">
              <a:srgbClr val="861F41"/>
            </a:solidFill>
          </c:spPr>
          <c:invertIfNegative val="0"/>
          <c:dPt>
            <c:idx val="0"/>
            <c:invertIfNegative val="0"/>
            <c:spPr>
              <a:solidFill xmlns:a="http://schemas.openxmlformats.org/drawingml/2006/main">
                <a:srgbClr val="861F41"/>
              </a:solidFill>
            </c:spPr>
          </c:dPt>
          <c:dPt>
            <c:idx val="1"/>
            <c:invertIfNegative val="0"/>
            <c:spPr>
              <a:solidFill xmlns:a="http://schemas.openxmlformats.org/drawingml/2006/main">
                <a:srgbClr val="E5751F"/>
              </a:solidFill>
            </c:spPr>
          </c:dPt>
          <c:dPt>
            <c:idx val="2"/>
            <c:invertIfNegative val="0"/>
            <c:spPr>
              <a:solidFill xmlns:a="http://schemas.openxmlformats.org/drawingml/2006/main">
                <a:srgbClr val="68737D"/>
              </a:solidFill>
            </c:spPr>
          </c:dPt>
          <c:cat>
            <c:strRef>
              <c:f>'Chart Data'!$A$2:$A$4</c:f>
              <c:strCache>
                <c:ptCount val="3"/>
                <c:pt idx="0">
                  <c:v>Group-aware</c:v>
                </c:pt>
                <c:pt idx="1">
                  <c:v>Group-blind</c:v>
                </c:pt>
                <c:pt idx="2">
                  <c:v>Oracle</c:v>
                </c:pt>
              </c:strCache>
            </c:strRef>
          </c:cat>
          <c:val>
            <c:numRef>
              <c:f>'Chart Data'!$B$2:$B$4</c:f>
              <c:numCache>
                <c:formatCode>+0.00;-0.00;0.00</c:formatCode>
                <c:ptCount val="3"/>
                <c:pt idx="0">
                  <c:v>-14.3857</c:v>
                </c:pt>
                <c:pt idx="1">
                  <c:v>0.1555</c:v>
                </c:pt>
                <c:pt idx="2">
                  <c:v>0.7387</c:v>
                </c:pt>
              </c:numCache>
            </c:numRef>
          </c:val>
        </c:ser>
        <c:dLbls>
          <c:numFmt formatCode="+0.00;-0.00;0.00" sourceLinked="0"/>
          <c:txPr>
            <a:bodyPr xmlns:a="http://schemas.openxmlformats.org/drawingml/2006/main" anchorCtr="1"/>
            <a:lstStyle xmlns:a="http://schemas.openxmlformats.org/drawingml/2006/main"/>
            <a:p xmlns:a="http://schemas.openxmlformats.org/drawingml/2006/main">
              <a:pPr>
                <a:defRPr sz="1650" b="1">
                  <a:solidFill>
                    <a:srgbClr val="253746"/>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BDF"/>
            </a:solidFill>
          </a:ln>
        </c:spPr>
        <c:txPr>
          <a:bodyPr xmlns:a="http://schemas.openxmlformats.org/drawingml/2006/main" anchorCtr="1"/>
          <a:lstStyle xmlns:a="http://schemas.openxmlformats.org/drawingml/2006/main"/>
          <a:p xmlns:a="http://schemas.openxmlformats.org/drawingml/2006/main">
            <a:pPr>
              <a:defRPr sz="1575">
                <a:solidFill>
                  <a:srgbClr val="253746"/>
                </a:solidFill>
                <a:latin typeface="Helvetica Neue"/>
                <a:ea typeface="Helvetica Neue"/>
                <a:cs typeface="Helvetica Neue"/>
              </a:defRPr>
            </a:pPr>
          </a:p>
        </c:txPr>
        <c:crossAx val="48672768"/>
      </c:catAx>
      <c:valAx>
        <c:axId val="48672768"/>
        <c:scaling>
          <c:orientation val="minMax"/>
          <c:max val="4"/>
          <c:min val="-16"/>
        </c:scaling>
        <c:delete val="0"/>
        <c:axPos val="l"/>
        <c:majorGridlines>
          <c:spPr>
            <a:ln xmlns:a="http://schemas.openxmlformats.org/drawingml/2006/main" w="5715">
              <a:solidFill>
                <a:srgbClr val="E7E9EC"/>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8737D"/>
                </a:solidFill>
                <a:latin typeface="Helvetica Neue"/>
                <a:ea typeface="Helvetica Neue"/>
                <a:cs typeface="Helvetica Neue"/>
              </a:defRPr>
            </a:pPr>
          </a:p>
        </c:txPr>
        <c:crossAx val="48650112"/>
        <c:crossBetween val="between"/>
        <c:majorUnit val="4"/>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1">
            <a:extLst xmlns:a="http://schemas.openxmlformats.org/drawingml/2006/main">
              <a:ext uri="{FF2B5EF4-FFF2-40B4-BE49-F238E27FC236}">
                <a16:creationId xmlns:a16="http://schemas.microsoft.com/office/drawing/2014/main" id="{6E19FF2E-5E4B-44D9-878B-3161FD3BD491}"/>
              </a:ext>
            </a:extLst>
          </p:cNvPr>
          <p:cNvSpPr>
            <a:spLocks xmlns:a="http://schemas.openxmlformats.org/drawingml/2006/main" noGrp="1"/>
          </p:cNvSpPr>
          <p:nvPr/>
        </p:nvSpPr>
        <p:spPr>
          <a:xfrm xmlns:a="http://schemas.openxmlformats.org/drawingml/2006/main">
            <a:off x="533400" y="704850"/>
            <a:ext cx="11125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861F41"/>
                </a:solidFill>
                <a:latin typeface="Helvetica Neue"/>
                <a:ea typeface="Helvetica Neue"/>
                <a:cs typeface="Helvetica Neue"/>
              </a:defRPr>
            </a:defPPr>
          </a:lstStyle>
          <a:p xmlns:a="http://schemas.openxmlformats.org/drawingml/2006/main">
            <a:pPr algn="l">
              <a:defRPr sz="4050" b="1">
                <a:solidFill>
                  <a:srgbClr val="861F41"/>
                </a:solidFill>
                <a:latin typeface="Helvetica Neue"/>
                <a:ea typeface="Helvetica Neue"/>
                <a:cs typeface="Helvetica Neue"/>
              </a:defRPr>
            </a:pPr>
            <a:r>
              <a:rPr sz="4050" b="1">
                <a:solidFill>
                  <a:srgbClr val="861F41"/>
                </a:solidFill>
                <a:latin typeface="Helvetica Neue"/>
                <a:ea typeface="Helvetica Neue"/>
                <a:cs typeface="Helvetica Neue"/>
              </a:rPr>
              <a:t>Lending Under Imperfect Information</a:t>
            </a:r>
          </a:p>
        </p:txBody>
      </p:sp>
      <p:sp>
        <p:nvSpPr>
          <p:cNvPr id="2" name="text-2">
            <a:extLst xmlns:a="http://schemas.openxmlformats.org/drawingml/2006/main">
              <a:ext uri="{FF2B5EF4-FFF2-40B4-BE49-F238E27FC236}">
                <a16:creationId xmlns:a16="http://schemas.microsoft.com/office/drawing/2014/main" id="{007A049A-3BD3-4857-9107-292B22DC53DF}"/>
              </a:ext>
            </a:extLst>
          </p:cNvPr>
          <p:cNvSpPr>
            <a:spLocks xmlns:a="http://schemas.openxmlformats.org/drawingml/2006/main" noGrp="1"/>
          </p:cNvSpPr>
          <p:nvPr/>
        </p:nvSpPr>
        <p:spPr>
          <a:xfrm xmlns:a="http://schemas.openxmlformats.org/drawingml/2006/main">
            <a:off x="533400" y="17621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53746"/>
                </a:solidFill>
                <a:latin typeface="Helvetica Neue"/>
                <a:ea typeface="Helvetica Neue"/>
                <a:cs typeface="Helvetica Neue"/>
              </a:defRPr>
            </a:defPPr>
          </a:lstStyle>
          <a:p xmlns:a="http://schemas.openxmlformats.org/drawingml/2006/main">
            <a:pPr algn="l">
              <a:defRPr sz="2325" b="0">
                <a:solidFill>
                  <a:srgbClr val="253746"/>
                </a:solidFill>
                <a:latin typeface="Helvetica Neue"/>
                <a:ea typeface="Helvetica Neue"/>
                <a:cs typeface="Helvetica Neue"/>
              </a:defRPr>
            </a:pPr>
            <a:r>
              <a:rPr sz="2325" b="0">
                <a:solidFill>
                  <a:srgbClr val="253746"/>
                </a:solidFill>
                <a:latin typeface="Helvetica Neue"/>
                <a:ea typeface="Helvetica Neue"/>
                <a:cs typeface="Helvetica Neue"/>
              </a:rPr>
              <a:t>How noisy risk assessments affect lending decisions,</a:t>
            </a:r>
          </a:p>
          <a:p xmlns:a="http://schemas.openxmlformats.org/drawingml/2006/main">
            <a:pPr algn="l">
              <a:defRPr sz="2325" b="0">
                <a:solidFill>
                  <a:srgbClr val="253746"/>
                </a:solidFill>
                <a:latin typeface="Helvetica Neue"/>
                <a:ea typeface="Helvetica Neue"/>
                <a:cs typeface="Helvetica Neue"/>
              </a:defRPr>
            </a:pPr>
            <a:r>
              <a:rPr sz="2325" b="0">
                <a:solidFill>
                  <a:srgbClr val="253746"/>
                </a:solidFill>
                <a:latin typeface="Helvetica Neue"/>
                <a:ea typeface="Helvetica Neue"/>
                <a:cs typeface="Helvetica Neue"/>
              </a:rPr>
              <a:t>profitability, and group outcomes</a:t>
            </a:r>
          </a:p>
        </p:txBody>
      </p:sp>
      <p:sp>
        <p:nvSpPr>
          <p:cNvPr id="3" name="text-3">
            <a:extLst xmlns:a="http://schemas.openxmlformats.org/drawingml/2006/main">
              <a:ext uri="{FF2B5EF4-FFF2-40B4-BE49-F238E27FC236}">
                <a16:creationId xmlns:a16="http://schemas.microsoft.com/office/drawing/2014/main" id="{543510F1-ED2A-4636-8959-8364481F4040}"/>
              </a:ext>
            </a:extLst>
          </p:cNvPr>
          <p:cNvSpPr>
            <a:spLocks xmlns:a="http://schemas.openxmlformats.org/drawingml/2006/main" noGrp="1"/>
          </p:cNvSpPr>
          <p:nvPr/>
        </p:nvSpPr>
        <p:spPr>
          <a:xfrm xmlns:a="http://schemas.openxmlformats.org/drawingml/2006/main">
            <a:off x="533400" y="2847975"/>
            <a:ext cx="666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737D"/>
                </a:solidFill>
                <a:latin typeface="Helvetica Neue"/>
                <a:ea typeface="Helvetica Neue"/>
                <a:cs typeface="Helvetica Neue"/>
              </a:defRPr>
            </a:defPPr>
          </a:lstStyle>
          <a:p xmlns:a="http://schemas.openxmlformats.org/drawingml/2006/main">
            <a:pPr algn="l">
              <a:defRPr sz="1800" b="0">
                <a:solidFill>
                  <a:srgbClr val="68737D"/>
                </a:solidFill>
                <a:latin typeface="Helvetica Neue"/>
                <a:ea typeface="Helvetica Neue"/>
                <a:cs typeface="Helvetica Neue"/>
              </a:defRPr>
            </a:pPr>
            <a:r>
              <a:rPr sz="1800" b="0">
                <a:solidFill>
                  <a:srgbClr val="68737D"/>
                </a:solidFill>
                <a:latin typeface="Helvetica Neue"/>
                <a:ea typeface="Helvetica Neue"/>
                <a:cs typeface="Helvetica Neue"/>
              </a:rPr>
              <a:t>Nguyen Phan Nguyen</a:t>
            </a:r>
          </a:p>
          <a:p xmlns:a="http://schemas.openxmlformats.org/drawingml/2006/main">
            <a:pPr algn="l">
              <a:defRPr sz="1800" b="0">
                <a:solidFill>
                  <a:srgbClr val="68737D"/>
                </a:solidFill>
                <a:latin typeface="Helvetica Neue"/>
                <a:ea typeface="Helvetica Neue"/>
                <a:cs typeface="Helvetica Neue"/>
              </a:defRPr>
            </a:pPr>
            <a:r>
              <a:rPr sz="1800" b="0">
                <a:solidFill>
                  <a:srgbClr val="68737D"/>
                </a:solidFill>
                <a:latin typeface="Helvetica Neue"/>
                <a:ea typeface="Helvetica Neue"/>
                <a:cs typeface="Helvetica Neue"/>
              </a:rPr>
              <a:t>Virginia Tech — ECON 4994</a:t>
            </a:r>
          </a:p>
        </p:txBody>
      </p:sp>
      <p:sp>
        <p:nvSpPr>
          <p:cNvPr id="4" name="text-4">
            <a:extLst xmlns:a="http://schemas.openxmlformats.org/drawingml/2006/main">
              <a:ext uri="{FF2B5EF4-FFF2-40B4-BE49-F238E27FC236}">
                <a16:creationId xmlns:a16="http://schemas.microsoft.com/office/drawing/2014/main" id="{0728B44A-4ACC-4AF8-882D-E528046E0A1E}"/>
              </a:ext>
            </a:extLst>
          </p:cNvPr>
          <p:cNvSpPr>
            <a:spLocks xmlns:a="http://schemas.openxmlformats.org/drawingml/2006/main" noGrp="1"/>
          </p:cNvSpPr>
          <p:nvPr/>
        </p:nvSpPr>
        <p:spPr>
          <a:xfrm xmlns:a="http://schemas.openxmlformats.org/drawingml/2006/main">
            <a:off x="533400" y="38100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861F41"/>
                </a:solidFill>
                <a:latin typeface="Helvetica Neue"/>
                <a:ea typeface="Helvetica Neue"/>
                <a:cs typeface="Helvetica Neue"/>
              </a:defRPr>
            </a:defPPr>
          </a:lstStyle>
          <a:p xmlns:a="http://schemas.openxmlformats.org/drawingml/2006/main">
            <a:pPr algn="l">
              <a:defRPr sz="4350" b="1">
                <a:solidFill>
                  <a:srgbClr val="861F41"/>
                </a:solidFill>
                <a:latin typeface="Helvetica Neue"/>
                <a:ea typeface="Helvetica Neue"/>
                <a:cs typeface="Helvetica Neue"/>
              </a:defRPr>
            </a:pPr>
            <a:r>
              <a:rPr sz="4350" b="1">
                <a:solidFill>
                  <a:srgbClr val="861F41"/>
                </a:solidFill>
                <a:latin typeface="Helvetica Neue"/>
                <a:ea typeface="Helvetica Neue"/>
                <a:cs typeface="Helvetica Neue"/>
              </a:rPr>
              <a:t>100,000</a:t>
            </a:r>
          </a:p>
        </p:txBody>
      </p:sp>
      <p:sp>
        <p:nvSpPr>
          <p:cNvPr id="5" name="text-5">
            <a:extLst xmlns:a="http://schemas.openxmlformats.org/drawingml/2006/main">
              <a:ext uri="{FF2B5EF4-FFF2-40B4-BE49-F238E27FC236}">
                <a16:creationId xmlns:a16="http://schemas.microsoft.com/office/drawing/2014/main" id="{24D819ED-D4B7-4AD5-8BA2-06A918E1F337}"/>
              </a:ext>
            </a:extLst>
          </p:cNvPr>
          <p:cNvSpPr>
            <a:spLocks xmlns:a="http://schemas.openxmlformats.org/drawingml/2006/main" noGrp="1"/>
          </p:cNvSpPr>
          <p:nvPr/>
        </p:nvSpPr>
        <p:spPr>
          <a:xfrm xmlns:a="http://schemas.openxmlformats.org/drawingml/2006/main">
            <a:off x="4286250" y="38100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861F41"/>
                </a:solidFill>
                <a:latin typeface="Helvetica Neue"/>
                <a:ea typeface="Helvetica Neue"/>
                <a:cs typeface="Helvetica Neue"/>
              </a:defRPr>
            </a:defPPr>
          </a:lstStyle>
          <a:p xmlns:a="http://schemas.openxmlformats.org/drawingml/2006/main">
            <a:pPr algn="l">
              <a:defRPr sz="4350" b="1">
                <a:solidFill>
                  <a:srgbClr val="861F41"/>
                </a:solidFill>
                <a:latin typeface="Helvetica Neue"/>
                <a:ea typeface="Helvetica Neue"/>
                <a:cs typeface="Helvetica Neue"/>
              </a:defRPr>
            </a:pPr>
            <a:r>
              <a:rPr sz="4350" b="1">
                <a:solidFill>
                  <a:srgbClr val="861F41"/>
                </a:solidFill>
                <a:latin typeface="Helvetica Neue"/>
                <a:ea typeface="Helvetica Neue"/>
                <a:cs typeface="Helvetica Neue"/>
              </a:rPr>
              <a:t>200</a:t>
            </a:r>
          </a:p>
        </p:txBody>
      </p:sp>
      <p:sp>
        <p:nvSpPr>
          <p:cNvPr id="6" name="text-6">
            <a:extLst xmlns:a="http://schemas.openxmlformats.org/drawingml/2006/main">
              <a:ext uri="{FF2B5EF4-FFF2-40B4-BE49-F238E27FC236}">
                <a16:creationId xmlns:a16="http://schemas.microsoft.com/office/drawing/2014/main" id="{376DD868-44A7-405D-AA48-24ADBEBC7207}"/>
              </a:ext>
            </a:extLst>
          </p:cNvPr>
          <p:cNvSpPr>
            <a:spLocks xmlns:a="http://schemas.openxmlformats.org/drawingml/2006/main" noGrp="1"/>
          </p:cNvSpPr>
          <p:nvPr/>
        </p:nvSpPr>
        <p:spPr>
          <a:xfrm xmlns:a="http://schemas.openxmlformats.org/drawingml/2006/main">
            <a:off x="8058150" y="38100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E5751F"/>
                </a:solidFill>
                <a:latin typeface="Helvetica Neue"/>
                <a:ea typeface="Helvetica Neue"/>
                <a:cs typeface="Helvetica Neue"/>
              </a:defRPr>
            </a:defPPr>
          </a:lstStyle>
          <a:p xmlns:a="http://schemas.openxmlformats.org/drawingml/2006/main">
            <a:pPr algn="l">
              <a:defRPr sz="4350" b="1">
                <a:solidFill>
                  <a:srgbClr val="E5751F"/>
                </a:solidFill>
                <a:latin typeface="Helvetica Neue"/>
                <a:ea typeface="Helvetica Neue"/>
                <a:cs typeface="Helvetica Neue"/>
              </a:defRPr>
            </a:pPr>
            <a:r>
              <a:rPr sz="4350" b="1">
                <a:solidFill>
                  <a:srgbClr val="E5751F"/>
                </a:solidFill>
                <a:latin typeface="Helvetica Neue"/>
                <a:ea typeface="Helvetica Neue"/>
                <a:cs typeface="Helvetica Neue"/>
              </a:rPr>
              <a:t>91.5%</a:t>
            </a:r>
          </a:p>
        </p:txBody>
      </p:sp>
      <p:sp>
        <p:nvSpPr>
          <p:cNvPr id="7" name="text-7">
            <a:extLst xmlns:a="http://schemas.openxmlformats.org/drawingml/2006/main">
              <a:ext uri="{FF2B5EF4-FFF2-40B4-BE49-F238E27FC236}">
                <a16:creationId xmlns:a16="http://schemas.microsoft.com/office/drawing/2014/main" id="{96F3CC59-3A05-4618-8A11-1A88FF29EEAC}"/>
              </a:ext>
            </a:extLst>
          </p:cNvPr>
          <p:cNvSpPr>
            <a:spLocks xmlns:a="http://schemas.openxmlformats.org/drawingml/2006/main" noGrp="1"/>
          </p:cNvSpPr>
          <p:nvPr/>
        </p:nvSpPr>
        <p:spPr>
          <a:xfrm xmlns:a="http://schemas.openxmlformats.org/drawingml/2006/main">
            <a:off x="533400" y="4572000"/>
            <a:ext cx="333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53746"/>
                </a:solidFill>
                <a:latin typeface="Helvetica Neue"/>
                <a:ea typeface="Helvetica Neue"/>
                <a:cs typeface="Helvetica Neue"/>
              </a:defRPr>
            </a:defPPr>
          </a:lstStyle>
          <a:p xmlns:a="http://schemas.openxmlformats.org/drawingml/2006/main">
            <a:pPr algn="l">
              <a:defRPr sz="1800" b="0">
                <a:solidFill>
                  <a:srgbClr val="253746"/>
                </a:solidFill>
                <a:latin typeface="Helvetica Neue"/>
                <a:ea typeface="Helvetica Neue"/>
                <a:cs typeface="Helvetica Neue"/>
              </a:defRPr>
            </a:pPr>
            <a:r>
              <a:rPr sz="1800" b="0">
                <a:solidFill>
                  <a:srgbClr val="253746"/>
                </a:solidFill>
                <a:latin typeface="Helvetica Neue"/>
                <a:ea typeface="Helvetica Neue"/>
                <a:cs typeface="Helvetica Neue"/>
              </a:rPr>
              <a:t>Synthetic applicants</a:t>
            </a:r>
          </a:p>
        </p:txBody>
      </p:sp>
      <p:sp>
        <p:nvSpPr>
          <p:cNvPr id="8" name="text-8">
            <a:extLst xmlns:a="http://schemas.openxmlformats.org/drawingml/2006/main">
              <a:ext uri="{FF2B5EF4-FFF2-40B4-BE49-F238E27FC236}">
                <a16:creationId xmlns:a16="http://schemas.microsoft.com/office/drawing/2014/main" id="{C84BC3B3-F2E0-4777-8FC5-830A5A9E6AC3}"/>
              </a:ext>
            </a:extLst>
          </p:cNvPr>
          <p:cNvSpPr>
            <a:spLocks xmlns:a="http://schemas.openxmlformats.org/drawingml/2006/main" noGrp="1"/>
          </p:cNvSpPr>
          <p:nvPr/>
        </p:nvSpPr>
        <p:spPr>
          <a:xfrm xmlns:a="http://schemas.openxmlformats.org/drawingml/2006/main">
            <a:off x="4286250" y="4572000"/>
            <a:ext cx="333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53746"/>
                </a:solidFill>
                <a:latin typeface="Helvetica Neue"/>
                <a:ea typeface="Helvetica Neue"/>
                <a:cs typeface="Helvetica Neue"/>
              </a:defRPr>
            </a:defPPr>
          </a:lstStyle>
          <a:p xmlns:a="http://schemas.openxmlformats.org/drawingml/2006/main">
            <a:pPr algn="l">
              <a:defRPr sz="1800" b="0">
                <a:solidFill>
                  <a:srgbClr val="253746"/>
                </a:solidFill>
                <a:latin typeface="Helvetica Neue"/>
                <a:ea typeface="Helvetica Neue"/>
                <a:cs typeface="Helvetica Neue"/>
              </a:defRPr>
            </a:pPr>
            <a:r>
              <a:rPr sz="1800" b="0">
                <a:solidFill>
                  <a:srgbClr val="253746"/>
                </a:solidFill>
                <a:latin typeface="Helvetica Neue"/>
                <a:ea typeface="Helvetica Neue"/>
                <a:cs typeface="Helvetica Neue"/>
              </a:rPr>
              <a:t>Independent noise</a:t>
            </a:r>
          </a:p>
          <a:p xmlns:a="http://schemas.openxmlformats.org/drawingml/2006/main">
            <a:pPr algn="l">
              <a:defRPr sz="1800" b="0">
                <a:solidFill>
                  <a:srgbClr val="253746"/>
                </a:solidFill>
                <a:latin typeface="Helvetica Neue"/>
                <a:ea typeface="Helvetica Neue"/>
                <a:cs typeface="Helvetica Neue"/>
              </a:defRPr>
            </a:pPr>
            <a:r>
              <a:rPr sz="1800" b="0">
                <a:solidFill>
                  <a:srgbClr val="253746"/>
                </a:solidFill>
                <a:latin typeface="Helvetica Neue"/>
                <a:ea typeface="Helvetica Neue"/>
                <a:cs typeface="Helvetica Neue"/>
              </a:rPr>
              <a:t>replications</a:t>
            </a:r>
          </a:p>
        </p:txBody>
      </p:sp>
      <p:sp>
        <p:nvSpPr>
          <p:cNvPr id="9" name="text-9">
            <a:extLst xmlns:a="http://schemas.openxmlformats.org/drawingml/2006/main">
              <a:ext uri="{FF2B5EF4-FFF2-40B4-BE49-F238E27FC236}">
                <a16:creationId xmlns:a16="http://schemas.microsoft.com/office/drawing/2014/main" id="{F76B3BA2-6CF2-4EAF-A718-61675F1CB46E}"/>
              </a:ext>
            </a:extLst>
          </p:cNvPr>
          <p:cNvSpPr>
            <a:spLocks xmlns:a="http://schemas.openxmlformats.org/drawingml/2006/main" noGrp="1"/>
          </p:cNvSpPr>
          <p:nvPr/>
        </p:nvSpPr>
        <p:spPr>
          <a:xfrm xmlns:a="http://schemas.openxmlformats.org/drawingml/2006/main">
            <a:off x="8058150" y="4572000"/>
            <a:ext cx="333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53746"/>
                </a:solidFill>
                <a:latin typeface="Helvetica Neue"/>
                <a:ea typeface="Helvetica Neue"/>
                <a:cs typeface="Helvetica Neue"/>
              </a:defRPr>
            </a:defPPr>
          </a:lstStyle>
          <a:p xmlns:a="http://schemas.openxmlformats.org/drawingml/2006/main">
            <a:pPr algn="l">
              <a:defRPr sz="1800" b="0">
                <a:solidFill>
                  <a:srgbClr val="253746"/>
                </a:solidFill>
                <a:latin typeface="Helvetica Neue"/>
                <a:ea typeface="Helvetica Neue"/>
                <a:cs typeface="Helvetica Neue"/>
              </a:defRPr>
            </a:pPr>
            <a:r>
              <a:rPr sz="1800" b="0">
                <a:solidFill>
                  <a:srgbClr val="253746"/>
                </a:solidFill>
                <a:latin typeface="Helvetica Neue"/>
                <a:ea typeface="Helvetica Neue"/>
                <a:cs typeface="Helvetica Neue"/>
              </a:rPr>
              <a:t>Draws with a smaller absolute</a:t>
            </a:r>
          </a:p>
          <a:p xmlns:a="http://schemas.openxmlformats.org/drawingml/2006/main">
            <a:pPr algn="l">
              <a:defRPr sz="1800" b="0">
                <a:solidFill>
                  <a:srgbClr val="253746"/>
                </a:solidFill>
                <a:latin typeface="Helvetica Neue"/>
                <a:ea typeface="Helvetica Neue"/>
                <a:cs typeface="Helvetica Neue"/>
              </a:defRPr>
            </a:pPr>
            <a:r>
              <a:rPr sz="1800" b="0">
                <a:solidFill>
                  <a:srgbClr val="253746"/>
                </a:solidFill>
                <a:latin typeface="Helvetica Neue"/>
                <a:ea typeface="Helvetica Neue"/>
                <a:cs typeface="Helvetica Neue"/>
              </a:rPr>
              <a:t>group approval gap when</a:t>
            </a:r>
          </a:p>
          <a:p xmlns:a="http://schemas.openxmlformats.org/drawingml/2006/main">
            <a:pPr algn="l">
              <a:defRPr sz="1800" b="0">
                <a:solidFill>
                  <a:srgbClr val="253746"/>
                </a:solidFill>
                <a:latin typeface="Helvetica Neue"/>
                <a:ea typeface="Helvetica Neue"/>
                <a:cs typeface="Helvetica Neue"/>
              </a:defRPr>
            </a:pPr>
            <a:r>
              <a:rPr sz="1800" b="0">
                <a:solidFill>
                  <a:srgbClr val="253746"/>
                </a:solidFill>
                <a:latin typeface="Helvetica Neue"/>
                <a:ea typeface="Helvetica Neue"/>
                <a:cs typeface="Helvetica Neue"/>
              </a:rPr>
              <a:t>the bank excludes B</a:t>
            </a:r>
          </a:p>
        </p:txBody>
      </p:sp>
      <p:sp>
        <p:nvSpPr>
          <p:cNvPr id="10" name="text-10">
            <a:extLst xmlns:a="http://schemas.openxmlformats.org/drawingml/2006/main">
              <a:ext uri="{FF2B5EF4-FFF2-40B4-BE49-F238E27FC236}">
                <a16:creationId xmlns:a16="http://schemas.microsoft.com/office/drawing/2014/main" id="{677DAAD1-FFBC-4CF5-AA2D-BBF507883C72}"/>
              </a:ext>
            </a:extLst>
          </p:cNvPr>
          <p:cNvSpPr>
            <a:spLocks xmlns:a="http://schemas.openxmlformats.org/drawingml/2006/main" noGrp="1"/>
          </p:cNvSpPr>
          <p:nvPr/>
        </p:nvSpPr>
        <p:spPr>
          <a:xfrm xmlns:a="http://schemas.openxmlformats.org/drawingml/2006/main">
            <a:off x="533400" y="56578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53746"/>
                </a:solidFill>
                <a:latin typeface="Helvetica Neue"/>
                <a:ea typeface="Helvetica Neue"/>
                <a:cs typeface="Helvetica Neue"/>
              </a:defRPr>
            </a:defPPr>
          </a:lstStyle>
          <a:p xmlns:a="http://schemas.openxmlformats.org/drawingml/2006/main">
            <a:pPr algn="l">
              <a:defRPr sz="1875" b="0">
                <a:solidFill>
                  <a:srgbClr val="253746"/>
                </a:solidFill>
                <a:latin typeface="Helvetica Neue"/>
                <a:ea typeface="Helvetica Neue"/>
                <a:cs typeface="Helvetica Neue"/>
              </a:defRPr>
            </a:pPr>
            <a:r>
              <a:rPr sz="1875" b="0">
                <a:solidFill>
                  <a:srgbClr val="253746"/>
                </a:solidFill>
                <a:latin typeface="Helvetica Neue"/>
                <a:ea typeface="Helvetica Neue"/>
                <a:cs typeface="Helvetica Neue"/>
              </a:rPr>
              <a:t>Noisy bank estimates can create substantial and unstable group lending</a:t>
            </a:r>
          </a:p>
          <a:p xmlns:a="http://schemas.openxmlformats.org/drawingml/2006/main">
            <a:pPr algn="l">
              <a:defRPr sz="1875" b="0">
                <a:solidFill>
                  <a:srgbClr val="253746"/>
                </a:solidFill>
                <a:latin typeface="Helvetica Neue"/>
                <a:ea typeface="Helvetica Neue"/>
                <a:cs typeface="Helvetica Neue"/>
              </a:defRPr>
            </a:pPr>
            <a:r>
              <a:rPr sz="1875" b="0">
                <a:solidFill>
                  <a:srgbClr val="253746"/>
                </a:solidFill>
                <a:latin typeface="Helvetica Neue"/>
                <a:ea typeface="Helvetica Neue"/>
                <a:cs typeface="Helvetica Neue"/>
              </a:rPr>
              <a:t>disparities even when the true-risk model has no direct group effect.</a:t>
            </a:r>
          </a:p>
        </p:txBody>
      </p:sp>
      <p:sp>
        <p:nvSpPr>
          <p:cNvPr id="11" name="text-11">
            <a:extLst xmlns:a="http://schemas.openxmlformats.org/drawingml/2006/main">
              <a:ext uri="{FF2B5EF4-FFF2-40B4-BE49-F238E27FC236}">
                <a16:creationId xmlns:a16="http://schemas.microsoft.com/office/drawing/2014/main" id="{6D936482-9685-4556-BEE9-023BA9DA0A07}"/>
              </a:ext>
            </a:extLst>
          </p:cNvPr>
          <p:cNvSpPr>
            <a:spLocks xmlns:a="http://schemas.openxmlformats.org/drawingml/2006/main" noGrp="1"/>
          </p:cNvSpPr>
          <p:nvPr/>
        </p:nvSpPr>
        <p:spPr>
          <a:xfrm xmlns:a="http://schemas.openxmlformats.org/drawingml/2006/main">
            <a:off x="533400" y="6534150"/>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8737D"/>
                </a:solidFill>
                <a:latin typeface="Helvetica Neue"/>
                <a:ea typeface="Helvetica Neue"/>
                <a:cs typeface="Helvetica Neue"/>
              </a:defRPr>
            </a:defPPr>
          </a:lstStyle>
          <a:p xmlns:a="http://schemas.openxmlformats.org/drawingml/2006/main">
            <a:pPr algn="l">
              <a:defRPr sz="1050" b="0">
                <a:solidFill>
                  <a:srgbClr val="68737D"/>
                </a:solidFill>
                <a:latin typeface="Helvetica Neue"/>
                <a:ea typeface="Helvetica Neue"/>
                <a:cs typeface="Helvetica Neue"/>
              </a:defRPr>
            </a:pPr>
            <a:r>
              <a:rPr sz="1050" b="0">
                <a:solidFill>
                  <a:srgbClr val="68737D"/>
                </a:solidFill>
                <a:latin typeface="Helvetica Neue"/>
                <a:ea typeface="Helvetica Neue"/>
                <a:cs typeface="Helvetica Neue"/>
              </a:rPr>
              <a:t>Synthetic simulation, not real-world mortgage evidence. Source: Step 8B, noise_full_results.csv</a:t>
            </a:r>
          </a:p>
        </p:txBody>
      </p:sp>
      <p:sp>
        <p:nvSpPr>
          <p:cNvPr id="12" name="text-12">
            <a:extLst xmlns:a="http://schemas.openxmlformats.org/drawingml/2006/main">
              <a:ext uri="{FF2B5EF4-FFF2-40B4-BE49-F238E27FC236}">
                <a16:creationId xmlns:a16="http://schemas.microsoft.com/office/drawing/2014/main" id="{7CE5E228-F042-468C-B653-89FCD520FA7C}"/>
              </a:ext>
            </a:extLst>
          </p:cNvPr>
          <p:cNvSpPr>
            <a:spLocks xmlns:a="http://schemas.openxmlformats.org/drawingml/2006/main" noGrp="1"/>
          </p:cNvSpPr>
          <p:nvPr/>
        </p:nvSpPr>
        <p:spPr>
          <a:xfrm xmlns:a="http://schemas.openxmlformats.org/drawingml/2006/main">
            <a:off x="11506200" y="6534150"/>
            <a:ext cx="304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8737D"/>
                </a:solidFill>
                <a:latin typeface="Helvetica Neue"/>
                <a:ea typeface="Helvetica Neue"/>
                <a:cs typeface="Helvetica Neue"/>
              </a:defRPr>
            </a:defPPr>
          </a:lstStyle>
          <a:p xmlns:a="http://schemas.openxmlformats.org/drawingml/2006/main">
            <a:pPr algn="r">
              <a:defRPr sz="1050" b="0">
                <a:solidFill>
                  <a:srgbClr val="68737D"/>
                </a:solidFill>
                <a:latin typeface="Helvetica Neue"/>
                <a:ea typeface="Helvetica Neue"/>
                <a:cs typeface="Helvetica Neue"/>
              </a:defRPr>
            </a:pPr>
            <a:r>
              <a:rPr sz="1050" b="0">
                <a:solidFill>
                  <a:srgbClr val="68737D"/>
                </a:solidFill>
                <a:latin typeface="Helvetica Neue"/>
                <a:ea typeface="Helvetica Neue"/>
                <a:cs typeface="Helvetica Neue"/>
              </a:rPr>
              <a:t>01</a:t>
            </a:r>
          </a:p>
        </p:txBody>
      </p:sp>
    </p:spTree>
    <p:extLst>
      <p:ext uri="{BB962C8B-B14F-4D97-AF65-F5344CB8AC3E}">
        <p14:creationId xmlns:p14="http://schemas.microsoft.com/office/powerpoint/2010/main" val="5286818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D2A1B844-7953-4977-A39C-25B23B185680}"/>
              </a:ext>
            </a:extLst>
          </p:cNvPr>
          <p:cNvCxnSpPr>
            <a:stCxn xmlns:a="http://schemas.openxmlformats.org/drawingml/2006/main" id="20" idx="2"/>
            <a:endCxn xmlns:a="http://schemas.openxmlformats.org/drawingml/2006/main" id="23" idx="0"/>
          </p:cNvCxnSpPr>
          <p:nvPr/>
        </p:nvCxnSpPr>
        <p:spPr>
          <a:xfrm xmlns:a="http://schemas.openxmlformats.org/drawingml/2006/main">
            <a:off x="1890713" y="5553075"/>
            <a:ext cx="4205288" cy="323850"/>
          </a:xfrm>
          <a:prstGeom xmlns:a="http://schemas.openxmlformats.org/drawingml/2006/main" prst="bentConnector4">
            <a:avLst>
              <a:gd name="adj1" fmla="val 0"/>
              <a:gd name="adj2" fmla="val 50000"/>
            </a:avLst>
          </a:prstGeom>
          <a:ln xmlns:a="http://schemas.openxmlformats.org/drawingml/2006/main" w="14288">
            <a:solidFill>
              <a:srgbClr val="68737D"/>
            </a:solidFill>
            <a:tailEnd type="triangle" w="med" len="med"/>
          </a:ln>
        </p:spPr>
      </p:cxnSp>
      <p:cxnSp>
        <p:nvCxnSpPr>
          <p:cNvPr id="22" name="">
            <a:extLst xmlns:a="http://schemas.openxmlformats.org/drawingml/2006/main">
              <a:ext uri="{FF2B5EF4-FFF2-40B4-BE49-F238E27FC236}">
                <a16:creationId xmlns:a16="http://schemas.microsoft.com/office/drawing/2014/main" id="{99121017-17C3-47ED-8775-249AF3892941}"/>
              </a:ext>
            </a:extLst>
          </p:cNvPr>
          <p:cNvCxnSpPr>
            <a:stCxn xmlns:a="http://schemas.openxmlformats.org/drawingml/2006/main" id="19" idx="1"/>
            <a:endCxn xmlns:a="http://schemas.openxmlformats.org/drawingml/2006/main" id="20" idx="3"/>
          </p:cNvCxnSpPr>
          <p:nvPr/>
        </p:nvCxnSpPr>
        <p:spPr>
          <a:xfrm xmlns:a="http://schemas.openxmlformats.org/drawingml/2006/main" flipH="1">
            <a:off x="3248025" y="5114925"/>
            <a:ext cx="847725" cy="0"/>
          </a:xfrm>
          <a:prstGeom xmlns:a="http://schemas.openxmlformats.org/drawingml/2006/main" prst="straightConnector1">
            <a:avLst/>
          </a:prstGeom>
          <a:ln xmlns:a="http://schemas.openxmlformats.org/drawingml/2006/main" w="14288">
            <a:solidFill>
              <a:srgbClr val="68737D"/>
            </a:solidFill>
            <a:tailEnd type="triangle" w="med" len="med"/>
          </a:ln>
        </p:spPr>
      </p:cxnSp>
      <p:cxnSp>
        <p:nvCxnSpPr>
          <p:cNvPr id="21" name="">
            <a:extLst xmlns:a="http://schemas.openxmlformats.org/drawingml/2006/main">
              <a:ext uri="{FF2B5EF4-FFF2-40B4-BE49-F238E27FC236}">
                <a16:creationId xmlns:a16="http://schemas.microsoft.com/office/drawing/2014/main" id="{9087FA58-9CDC-4E97-9769-18BFF99FE2B1}"/>
              </a:ext>
            </a:extLst>
          </p:cNvPr>
          <p:cNvCxnSpPr>
            <a:stCxn xmlns:a="http://schemas.openxmlformats.org/drawingml/2006/main" id="16" idx="1"/>
            <a:endCxn xmlns:a="http://schemas.openxmlformats.org/drawingml/2006/main" id="19" idx="3"/>
          </p:cNvCxnSpPr>
          <p:nvPr/>
        </p:nvCxnSpPr>
        <p:spPr>
          <a:xfrm xmlns:a="http://schemas.openxmlformats.org/drawingml/2006/main" flipH="1">
            <a:off x="7334250" y="5114925"/>
            <a:ext cx="895350" cy="0"/>
          </a:xfrm>
          <a:prstGeom xmlns:a="http://schemas.openxmlformats.org/drawingml/2006/main" prst="straightConnector1">
            <a:avLst/>
          </a:prstGeom>
          <a:ln xmlns:a="http://schemas.openxmlformats.org/drawingml/2006/main" w="14288">
            <a:solidFill>
              <a:srgbClr val="68737D"/>
            </a:solidFill>
            <a:tailEnd type="triangle" w="med" len="med"/>
          </a:ln>
        </p:spPr>
      </p:cxnSp>
      <p:cxnSp>
        <p:nvCxnSpPr>
          <p:cNvPr id="18" name="">
            <a:extLst xmlns:a="http://schemas.openxmlformats.org/drawingml/2006/main">
              <a:ext uri="{FF2B5EF4-FFF2-40B4-BE49-F238E27FC236}">
                <a16:creationId xmlns:a16="http://schemas.microsoft.com/office/drawing/2014/main" id="{E99432F4-FD34-4166-B9E2-75F50A67CA74}"/>
              </a:ext>
            </a:extLst>
          </p:cNvPr>
          <p:cNvCxnSpPr>
            <a:stCxn xmlns:a="http://schemas.openxmlformats.org/drawingml/2006/main" id="11" idx="2"/>
            <a:endCxn xmlns:a="http://schemas.openxmlformats.org/drawingml/2006/main" id="16" idx="0"/>
          </p:cNvCxnSpPr>
          <p:nvPr/>
        </p:nvCxnSpPr>
        <p:spPr>
          <a:xfrm xmlns:a="http://schemas.openxmlformats.org/drawingml/2006/main" flipH="1">
            <a:off x="9944100" y="4114800"/>
            <a:ext cx="357188" cy="561975"/>
          </a:xfrm>
          <a:prstGeom xmlns:a="http://schemas.openxmlformats.org/drawingml/2006/main" prst="bentConnector4">
            <a:avLst>
              <a:gd name="adj1" fmla="val 0"/>
              <a:gd name="adj2" fmla="val 50000"/>
            </a:avLst>
          </a:prstGeom>
          <a:ln xmlns:a="http://schemas.openxmlformats.org/drawingml/2006/main" w="14288">
            <a:solidFill>
              <a:srgbClr val="68737D"/>
            </a:solidFill>
            <a:tailEnd type="triangle" w="med" len="med"/>
          </a:ln>
        </p:spPr>
      </p:cxnSp>
      <p:cxnSp>
        <p:nvCxnSpPr>
          <p:cNvPr id="17" name="">
            <a:extLst xmlns:a="http://schemas.openxmlformats.org/drawingml/2006/main">
              <a:ext uri="{FF2B5EF4-FFF2-40B4-BE49-F238E27FC236}">
                <a16:creationId xmlns:a16="http://schemas.microsoft.com/office/drawing/2014/main" id="{33E8F97A-6F43-41B6-94F9-FFD7759A2815}"/>
              </a:ext>
            </a:extLst>
          </p:cNvPr>
          <p:cNvCxnSpPr>
            <a:stCxn xmlns:a="http://schemas.openxmlformats.org/drawingml/2006/main" id="10" idx="2"/>
            <a:endCxn xmlns:a="http://schemas.openxmlformats.org/drawingml/2006/main" id="16" idx="0"/>
          </p:cNvCxnSpPr>
          <p:nvPr/>
        </p:nvCxnSpPr>
        <p:spPr>
          <a:xfrm xmlns:a="http://schemas.openxmlformats.org/drawingml/2006/main">
            <a:off x="7310438" y="4114800"/>
            <a:ext cx="2633663" cy="561975"/>
          </a:xfrm>
          <a:prstGeom xmlns:a="http://schemas.openxmlformats.org/drawingml/2006/main" prst="bentConnector4">
            <a:avLst>
              <a:gd name="adj1" fmla="val 0"/>
              <a:gd name="adj2" fmla="val 50000"/>
            </a:avLst>
          </a:prstGeom>
          <a:ln xmlns:a="http://schemas.openxmlformats.org/drawingml/2006/main" w="14288">
            <a:solidFill>
              <a:srgbClr val="68737D"/>
            </a:solidFill>
            <a:tailEnd type="triangle" w="med" len="med"/>
          </a:ln>
        </p:spPr>
      </p:cxnSp>
      <p:cxnSp>
        <p:nvCxnSpPr>
          <p:cNvPr id="13" name="">
            <a:extLst xmlns:a="http://schemas.openxmlformats.org/drawingml/2006/main">
              <a:ext uri="{FF2B5EF4-FFF2-40B4-BE49-F238E27FC236}">
                <a16:creationId xmlns:a16="http://schemas.microsoft.com/office/drawing/2014/main" id="{DA1AF054-C059-4117-888A-403A4DB40301}"/>
              </a:ext>
            </a:extLst>
          </p:cNvPr>
          <p:cNvCxnSpPr>
            <a:stCxn xmlns:a="http://schemas.openxmlformats.org/drawingml/2006/main" id="7" idx="2"/>
            <a:endCxn xmlns:a="http://schemas.openxmlformats.org/drawingml/2006/main" id="11" idx="0"/>
          </p:cNvCxnSpPr>
          <p:nvPr/>
        </p:nvCxnSpPr>
        <p:spPr>
          <a:xfrm xmlns:a="http://schemas.openxmlformats.org/drawingml/2006/main">
            <a:off x="9944100" y="2457450"/>
            <a:ext cx="357188" cy="790575"/>
          </a:xfrm>
          <a:prstGeom xmlns:a="http://schemas.openxmlformats.org/drawingml/2006/main" prst="bentConnector4">
            <a:avLst>
              <a:gd name="adj1" fmla="val 0"/>
              <a:gd name="adj2" fmla="val 50000"/>
            </a:avLst>
          </a:prstGeom>
          <a:ln xmlns:a="http://schemas.openxmlformats.org/drawingml/2006/main" w="14288">
            <a:solidFill>
              <a:srgbClr val="68737D"/>
            </a:solidFill>
            <a:tailEnd type="triangle" w="med" len="med"/>
          </a:ln>
        </p:spPr>
      </p:cxnSp>
      <p:cxnSp>
        <p:nvCxnSpPr>
          <p:cNvPr id="12" name="">
            <a:extLst xmlns:a="http://schemas.openxmlformats.org/drawingml/2006/main">
              <a:ext uri="{FF2B5EF4-FFF2-40B4-BE49-F238E27FC236}">
                <a16:creationId xmlns:a16="http://schemas.microsoft.com/office/drawing/2014/main" id="{7ED36098-BFC7-454E-AC98-7A70C2F89FB6}"/>
              </a:ext>
            </a:extLst>
          </p:cNvPr>
          <p:cNvCxnSpPr>
            <a:stCxn xmlns:a="http://schemas.openxmlformats.org/drawingml/2006/main" id="7" idx="2"/>
            <a:endCxn xmlns:a="http://schemas.openxmlformats.org/drawingml/2006/main" id="10" idx="0"/>
          </p:cNvCxnSpPr>
          <p:nvPr/>
        </p:nvCxnSpPr>
        <p:spPr>
          <a:xfrm xmlns:a="http://schemas.openxmlformats.org/drawingml/2006/main" flipH="1">
            <a:off x="7310438" y="2457450"/>
            <a:ext cx="2633663" cy="790575"/>
          </a:xfrm>
          <a:prstGeom xmlns:a="http://schemas.openxmlformats.org/drawingml/2006/main" prst="bentConnector4">
            <a:avLst>
              <a:gd name="adj1" fmla="val 0"/>
              <a:gd name="adj2" fmla="val 50000"/>
            </a:avLst>
          </a:prstGeom>
          <a:ln xmlns:a="http://schemas.openxmlformats.org/drawingml/2006/main" w="14288">
            <a:solidFill>
              <a:srgbClr val="68737D"/>
            </a:solidFill>
            <a:tailEnd type="triangle" w="med" len="med"/>
          </a:ln>
        </p:spPr>
      </p:cxnSp>
      <p:cxnSp>
        <p:nvCxnSpPr>
          <p:cNvPr id="9" name="">
            <a:extLst xmlns:a="http://schemas.openxmlformats.org/drawingml/2006/main">
              <a:ext uri="{FF2B5EF4-FFF2-40B4-BE49-F238E27FC236}">
                <a16:creationId xmlns:a16="http://schemas.microsoft.com/office/drawing/2014/main" id="{BD860DF7-5D96-4FFF-87FE-C596CACF46B7}"/>
              </a:ext>
            </a:extLst>
          </p:cNvPr>
          <p:cNvCxnSpPr>
            <a:stCxn xmlns:a="http://schemas.openxmlformats.org/drawingml/2006/main" id="6" idx="3"/>
            <a:endCxn xmlns:a="http://schemas.openxmlformats.org/drawingml/2006/main" id="7" idx="1"/>
          </p:cNvCxnSpPr>
          <p:nvPr/>
        </p:nvCxnSpPr>
        <p:spPr>
          <a:xfrm xmlns:a="http://schemas.openxmlformats.org/drawingml/2006/main">
            <a:off x="6858000" y="2000250"/>
            <a:ext cx="1371600" cy="0"/>
          </a:xfrm>
          <a:prstGeom xmlns:a="http://schemas.openxmlformats.org/drawingml/2006/main" prst="straightConnector1">
            <a:avLst/>
          </a:prstGeom>
          <a:ln xmlns:a="http://schemas.openxmlformats.org/drawingml/2006/main" w="14288">
            <a:solidFill>
              <a:srgbClr val="68737D"/>
            </a:solidFill>
            <a:tailEnd type="triangle" w="med" len="med"/>
          </a:ln>
        </p:spPr>
      </p:cxnSp>
      <p:cxnSp>
        <p:nvCxnSpPr>
          <p:cNvPr id="8" name="">
            <a:extLst xmlns:a="http://schemas.openxmlformats.org/drawingml/2006/main">
              <a:ext uri="{FF2B5EF4-FFF2-40B4-BE49-F238E27FC236}">
                <a16:creationId xmlns:a16="http://schemas.microsoft.com/office/drawing/2014/main" id="{3F79F099-8710-4506-9877-C5E392E8B24F}"/>
              </a:ext>
            </a:extLst>
          </p:cNvPr>
          <p:cNvCxnSpPr>
            <a:stCxn xmlns:a="http://schemas.openxmlformats.org/drawingml/2006/main" id="5" idx="3"/>
            <a:endCxn xmlns:a="http://schemas.openxmlformats.org/drawingml/2006/main" id="6" idx="1"/>
          </p:cNvCxnSpPr>
          <p:nvPr/>
        </p:nvCxnSpPr>
        <p:spPr>
          <a:xfrm xmlns:a="http://schemas.openxmlformats.org/drawingml/2006/main">
            <a:off x="3295650" y="2000250"/>
            <a:ext cx="800100" cy="0"/>
          </a:xfrm>
          <a:prstGeom xmlns:a="http://schemas.openxmlformats.org/drawingml/2006/main" prst="straightConnector1">
            <a:avLst/>
          </a:prstGeom>
          <a:ln xmlns:a="http://schemas.openxmlformats.org/drawingml/2006/main" w="14288">
            <a:solidFill>
              <a:srgbClr val="68737D"/>
            </a:solidFill>
            <a:tailEnd type="triangle" w="med" len="med"/>
          </a:ln>
        </p:spPr>
      </p:cxnSp>
      <p:sp>
        <p:nvSpPr>
          <p:cNvPr id="25" name="text-13">
            <a:extLst xmlns:a="http://schemas.openxmlformats.org/drawingml/2006/main">
              <a:ext uri="{FF2B5EF4-FFF2-40B4-BE49-F238E27FC236}">
                <a16:creationId xmlns:a16="http://schemas.microsoft.com/office/drawing/2014/main" id="{10DC56E2-311B-45BD-AB93-A656BC13900A}"/>
              </a:ext>
            </a:extLst>
          </p:cNvPr>
          <p:cNvSpPr>
            <a:spLocks xmlns:a="http://schemas.openxmlformats.org/drawingml/2006/main" noGrp="1"/>
          </p:cNvSpPr>
          <p:nvPr/>
        </p:nvSpPr>
        <p:spPr>
          <a:xfrm xmlns:a="http://schemas.openxmlformats.org/drawingml/2006/main">
            <a:off x="533400" y="371475"/>
            <a:ext cx="1114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861F41"/>
                </a:solidFill>
                <a:latin typeface="Helvetica Neue"/>
                <a:ea typeface="Helvetica Neue"/>
                <a:cs typeface="Helvetica Neue"/>
              </a:defRPr>
            </a:defPPr>
          </a:lstStyle>
          <a:p xmlns:a="http://schemas.openxmlformats.org/drawingml/2006/main">
            <a:pPr algn="l">
              <a:defRPr sz="3150" b="1">
                <a:solidFill>
                  <a:srgbClr val="861F41"/>
                </a:solidFill>
                <a:latin typeface="Helvetica Neue"/>
                <a:ea typeface="Helvetica Neue"/>
                <a:cs typeface="Helvetica Neue"/>
              </a:defRPr>
            </a:pPr>
            <a:r>
              <a:rPr sz="3150" b="1">
                <a:solidFill>
                  <a:srgbClr val="861F41"/>
                </a:solidFill>
                <a:latin typeface="Helvetica Neue"/>
                <a:ea typeface="Helvetica Neue"/>
                <a:cs typeface="Helvetica Neue"/>
              </a:rPr>
              <a:t>From True Risk to Lending Decisions</a:t>
            </a:r>
          </a:p>
        </p:txBody>
      </p:sp>
      <p:sp>
        <p:nvSpPr>
          <p:cNvPr id="2" name="">
            <a:extLst xmlns:a="http://schemas.openxmlformats.org/drawingml/2006/main">
              <a:ext uri="{FF2B5EF4-FFF2-40B4-BE49-F238E27FC236}">
                <a16:creationId xmlns:a16="http://schemas.microsoft.com/office/drawing/2014/main" id="{53FB017C-2A0E-4DCE-A0D1-B2F45740286A}"/>
              </a:ext>
            </a:extLst>
          </p:cNvPr>
          <p:cNvSpPr>
            <a:spLocks xmlns:a="http://schemas.openxmlformats.org/drawingml/2006/main" noGrp="1"/>
          </p:cNvSpPr>
          <p:nvPr/>
        </p:nvSpPr>
        <p:spPr>
          <a:xfrm xmlns:a="http://schemas.openxmlformats.org/drawingml/2006/main">
            <a:off x="533400" y="1057275"/>
            <a:ext cx="11125200" cy="0"/>
          </a:xfrm>
          <a:prstGeom xmlns:a="http://schemas.openxmlformats.org/drawingml/2006/main" prst="line">
            <a:avLst/>
          </a:prstGeom>
          <a:noFill xmlns:a="http://schemas.openxmlformats.org/drawingml/2006/main"/>
          <a:ln xmlns:a="http://schemas.openxmlformats.org/drawingml/2006/main" w="9525">
            <a:solidFill>
              <a:srgbClr val="D7DBDF"/>
            </a:solidFill>
          </a:ln>
        </p:spPr>
      </p:sp>
      <p:sp>
        <p:nvSpPr>
          <p:cNvPr id="3" name="text-14">
            <a:extLst xmlns:a="http://schemas.openxmlformats.org/drawingml/2006/main">
              <a:ext uri="{FF2B5EF4-FFF2-40B4-BE49-F238E27FC236}">
                <a16:creationId xmlns:a16="http://schemas.microsoft.com/office/drawing/2014/main" id="{96C49E2E-D78E-499D-8424-FFF326AD26D2}"/>
              </a:ext>
            </a:extLst>
          </p:cNvPr>
          <p:cNvSpPr>
            <a:spLocks xmlns:a="http://schemas.openxmlformats.org/drawingml/2006/main" noGrp="1"/>
          </p:cNvSpPr>
          <p:nvPr/>
        </p:nvSpPr>
        <p:spPr>
          <a:xfrm xmlns:a="http://schemas.openxmlformats.org/drawingml/2006/main">
            <a:off x="533400" y="65151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68737D"/>
                </a:solidFill>
                <a:latin typeface="Helvetica Neue"/>
                <a:ea typeface="Helvetica Neue"/>
                <a:cs typeface="Helvetica Neue"/>
              </a:defRPr>
            </a:defPPr>
          </a:lstStyle>
          <a:p xmlns:a="http://schemas.openxmlformats.org/drawingml/2006/main">
            <a:pPr algn="l">
              <a:defRPr sz="1013" b="0">
                <a:solidFill>
                  <a:srgbClr val="68737D"/>
                </a:solidFill>
                <a:latin typeface="Helvetica Neue"/>
                <a:ea typeface="Helvetica Neue"/>
                <a:cs typeface="Helvetica Neue"/>
              </a:defRPr>
            </a:pPr>
            <a:r>
              <a:rPr sz="1013" b="0">
                <a:solidFill>
                  <a:srgbClr val="68737D"/>
                </a:solidFill>
                <a:latin typeface="Helvetica Neue"/>
                <a:ea typeface="Helvetica Neue"/>
                <a:cs typeface="Helvetica Neue"/>
              </a:rPr>
              <a:t>Source: professor-model Steps 2–7B, saved specifications and evaluation artifacts.</a:t>
            </a:r>
          </a:p>
        </p:txBody>
      </p:sp>
      <p:sp>
        <p:nvSpPr>
          <p:cNvPr id="4" name="text-15">
            <a:extLst xmlns:a="http://schemas.openxmlformats.org/drawingml/2006/main">
              <a:ext uri="{FF2B5EF4-FFF2-40B4-BE49-F238E27FC236}">
                <a16:creationId xmlns:a16="http://schemas.microsoft.com/office/drawing/2014/main" id="{123A3E4C-4B51-4C07-814B-A38E41E3474D}"/>
              </a:ext>
            </a:extLst>
          </p:cNvPr>
          <p:cNvSpPr>
            <a:spLocks xmlns:a="http://schemas.openxmlformats.org/drawingml/2006/main" noGrp="1"/>
          </p:cNvSpPr>
          <p:nvPr/>
        </p:nvSpPr>
        <p:spPr>
          <a:xfrm xmlns:a="http://schemas.openxmlformats.org/drawingml/2006/main">
            <a:off x="11506200" y="6515100"/>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8737D"/>
                </a:solidFill>
                <a:latin typeface="Helvetica Neue"/>
                <a:ea typeface="Helvetica Neue"/>
                <a:cs typeface="Helvetica Neue"/>
              </a:defRPr>
            </a:defPPr>
          </a:lstStyle>
          <a:p xmlns:a="http://schemas.openxmlformats.org/drawingml/2006/main">
            <a:pPr algn="r">
              <a:defRPr sz="1050" b="0">
                <a:solidFill>
                  <a:srgbClr val="68737D"/>
                </a:solidFill>
                <a:latin typeface="Helvetica Neue"/>
                <a:ea typeface="Helvetica Neue"/>
                <a:cs typeface="Helvetica Neue"/>
              </a:defRPr>
            </a:pPr>
            <a:r>
              <a:rPr sz="1050" b="0">
                <a:solidFill>
                  <a:srgbClr val="68737D"/>
                </a:solidFill>
                <a:latin typeface="Helvetica Neue"/>
                <a:ea typeface="Helvetica Neue"/>
                <a:cs typeface="Helvetica Neue"/>
              </a:rPr>
              <a:t>02</a:t>
            </a:r>
          </a:p>
        </p:txBody>
      </p:sp>
      <p:sp>
        <p:nvSpPr>
          <p:cNvPr id="5" name="diagram-16">
            <a:extLst xmlns:a="http://schemas.openxmlformats.org/drawingml/2006/main">
              <a:ext uri="{FF2B5EF4-FFF2-40B4-BE49-F238E27FC236}">
                <a16:creationId xmlns:a16="http://schemas.microsoft.com/office/drawing/2014/main" id="{94C1ED90-1703-419E-A9B6-7E76D3517BF7}"/>
              </a:ext>
            </a:extLst>
          </p:cNvPr>
          <p:cNvSpPr>
            <a:spLocks xmlns:a="http://schemas.openxmlformats.org/drawingml/2006/main" noGrp="1"/>
          </p:cNvSpPr>
          <p:nvPr/>
        </p:nvSpPr>
        <p:spPr>
          <a:xfrm xmlns:a="http://schemas.openxmlformats.org/drawingml/2006/main">
            <a:off x="533400" y="1543050"/>
            <a:ext cx="2762250" cy="914400"/>
          </a:xfrm>
          <a:prstGeom xmlns:a="http://schemas.openxmlformats.org/drawingml/2006/main" prst="rect">
            <a:avLst/>
          </a:prstGeom>
          <a:solidFill xmlns:a="http://schemas.openxmlformats.org/drawingml/2006/main">
            <a:srgbClr val="F6F3F4"/>
          </a:solidFill>
          <a:ln xmlns:a="http://schemas.openxmlformats.org/drawingml/2006/main" w="12383">
            <a:solidFill>
              <a:srgbClr val="253746"/>
            </a:solidFill>
          </a:ln>
        </p:spPr>
        <p:txBody>
          <a:bodyPr xmlns:a="http://schemas.openxmlformats.org/drawingml/2006/main" lIns="95250" tIns="95250" rIns="95250" bIns="95250" anchor="ctr">
            <a:noAutofit/>
          </a:bodyPr>
          <a:lstStyle xmlns:a="http://schemas.openxmlformats.org/drawingml/2006/main">
            <a:defPPr algn="ctr">
              <a:defRPr sz="1800">
                <a:solidFill>
                  <a:srgbClr val="253746"/>
                </a:solidFill>
                <a:latin typeface="Helvetica Neue"/>
                <a:ea typeface="Helvetica Neue"/>
                <a:cs typeface="Helvetica Neue"/>
              </a:defRPr>
            </a:defPPr>
          </a:lstStyle>
          <a:p xmlns:a="http://schemas.openxmlformats.org/drawingml/2006/main">
            <a:pPr algn="ctr">
              <a:defRPr sz="1800">
                <a:solidFill>
                  <a:srgbClr val="253746"/>
                </a:solidFill>
                <a:latin typeface="Helvetica Neue"/>
                <a:ea typeface="Helvetica Neue"/>
                <a:cs typeface="Helvetica Neue"/>
              </a:defRPr>
            </a:pPr>
            <a:r>
              <a:rPr sz="1800">
                <a:solidFill>
                  <a:srgbClr val="253746"/>
                </a:solidFill>
                <a:latin typeface="Helvetica Neue"/>
                <a:ea typeface="Helvetica Neue"/>
                <a:cs typeface="Helvetica Neue"/>
              </a:rPr>
              <a:t>Synthetic applicants</a:t>
            </a:r>
          </a:p>
          <a:p xmlns:a="http://schemas.openxmlformats.org/drawingml/2006/main">
            <a:pPr algn="ctr">
              <a:defRPr sz="1800">
                <a:solidFill>
                  <a:srgbClr val="253746"/>
                </a:solidFill>
                <a:latin typeface="Helvetica Neue"/>
                <a:ea typeface="Helvetica Neue"/>
                <a:cs typeface="Helvetica Neue"/>
              </a:defRPr>
            </a:pPr>
            <a:r>
              <a:rPr sz="1800">
                <a:solidFill>
                  <a:srgbClr val="253746"/>
                </a:solidFill>
                <a:latin typeface="Helvetica Neue"/>
                <a:ea typeface="Helvetica Neue"/>
                <a:cs typeface="Helvetica Neue"/>
              </a:rPr>
              <a:t>Y, D, B, C</a:t>
            </a:r>
          </a:p>
        </p:txBody>
      </p:sp>
      <p:sp>
        <p:nvSpPr>
          <p:cNvPr id="6" name="diagram-17">
            <a:extLst xmlns:a="http://schemas.openxmlformats.org/drawingml/2006/main">
              <a:ext uri="{FF2B5EF4-FFF2-40B4-BE49-F238E27FC236}">
                <a16:creationId xmlns:a16="http://schemas.microsoft.com/office/drawing/2014/main" id="{FE40CF01-8EF2-4A66-A53B-B9DCDACA2C4C}"/>
              </a:ext>
            </a:extLst>
          </p:cNvPr>
          <p:cNvSpPr>
            <a:spLocks xmlns:a="http://schemas.openxmlformats.org/drawingml/2006/main" noGrp="1"/>
          </p:cNvSpPr>
          <p:nvPr/>
        </p:nvSpPr>
        <p:spPr>
          <a:xfrm xmlns:a="http://schemas.openxmlformats.org/drawingml/2006/main">
            <a:off x="4095750" y="1543050"/>
            <a:ext cx="2762250" cy="914400"/>
          </a:xfrm>
          <a:prstGeom xmlns:a="http://schemas.openxmlformats.org/drawingml/2006/main" prst="rect">
            <a:avLst/>
          </a:prstGeom>
          <a:solidFill xmlns:a="http://schemas.openxmlformats.org/drawingml/2006/main">
            <a:srgbClr val="F6F3F4"/>
          </a:solidFill>
          <a:ln xmlns:a="http://schemas.openxmlformats.org/drawingml/2006/main" w="12383">
            <a:solidFill>
              <a:srgbClr val="253746"/>
            </a:solidFill>
          </a:ln>
        </p:spPr>
        <p:txBody>
          <a:bodyPr xmlns:a="http://schemas.openxmlformats.org/drawingml/2006/main" lIns="95250" tIns="95250" rIns="95250" bIns="95250" anchor="ctr">
            <a:noAutofit/>
          </a:bodyPr>
          <a:lstStyle xmlns:a="http://schemas.openxmlformats.org/drawingml/2006/main">
            <a:defPPr algn="ctr">
              <a:defRPr sz="1800">
                <a:solidFill>
                  <a:srgbClr val="253746"/>
                </a:solidFill>
                <a:latin typeface="Helvetica Neue"/>
                <a:ea typeface="Helvetica Neue"/>
                <a:cs typeface="Helvetica Neue"/>
              </a:defRPr>
            </a:defPPr>
          </a:lstStyle>
          <a:p xmlns:a="http://schemas.openxmlformats.org/drawingml/2006/main">
            <a:pPr algn="ctr">
              <a:defRPr sz="1800">
                <a:solidFill>
                  <a:srgbClr val="253746"/>
                </a:solidFill>
                <a:latin typeface="Helvetica Neue"/>
                <a:ea typeface="Helvetica Neue"/>
                <a:cs typeface="Helvetica Neue"/>
              </a:defRPr>
            </a:pPr>
            <a:r>
              <a:rPr sz="1800">
                <a:solidFill>
                  <a:srgbClr val="253746"/>
                </a:solidFill>
                <a:latin typeface="Helvetica Neue"/>
                <a:ea typeface="Helvetica Neue"/>
                <a:cs typeface="Helvetica Neue"/>
              </a:rPr>
              <a:t>Hidden true risk</a:t>
            </a:r>
          </a:p>
          <a:p xmlns:a="http://schemas.openxmlformats.org/drawingml/2006/main">
            <a:pPr algn="ctr">
              <a:defRPr sz="1800">
                <a:solidFill>
                  <a:srgbClr val="253746"/>
                </a:solidFill>
                <a:latin typeface="Helvetica Neue"/>
                <a:ea typeface="Helvetica Neue"/>
                <a:cs typeface="Helvetica Neue"/>
              </a:defRPr>
            </a:pPr>
            <a:r>
              <a:rPr sz="1800">
                <a:solidFill>
                  <a:srgbClr val="253746"/>
                </a:solidFill>
                <a:latin typeface="Helvetica Neue"/>
                <a:ea typeface="Helvetica Neue"/>
                <a:cs typeface="Helvetica Neue"/>
              </a:rPr>
              <a:t>true_PD = f(Y, D, ε)</a:t>
            </a:r>
          </a:p>
        </p:txBody>
      </p:sp>
      <p:sp>
        <p:nvSpPr>
          <p:cNvPr id="7" name="diagram-18">
            <a:extLst xmlns:a="http://schemas.openxmlformats.org/drawingml/2006/main">
              <a:ext uri="{FF2B5EF4-FFF2-40B4-BE49-F238E27FC236}">
                <a16:creationId xmlns:a16="http://schemas.microsoft.com/office/drawing/2014/main" id="{CF9D53DA-4A40-4923-B8B6-C9B81FC14085}"/>
              </a:ext>
            </a:extLst>
          </p:cNvPr>
          <p:cNvSpPr>
            <a:spLocks xmlns:a="http://schemas.openxmlformats.org/drawingml/2006/main" noGrp="1"/>
          </p:cNvSpPr>
          <p:nvPr/>
        </p:nvSpPr>
        <p:spPr>
          <a:xfrm xmlns:a="http://schemas.openxmlformats.org/drawingml/2006/main">
            <a:off x="8229600" y="1543050"/>
            <a:ext cx="3429000" cy="914400"/>
          </a:xfrm>
          <a:prstGeom xmlns:a="http://schemas.openxmlformats.org/drawingml/2006/main" prst="rect">
            <a:avLst/>
          </a:prstGeom>
          <a:solidFill xmlns:a="http://schemas.openxmlformats.org/drawingml/2006/main">
            <a:srgbClr val="F6F3F4"/>
          </a:solidFill>
          <a:ln xmlns:a="http://schemas.openxmlformats.org/drawingml/2006/main" w="12383">
            <a:solidFill>
              <a:srgbClr val="861F41"/>
            </a:solidFill>
          </a:ln>
        </p:spPr>
        <p:txBody>
          <a:bodyPr xmlns:a="http://schemas.openxmlformats.org/drawingml/2006/main" lIns="95250" tIns="95250" rIns="95250" bIns="95250" anchor="ctr">
            <a:noAutofit/>
          </a:bodyPr>
          <a:lstStyle xmlns:a="http://schemas.openxmlformats.org/drawingml/2006/main">
            <a:defPPr algn="ctr">
              <a:defRPr sz="1650">
                <a:solidFill>
                  <a:srgbClr val="861F41"/>
                </a:solidFill>
                <a:latin typeface="Helvetica Neue"/>
                <a:ea typeface="Helvetica Neue"/>
                <a:cs typeface="Helvetica Neue"/>
              </a:defRPr>
            </a:defPPr>
          </a:lstStyle>
          <a:p xmlns:a="http://schemas.openxmlformats.org/drawingml/2006/main">
            <a:pPr algn="ctr">
              <a:defRPr sz="1650">
                <a:solidFill>
                  <a:srgbClr val="861F41"/>
                </a:solidFill>
                <a:latin typeface="Helvetica Neue"/>
                <a:ea typeface="Helvetica Neue"/>
                <a:cs typeface="Helvetica Neue"/>
              </a:defRPr>
            </a:pPr>
            <a:r>
              <a:rPr sz="1650">
                <a:solidFill>
                  <a:srgbClr val="861F41"/>
                </a:solidFill>
                <a:latin typeface="Helvetica Neue"/>
                <a:ea typeface="Helvetica Neue"/>
                <a:cs typeface="Helvetica Neue"/>
              </a:rPr>
              <a:t>Noisy measurement PN</a:t>
            </a:r>
          </a:p>
          <a:p xmlns:a="http://schemas.openxmlformats.org/drawingml/2006/main">
            <a:pPr algn="ctr">
              <a:defRPr sz="1650">
                <a:solidFill>
                  <a:srgbClr val="861F41"/>
                </a:solidFill>
                <a:latin typeface="Helvetica Neue"/>
                <a:ea typeface="Helvetica Neue"/>
                <a:cs typeface="Helvetica Neue"/>
              </a:defRPr>
            </a:pPr>
            <a:r>
              <a:rPr sz="1650">
                <a:solidFill>
                  <a:srgbClr val="861F41"/>
                </a:solidFill>
                <a:latin typeface="Helvetica Neue"/>
                <a:ea typeface="Helvetica Neue"/>
                <a:cs typeface="Helvetica Neue"/>
              </a:rPr>
              <a:t>PN = 0.8 true_PD + η</a:t>
            </a:r>
          </a:p>
          <a:p xmlns:a="http://schemas.openxmlformats.org/drawingml/2006/main">
            <a:pPr algn="ctr">
              <a:defRPr sz="1650">
                <a:solidFill>
                  <a:srgbClr val="861F41"/>
                </a:solidFill>
                <a:latin typeface="Helvetica Neue"/>
                <a:ea typeface="Helvetica Neue"/>
                <a:cs typeface="Helvetica Neue"/>
              </a:defRPr>
            </a:pPr>
            <a:r>
              <a:rPr sz="1650">
                <a:solidFill>
                  <a:srgbClr val="861F41"/>
                </a:solidFill>
                <a:latin typeface="Helvetica Neue"/>
                <a:ea typeface="Helvetica Neue"/>
                <a:cs typeface="Helvetica Neue"/>
              </a:rPr>
              <a:t>η ~ Normal(0, SD=0.1)</a:t>
            </a:r>
          </a:p>
        </p:txBody>
      </p:sp>
      <p:sp>
        <p:nvSpPr>
          <p:cNvPr id="10" name="diagram-19">
            <a:extLst xmlns:a="http://schemas.openxmlformats.org/drawingml/2006/main">
              <a:ext uri="{FF2B5EF4-FFF2-40B4-BE49-F238E27FC236}">
                <a16:creationId xmlns:a16="http://schemas.microsoft.com/office/drawing/2014/main" id="{5B3609A2-9A14-4970-9201-7C303FD2704B}"/>
              </a:ext>
            </a:extLst>
          </p:cNvPr>
          <p:cNvSpPr>
            <a:spLocks xmlns:a="http://schemas.openxmlformats.org/drawingml/2006/main" noGrp="1"/>
          </p:cNvSpPr>
          <p:nvPr/>
        </p:nvSpPr>
        <p:spPr>
          <a:xfrm xmlns:a="http://schemas.openxmlformats.org/drawingml/2006/main">
            <a:off x="5953125" y="3248025"/>
            <a:ext cx="2714625" cy="866775"/>
          </a:xfrm>
          <a:prstGeom xmlns:a="http://schemas.openxmlformats.org/drawingml/2006/main" prst="rect">
            <a:avLst/>
          </a:prstGeom>
          <a:solidFill xmlns:a="http://schemas.openxmlformats.org/drawingml/2006/main">
            <a:srgbClr val="F6F3F4"/>
          </a:solidFill>
          <a:ln xmlns:a="http://schemas.openxmlformats.org/drawingml/2006/main" w="12383">
            <a:solidFill>
              <a:srgbClr val="861F41"/>
            </a:solidFill>
          </a:ln>
        </p:spPr>
        <p:txBody>
          <a:bodyPr xmlns:a="http://schemas.openxmlformats.org/drawingml/2006/main" lIns="95250" tIns="95250" rIns="95250" bIns="95250" anchor="ctr">
            <a:noAutofit/>
          </a:bodyPr>
          <a:lstStyle xmlns:a="http://schemas.openxmlformats.org/drawingml/2006/main">
            <a:defPPr algn="ctr">
              <a:defRPr sz="1800">
                <a:solidFill>
                  <a:srgbClr val="861F41"/>
                </a:solidFill>
                <a:latin typeface="Helvetica Neue"/>
                <a:ea typeface="Helvetica Neue"/>
                <a:cs typeface="Helvetica Neue"/>
              </a:defRPr>
            </a:defPPr>
          </a:lstStyle>
          <a:p xmlns:a="http://schemas.openxmlformats.org/drawingml/2006/main">
            <a:pPr algn="ctr">
              <a:defRPr sz="1800">
                <a:solidFill>
                  <a:srgbClr val="861F41"/>
                </a:solidFill>
                <a:latin typeface="Helvetica Neue"/>
                <a:ea typeface="Helvetica Neue"/>
                <a:cs typeface="Helvetica Neue"/>
              </a:defRPr>
            </a:pPr>
            <a:r>
              <a:rPr sz="1800">
                <a:solidFill>
                  <a:srgbClr val="861F41"/>
                </a:solidFill>
                <a:latin typeface="Helvetica Neue"/>
                <a:ea typeface="Helvetica Neue"/>
                <a:cs typeface="Helvetica Neue"/>
              </a:rPr>
              <a:t>Group-aware OLS</a:t>
            </a:r>
          </a:p>
          <a:p xmlns:a="http://schemas.openxmlformats.org/drawingml/2006/main">
            <a:pPr algn="ctr">
              <a:defRPr sz="1800">
                <a:solidFill>
                  <a:srgbClr val="861F41"/>
                </a:solidFill>
                <a:latin typeface="Helvetica Neue"/>
                <a:ea typeface="Helvetica Neue"/>
                <a:cs typeface="Helvetica Neue"/>
              </a:defRPr>
            </a:pPr>
            <a:r>
              <a:rPr sz="1800">
                <a:solidFill>
                  <a:srgbClr val="861F41"/>
                </a:solidFill>
                <a:latin typeface="Helvetica Neue"/>
                <a:ea typeface="Helvetica Neue"/>
                <a:cs typeface="Helvetica Neue"/>
              </a:rPr>
              <a:t>X = [Y, D, C, B]</a:t>
            </a:r>
          </a:p>
        </p:txBody>
      </p:sp>
      <p:sp>
        <p:nvSpPr>
          <p:cNvPr id="11" name="diagram-20">
            <a:extLst xmlns:a="http://schemas.openxmlformats.org/drawingml/2006/main">
              <a:ext uri="{FF2B5EF4-FFF2-40B4-BE49-F238E27FC236}">
                <a16:creationId xmlns:a16="http://schemas.microsoft.com/office/drawing/2014/main" id="{57C47EC8-7D02-4955-BB26-D78C34333AD4}"/>
              </a:ext>
            </a:extLst>
          </p:cNvPr>
          <p:cNvSpPr>
            <a:spLocks xmlns:a="http://schemas.openxmlformats.org/drawingml/2006/main" noGrp="1"/>
          </p:cNvSpPr>
          <p:nvPr/>
        </p:nvSpPr>
        <p:spPr>
          <a:xfrm xmlns:a="http://schemas.openxmlformats.org/drawingml/2006/main">
            <a:off x="8943975" y="3248025"/>
            <a:ext cx="2714625" cy="866775"/>
          </a:xfrm>
          <a:prstGeom xmlns:a="http://schemas.openxmlformats.org/drawingml/2006/main" prst="rect">
            <a:avLst/>
          </a:prstGeom>
          <a:solidFill xmlns:a="http://schemas.openxmlformats.org/drawingml/2006/main">
            <a:srgbClr val="F6F3F4"/>
          </a:solidFill>
          <a:ln xmlns:a="http://schemas.openxmlformats.org/drawingml/2006/main" w="12383">
            <a:solidFill>
              <a:srgbClr val="E5751F"/>
            </a:solidFill>
          </a:ln>
        </p:spPr>
        <p:txBody>
          <a:bodyPr xmlns:a="http://schemas.openxmlformats.org/drawingml/2006/main" lIns="95250" tIns="95250" rIns="95250" bIns="95250" anchor="ctr">
            <a:noAutofit/>
          </a:bodyPr>
          <a:lstStyle xmlns:a="http://schemas.openxmlformats.org/drawingml/2006/main">
            <a:defPPr algn="ctr">
              <a:defRPr sz="1800">
                <a:solidFill>
                  <a:srgbClr val="E5751F"/>
                </a:solidFill>
                <a:latin typeface="Helvetica Neue"/>
                <a:ea typeface="Helvetica Neue"/>
                <a:cs typeface="Helvetica Neue"/>
              </a:defRPr>
            </a:defPPr>
          </a:lstStyle>
          <a:p xmlns:a="http://schemas.openxmlformats.org/drawingml/2006/main">
            <a:pPr algn="ctr">
              <a:defRPr sz="1800">
                <a:solidFill>
                  <a:srgbClr val="E5751F"/>
                </a:solidFill>
                <a:latin typeface="Helvetica Neue"/>
                <a:ea typeface="Helvetica Neue"/>
                <a:cs typeface="Helvetica Neue"/>
              </a:defRPr>
            </a:pPr>
            <a:r>
              <a:rPr sz="1800">
                <a:solidFill>
                  <a:srgbClr val="E5751F"/>
                </a:solidFill>
                <a:latin typeface="Helvetica Neue"/>
                <a:ea typeface="Helvetica Neue"/>
                <a:cs typeface="Helvetica Neue"/>
              </a:rPr>
              <a:t>Group-blind OLS</a:t>
            </a:r>
          </a:p>
          <a:p xmlns:a="http://schemas.openxmlformats.org/drawingml/2006/main">
            <a:pPr algn="ctr">
              <a:defRPr sz="1800">
                <a:solidFill>
                  <a:srgbClr val="E5751F"/>
                </a:solidFill>
                <a:latin typeface="Helvetica Neue"/>
                <a:ea typeface="Helvetica Neue"/>
                <a:cs typeface="Helvetica Neue"/>
              </a:defRPr>
            </a:pPr>
            <a:r>
              <a:rPr sz="1800">
                <a:solidFill>
                  <a:srgbClr val="E5751F"/>
                </a:solidFill>
                <a:latin typeface="Helvetica Neue"/>
                <a:ea typeface="Helvetica Neue"/>
                <a:cs typeface="Helvetica Neue"/>
              </a:rPr>
              <a:t>X = [Y, D, C]</a:t>
            </a:r>
          </a:p>
        </p:txBody>
      </p:sp>
      <p:sp>
        <p:nvSpPr>
          <p:cNvPr id="14" name="text-21">
            <a:extLst xmlns:a="http://schemas.openxmlformats.org/drawingml/2006/main">
              <a:ext uri="{FF2B5EF4-FFF2-40B4-BE49-F238E27FC236}">
                <a16:creationId xmlns:a16="http://schemas.microsoft.com/office/drawing/2014/main" id="{3DE33BD4-422F-4606-A047-BCBD6A988C69}"/>
              </a:ext>
            </a:extLst>
          </p:cNvPr>
          <p:cNvSpPr>
            <a:spLocks xmlns:a="http://schemas.openxmlformats.org/drawingml/2006/main" noGrp="1"/>
          </p:cNvSpPr>
          <p:nvPr/>
        </p:nvSpPr>
        <p:spPr>
          <a:xfrm xmlns:a="http://schemas.openxmlformats.org/drawingml/2006/main">
            <a:off x="533400" y="3286125"/>
            <a:ext cx="4905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53746"/>
                </a:solidFill>
                <a:latin typeface="Helvetica Neue"/>
                <a:ea typeface="Helvetica Neue"/>
                <a:cs typeface="Helvetica Neue"/>
              </a:defRPr>
            </a:defPPr>
          </a:lstStyle>
          <a:p xmlns:a="http://schemas.openxmlformats.org/drawingml/2006/main">
            <a:pPr algn="l">
              <a:defRPr sz="1875" b="0">
                <a:solidFill>
                  <a:srgbClr val="253746"/>
                </a:solidFill>
                <a:latin typeface="Helvetica Neue"/>
                <a:ea typeface="Helvetica Neue"/>
                <a:cs typeface="Helvetica Neue"/>
              </a:defRPr>
            </a:pPr>
            <a:r>
              <a:rPr sz="1875" b="0">
                <a:solidFill>
                  <a:srgbClr val="253746"/>
                </a:solidFill>
                <a:latin typeface="Helvetica Neue"/>
                <a:ea typeface="Helvetica Neue"/>
                <a:cs typeface="Helvetica Neue"/>
              </a:rPr>
              <a:t>bank_PD_raw = β̂₀ + β̂′X</a:t>
            </a:r>
          </a:p>
          <a:p xmlns:a="http://schemas.openxmlformats.org/drawingml/2006/main">
            <a:pPr algn="l">
              <a:defRPr sz="1875" b="0">
                <a:solidFill>
                  <a:srgbClr val="253746"/>
                </a:solidFill>
                <a:latin typeface="Helvetica Neue"/>
                <a:ea typeface="Helvetica Neue"/>
                <a:cs typeface="Helvetica Neue"/>
              </a:defRPr>
            </a:pPr>
            <a:r>
              <a:rPr sz="1875" b="0">
                <a:solidFill>
                  <a:srgbClr val="253746"/>
                </a:solidFill>
                <a:latin typeface="Helvetica Neue"/>
                <a:ea typeface="Helvetica Neue"/>
                <a:cs typeface="Helvetica Neue"/>
              </a:rPr>
              <a:t>The bank does not observe true_PD or ε.</a:t>
            </a:r>
          </a:p>
        </p:txBody>
      </p:sp>
      <p:sp>
        <p:nvSpPr>
          <p:cNvPr id="15" name="text-22">
            <a:extLst xmlns:a="http://schemas.openxmlformats.org/drawingml/2006/main">
              <a:ext uri="{FF2B5EF4-FFF2-40B4-BE49-F238E27FC236}">
                <a16:creationId xmlns:a16="http://schemas.microsoft.com/office/drawing/2014/main" id="{6ED8D059-3B73-4753-8E0B-2D3165B2A3A1}"/>
              </a:ext>
            </a:extLst>
          </p:cNvPr>
          <p:cNvSpPr>
            <a:spLocks xmlns:a="http://schemas.openxmlformats.org/drawingml/2006/main" noGrp="1"/>
          </p:cNvSpPr>
          <p:nvPr/>
        </p:nvSpPr>
        <p:spPr>
          <a:xfrm xmlns:a="http://schemas.openxmlformats.org/drawingml/2006/main">
            <a:off x="533400" y="4162425"/>
            <a:ext cx="714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8737D"/>
                </a:solidFill>
                <a:latin typeface="Helvetica Neue"/>
                <a:ea typeface="Helvetica Neue"/>
                <a:cs typeface="Helvetica Neue"/>
              </a:defRPr>
            </a:defPPr>
          </a:lstStyle>
          <a:p xmlns:a="http://schemas.openxmlformats.org/drawingml/2006/main">
            <a:pPr algn="l">
              <a:defRPr sz="1575" b="0">
                <a:solidFill>
                  <a:srgbClr val="68737D"/>
                </a:solidFill>
                <a:latin typeface="Helvetica Neue"/>
                <a:ea typeface="Helvetica Neue"/>
                <a:cs typeface="Helvetica Neue"/>
              </a:defRPr>
            </a:pPr>
            <a:r>
              <a:rPr sz="1575" b="0">
                <a:solidFill>
                  <a:srgbClr val="68737D"/>
                </a:solidFill>
                <a:latin typeface="Helvetica Neue"/>
                <a:ea typeface="Helvetica Neue"/>
                <a:cs typeface="Helvetica Neue"/>
              </a:rPr>
              <a:t>Working contract: T=30, θ=0.10, r=5% per period</a:t>
            </a:r>
          </a:p>
          <a:p xmlns:a="http://schemas.openxmlformats.org/drawingml/2006/main">
            <a:pPr algn="l">
              <a:defRPr sz="1575" b="0">
                <a:solidFill>
                  <a:srgbClr val="68737D"/>
                </a:solidFill>
                <a:latin typeface="Helvetica Neue"/>
                <a:ea typeface="Helvetica Neue"/>
                <a:cs typeface="Helvetica Neue"/>
              </a:defRPr>
            </a:pPr>
            <a:r>
              <a:rPr sz="1575" b="0">
                <a:solidFill>
                  <a:srgbClr val="68737D"/>
                </a:solidFill>
                <a:latin typeface="Helvetica Neue"/>
                <a:ea typeface="Helvetica Neue"/>
                <a:cs typeface="Helvetica Neue"/>
              </a:rPr>
              <a:t>L=30θY. Fixed capital A=$1.826B.</a:t>
            </a:r>
          </a:p>
        </p:txBody>
      </p:sp>
      <p:sp>
        <p:nvSpPr>
          <p:cNvPr id="16" name="diagram-23">
            <a:extLst xmlns:a="http://schemas.openxmlformats.org/drawingml/2006/main">
              <a:ext uri="{FF2B5EF4-FFF2-40B4-BE49-F238E27FC236}">
                <a16:creationId xmlns:a16="http://schemas.microsoft.com/office/drawing/2014/main" id="{4D3DD13A-2DAB-406B-A3A6-8271AB62FAC6}"/>
              </a:ext>
            </a:extLst>
          </p:cNvPr>
          <p:cNvSpPr>
            <a:spLocks xmlns:a="http://schemas.openxmlformats.org/drawingml/2006/main" noGrp="1"/>
          </p:cNvSpPr>
          <p:nvPr/>
        </p:nvSpPr>
        <p:spPr>
          <a:xfrm xmlns:a="http://schemas.openxmlformats.org/drawingml/2006/main">
            <a:off x="8229600" y="4676775"/>
            <a:ext cx="3429000" cy="876300"/>
          </a:xfrm>
          <a:prstGeom xmlns:a="http://schemas.openxmlformats.org/drawingml/2006/main" prst="rect">
            <a:avLst/>
          </a:prstGeom>
          <a:solidFill xmlns:a="http://schemas.openxmlformats.org/drawingml/2006/main">
            <a:srgbClr val="F6F3F4"/>
          </a:solidFill>
          <a:ln xmlns:a="http://schemas.openxmlformats.org/drawingml/2006/main" w="12383">
            <a:solidFill>
              <a:srgbClr val="253746"/>
            </a:solidFill>
          </a:ln>
        </p:spPr>
        <p:txBody>
          <a:bodyPr xmlns:a="http://schemas.openxmlformats.org/drawingml/2006/main" lIns="95250" tIns="95250" rIns="95250" bIns="95250" anchor="ctr">
            <a:noAutofit/>
          </a:bodyPr>
          <a:lstStyle xmlns:a="http://schemas.openxmlformats.org/drawingml/2006/main">
            <a:defPPr algn="ctr">
              <a:defRPr sz="1800">
                <a:solidFill>
                  <a:srgbClr val="253746"/>
                </a:solidFill>
                <a:latin typeface="Helvetica Neue"/>
                <a:ea typeface="Helvetica Neue"/>
                <a:cs typeface="Helvetica Neue"/>
              </a:defRPr>
            </a:defPPr>
          </a:lstStyle>
          <a:p xmlns:a="http://schemas.openxmlformats.org/drawingml/2006/main">
            <a:pPr algn="ctr">
              <a:defRPr sz="1800">
                <a:solidFill>
                  <a:srgbClr val="253746"/>
                </a:solidFill>
                <a:latin typeface="Helvetica Neue"/>
                <a:ea typeface="Helvetica Neue"/>
                <a:cs typeface="Helvetica Neue"/>
              </a:defRPr>
            </a:pPr>
            <a:r>
              <a:rPr sz="1800">
                <a:solidFill>
                  <a:srgbClr val="253746"/>
                </a:solidFill>
                <a:latin typeface="Helvetica Neue"/>
                <a:ea typeface="Helvetica Neue"/>
                <a:cs typeface="Helvetica Neue"/>
              </a:rPr>
              <a:t>Estimated default risk</a:t>
            </a:r>
          </a:p>
          <a:p xmlns:a="http://schemas.openxmlformats.org/drawingml/2006/main">
            <a:pPr algn="ctr">
              <a:defRPr sz="1800">
                <a:solidFill>
                  <a:srgbClr val="253746"/>
                </a:solidFill>
                <a:latin typeface="Helvetica Neue"/>
                <a:ea typeface="Helvetica Neue"/>
                <a:cs typeface="Helvetica Neue"/>
              </a:defRPr>
            </a:pPr>
            <a:r>
              <a:rPr sz="1800">
                <a:solidFill>
                  <a:srgbClr val="253746"/>
                </a:solidFill>
                <a:latin typeface="Helvetica Neue"/>
                <a:ea typeface="Helvetica Neue"/>
                <a:cs typeface="Helvetica Neue"/>
              </a:rPr>
              <a:t>p̂ = clip(raw, 0, 1)</a:t>
            </a:r>
          </a:p>
        </p:txBody>
      </p:sp>
      <p:sp>
        <p:nvSpPr>
          <p:cNvPr id="19" name="diagram-24">
            <a:extLst xmlns:a="http://schemas.openxmlformats.org/drawingml/2006/main">
              <a:ext uri="{FF2B5EF4-FFF2-40B4-BE49-F238E27FC236}">
                <a16:creationId xmlns:a16="http://schemas.microsoft.com/office/drawing/2014/main" id="{D77BAD5A-60FD-4B26-8904-0DB76FC21F5F}"/>
              </a:ext>
            </a:extLst>
          </p:cNvPr>
          <p:cNvSpPr>
            <a:spLocks xmlns:a="http://schemas.openxmlformats.org/drawingml/2006/main" noGrp="1"/>
          </p:cNvSpPr>
          <p:nvPr/>
        </p:nvSpPr>
        <p:spPr>
          <a:xfrm xmlns:a="http://schemas.openxmlformats.org/drawingml/2006/main">
            <a:off x="4095750" y="4676775"/>
            <a:ext cx="3238500" cy="876300"/>
          </a:xfrm>
          <a:prstGeom xmlns:a="http://schemas.openxmlformats.org/drawingml/2006/main" prst="rect">
            <a:avLst/>
          </a:prstGeom>
          <a:solidFill xmlns:a="http://schemas.openxmlformats.org/drawingml/2006/main">
            <a:srgbClr val="F6F3F4"/>
          </a:solidFill>
          <a:ln xmlns:a="http://schemas.openxmlformats.org/drawingml/2006/main" w="12383">
            <a:solidFill>
              <a:srgbClr val="253746"/>
            </a:solidFill>
          </a:ln>
        </p:spPr>
        <p:txBody>
          <a:bodyPr xmlns:a="http://schemas.openxmlformats.org/drawingml/2006/main" lIns="95250" tIns="95250" rIns="95250" bIns="95250" anchor="ctr">
            <a:noAutofit/>
          </a:bodyPr>
          <a:lstStyle xmlns:a="http://schemas.openxmlformats.org/drawingml/2006/main">
            <a:defPPr algn="ctr">
              <a:defRPr sz="1725">
                <a:solidFill>
                  <a:srgbClr val="253746"/>
                </a:solidFill>
                <a:latin typeface="Helvetica Neue"/>
                <a:ea typeface="Helvetica Neue"/>
                <a:cs typeface="Helvetica Neue"/>
              </a:defRPr>
            </a:defPPr>
          </a:lstStyle>
          <a:p xmlns:a="http://schemas.openxmlformats.org/drawingml/2006/main">
            <a:pPr algn="ctr">
              <a:defRPr sz="1725">
                <a:solidFill>
                  <a:srgbClr val="253746"/>
                </a:solidFill>
                <a:latin typeface="Helvetica Neue"/>
                <a:ea typeface="Helvetica Neue"/>
                <a:cs typeface="Helvetica Neue"/>
              </a:defRPr>
            </a:pPr>
            <a:r>
              <a:rPr sz="1725">
                <a:solidFill>
                  <a:srgbClr val="253746"/>
                </a:solidFill>
                <a:latin typeface="Helvetica Neue"/>
                <a:ea typeface="Helvetica Neue"/>
                <a:cs typeface="Helvetica Neue"/>
              </a:rPr>
              <a:t>Expected loan profit</a:t>
            </a:r>
          </a:p>
          <a:p xmlns:a="http://schemas.openxmlformats.org/drawingml/2006/main">
            <a:pPr algn="ctr">
              <a:defRPr sz="1725">
                <a:solidFill>
                  <a:srgbClr val="253746"/>
                </a:solidFill>
                <a:latin typeface="Helvetica Neue"/>
                <a:ea typeface="Helvetica Neue"/>
                <a:cs typeface="Helvetica Neue"/>
              </a:defRPr>
            </a:pPr>
            <a:r>
              <a:rPr sz="1725">
                <a:solidFill>
                  <a:srgbClr val="253746"/>
                </a:solidFill>
                <a:latin typeface="Helvetica Neue"/>
                <a:ea typeface="Helvetica Neue"/>
                <a:cs typeface="Helvetica Neue"/>
              </a:rPr>
              <a:t>Σ paymentₜ (1−p̂)ᵗ − L</a:t>
            </a:r>
          </a:p>
        </p:txBody>
      </p:sp>
      <p:sp>
        <p:nvSpPr>
          <p:cNvPr id="20" name="diagram-25">
            <a:extLst xmlns:a="http://schemas.openxmlformats.org/drawingml/2006/main">
              <a:ext uri="{FF2B5EF4-FFF2-40B4-BE49-F238E27FC236}">
                <a16:creationId xmlns:a16="http://schemas.microsoft.com/office/drawing/2014/main" id="{99BC116E-C09F-4588-B065-558559ECA59E}"/>
              </a:ext>
            </a:extLst>
          </p:cNvPr>
          <p:cNvSpPr>
            <a:spLocks xmlns:a="http://schemas.openxmlformats.org/drawingml/2006/main" noGrp="1"/>
          </p:cNvSpPr>
          <p:nvPr/>
        </p:nvSpPr>
        <p:spPr>
          <a:xfrm xmlns:a="http://schemas.openxmlformats.org/drawingml/2006/main">
            <a:off x="533400" y="4676775"/>
            <a:ext cx="2714625" cy="876300"/>
          </a:xfrm>
          <a:prstGeom xmlns:a="http://schemas.openxmlformats.org/drawingml/2006/main" prst="rect">
            <a:avLst/>
          </a:prstGeom>
          <a:solidFill xmlns:a="http://schemas.openxmlformats.org/drawingml/2006/main">
            <a:srgbClr val="F6F3F4"/>
          </a:solidFill>
          <a:ln xmlns:a="http://schemas.openxmlformats.org/drawingml/2006/main" w="12383">
            <a:solidFill>
              <a:srgbClr val="253746"/>
            </a:solidFill>
          </a:ln>
        </p:spPr>
        <p:txBody>
          <a:bodyPr xmlns:a="http://schemas.openxmlformats.org/drawingml/2006/main" lIns="95250" tIns="95250" rIns="95250" bIns="95250" anchor="ctr">
            <a:noAutofit/>
          </a:bodyPr>
          <a:lstStyle xmlns:a="http://schemas.openxmlformats.org/drawingml/2006/main">
            <a:defPPr algn="ctr">
              <a:defRPr sz="1725">
                <a:solidFill>
                  <a:srgbClr val="253746"/>
                </a:solidFill>
                <a:latin typeface="Helvetica Neue"/>
                <a:ea typeface="Helvetica Neue"/>
                <a:cs typeface="Helvetica Neue"/>
              </a:defRPr>
            </a:defPPr>
          </a:lstStyle>
          <a:p xmlns:a="http://schemas.openxmlformats.org/drawingml/2006/main">
            <a:pPr algn="ctr">
              <a:defRPr sz="1725">
                <a:solidFill>
                  <a:srgbClr val="253746"/>
                </a:solidFill>
                <a:latin typeface="Helvetica Neue"/>
                <a:ea typeface="Helvetica Neue"/>
                <a:cs typeface="Helvetica Neue"/>
              </a:defRPr>
            </a:pPr>
            <a:r>
              <a:rPr sz="1725">
                <a:solidFill>
                  <a:srgbClr val="253746"/>
                </a:solidFill>
                <a:latin typeface="Helvetica Neue"/>
                <a:ea typeface="Helvetica Neue"/>
                <a:cs typeface="Helvetica Neue"/>
              </a:rPr>
              <a:t>Capital-constrained</a:t>
            </a:r>
          </a:p>
          <a:p xmlns:a="http://schemas.openxmlformats.org/drawingml/2006/main">
            <a:pPr algn="ctr">
              <a:defRPr sz="1725">
                <a:solidFill>
                  <a:srgbClr val="253746"/>
                </a:solidFill>
                <a:latin typeface="Helvetica Neue"/>
                <a:ea typeface="Helvetica Neue"/>
                <a:cs typeface="Helvetica Neue"/>
              </a:defRPr>
            </a:pPr>
            <a:r>
              <a:rPr sz="1725">
                <a:solidFill>
                  <a:srgbClr val="253746"/>
                </a:solidFill>
                <a:latin typeface="Helvetica Neue"/>
                <a:ea typeface="Helvetica Neue"/>
                <a:cs typeface="Helvetica Neue"/>
              </a:rPr>
              <a:t>common lending cutoff</a:t>
            </a:r>
          </a:p>
        </p:txBody>
      </p:sp>
      <p:sp>
        <p:nvSpPr>
          <p:cNvPr id="23" name="diagram-26">
            <a:extLst xmlns:a="http://schemas.openxmlformats.org/drawingml/2006/main">
              <a:ext uri="{FF2B5EF4-FFF2-40B4-BE49-F238E27FC236}">
                <a16:creationId xmlns:a16="http://schemas.microsoft.com/office/drawing/2014/main" id="{6AD7FF0B-5533-43F2-AC0D-7487CA7A115B}"/>
              </a:ext>
            </a:extLst>
          </p:cNvPr>
          <p:cNvSpPr>
            <a:spLocks xmlns:a="http://schemas.openxmlformats.org/drawingml/2006/main" noGrp="1"/>
          </p:cNvSpPr>
          <p:nvPr/>
        </p:nvSpPr>
        <p:spPr>
          <a:xfrm xmlns:a="http://schemas.openxmlformats.org/drawingml/2006/main">
            <a:off x="533400" y="5876925"/>
            <a:ext cx="11125200" cy="466725"/>
          </a:xfrm>
          <a:prstGeom xmlns:a="http://schemas.openxmlformats.org/drawingml/2006/main" prst="rect">
            <a:avLst/>
          </a:prstGeom>
          <a:solidFill xmlns:a="http://schemas.openxmlformats.org/drawingml/2006/main">
            <a:srgbClr val="F6F3F4"/>
          </a:solidFill>
          <a:ln xmlns:a="http://schemas.openxmlformats.org/drawingml/2006/main" w="12383">
            <a:solidFill>
              <a:srgbClr val="861F41"/>
            </a:solidFill>
          </a:ln>
        </p:spPr>
        <p:txBody>
          <a:bodyPr xmlns:a="http://schemas.openxmlformats.org/drawingml/2006/main" lIns="95250" tIns="95250" rIns="95250" bIns="95250" anchor="ctr">
            <a:noAutofit/>
          </a:bodyPr>
          <a:lstStyle xmlns:a="http://schemas.openxmlformats.org/drawingml/2006/main">
            <a:defPPr algn="ctr">
              <a:defRPr sz="1800">
                <a:solidFill>
                  <a:srgbClr val="861F41"/>
                </a:solidFill>
                <a:latin typeface="Helvetica Neue"/>
                <a:ea typeface="Helvetica Neue"/>
                <a:cs typeface="Helvetica Neue"/>
              </a:defRPr>
            </a:defPPr>
          </a:lstStyle>
          <a:p xmlns:a="http://schemas.openxmlformats.org/drawingml/2006/main">
            <a:pPr algn="ctr">
              <a:defRPr sz="1800">
                <a:solidFill>
                  <a:srgbClr val="861F41"/>
                </a:solidFill>
                <a:latin typeface="Helvetica Neue"/>
                <a:ea typeface="Helvetica Neue"/>
                <a:cs typeface="Helvetica Neue"/>
              </a:defRPr>
            </a:pPr>
            <a:r>
              <a:rPr sz="1800">
                <a:solidFill>
                  <a:srgbClr val="861F41"/>
                </a:solidFill>
                <a:latin typeface="Helvetica Neue"/>
                <a:ea typeface="Helvetica Neue"/>
                <a:cs typeface="Helvetica Neue"/>
              </a:rPr>
              <a:t>Approval decisions, group outcomes, and evaluator-only true expected profit</a:t>
            </a:r>
          </a:p>
        </p:txBody>
      </p:sp>
    </p:spTree>
    <p:extLst>
      <p:ext uri="{BB962C8B-B14F-4D97-AF65-F5344CB8AC3E}">
        <p14:creationId xmlns:p14="http://schemas.microsoft.com/office/powerpoint/2010/main" val="13664595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27">
            <a:extLst xmlns:a="http://schemas.openxmlformats.org/drawingml/2006/main">
              <a:ext uri="{FF2B5EF4-FFF2-40B4-BE49-F238E27FC236}">
                <a16:creationId xmlns:a16="http://schemas.microsoft.com/office/drawing/2014/main" id="{C95C5CCB-DABE-4B57-96E9-0C1BB596D1DE}"/>
              </a:ext>
            </a:extLst>
          </p:cNvPr>
          <p:cNvSpPr>
            <a:spLocks xmlns:a="http://schemas.openxmlformats.org/drawingml/2006/main" noGrp="1"/>
          </p:cNvSpPr>
          <p:nvPr/>
        </p:nvSpPr>
        <p:spPr>
          <a:xfrm xmlns:a="http://schemas.openxmlformats.org/drawingml/2006/main">
            <a:off x="533400" y="371475"/>
            <a:ext cx="1114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861F41"/>
                </a:solidFill>
                <a:latin typeface="Helvetica Neue"/>
                <a:ea typeface="Helvetica Neue"/>
                <a:cs typeface="Helvetica Neue"/>
              </a:defRPr>
            </a:defPPr>
          </a:lstStyle>
          <a:p xmlns:a="http://schemas.openxmlformats.org/drawingml/2006/main">
            <a:pPr algn="l">
              <a:defRPr sz="3150" b="1">
                <a:solidFill>
                  <a:srgbClr val="861F41"/>
                </a:solidFill>
                <a:latin typeface="Helvetica Neue"/>
                <a:ea typeface="Helvetica Neue"/>
                <a:cs typeface="Helvetica Neue"/>
              </a:defRPr>
            </a:pPr>
            <a:r>
              <a:rPr sz="3150" b="1">
                <a:solidFill>
                  <a:srgbClr val="861F41"/>
                </a:solidFill>
                <a:latin typeface="Helvetica Neue"/>
                <a:ea typeface="Helvetica Neue"/>
                <a:cs typeface="Helvetica Neue"/>
              </a:rPr>
              <a:t>How We Simulated the Lending Data</a:t>
            </a:r>
          </a:p>
        </p:txBody>
      </p:sp>
      <p:sp>
        <p:nvSpPr>
          <p:cNvPr id="2" name="">
            <a:extLst xmlns:a="http://schemas.openxmlformats.org/drawingml/2006/main">
              <a:ext uri="{FF2B5EF4-FFF2-40B4-BE49-F238E27FC236}">
                <a16:creationId xmlns:a16="http://schemas.microsoft.com/office/drawing/2014/main" id="{56CB1CBF-0A90-4D50-9060-7D413FD6F957}"/>
              </a:ext>
            </a:extLst>
          </p:cNvPr>
          <p:cNvSpPr>
            <a:spLocks xmlns:a="http://schemas.openxmlformats.org/drawingml/2006/main" noGrp="1"/>
          </p:cNvSpPr>
          <p:nvPr/>
        </p:nvSpPr>
        <p:spPr>
          <a:xfrm xmlns:a="http://schemas.openxmlformats.org/drawingml/2006/main">
            <a:off x="533400" y="1057275"/>
            <a:ext cx="11125200" cy="0"/>
          </a:xfrm>
          <a:prstGeom xmlns:a="http://schemas.openxmlformats.org/drawingml/2006/main" prst="line">
            <a:avLst/>
          </a:prstGeom>
          <a:noFill xmlns:a="http://schemas.openxmlformats.org/drawingml/2006/main"/>
          <a:ln xmlns:a="http://schemas.openxmlformats.org/drawingml/2006/main" w="9525">
            <a:solidFill>
              <a:srgbClr val="D7DBDF"/>
            </a:solidFill>
          </a:ln>
        </p:spPr>
      </p:sp>
      <p:sp>
        <p:nvSpPr>
          <p:cNvPr id="3" name="text-28">
            <a:extLst xmlns:a="http://schemas.openxmlformats.org/drawingml/2006/main">
              <a:ext uri="{FF2B5EF4-FFF2-40B4-BE49-F238E27FC236}">
                <a16:creationId xmlns:a16="http://schemas.microsoft.com/office/drawing/2014/main" id="{4247C41B-0DBD-45A1-BE7E-92A0A73387F0}"/>
              </a:ext>
            </a:extLst>
          </p:cNvPr>
          <p:cNvSpPr>
            <a:spLocks xmlns:a="http://schemas.openxmlformats.org/drawingml/2006/main" noGrp="1"/>
          </p:cNvSpPr>
          <p:nvPr/>
        </p:nvSpPr>
        <p:spPr>
          <a:xfrm xmlns:a="http://schemas.openxmlformats.org/drawingml/2006/main">
            <a:off x="533400" y="65151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68737D"/>
                </a:solidFill>
                <a:latin typeface="Helvetica Neue"/>
                <a:ea typeface="Helvetica Neue"/>
                <a:cs typeface="Helvetica Neue"/>
              </a:defRPr>
            </a:defPPr>
          </a:lstStyle>
          <a:p xmlns:a="http://schemas.openxmlformats.org/drawingml/2006/main">
            <a:pPr algn="l">
              <a:defRPr sz="1013" b="0">
                <a:solidFill>
                  <a:srgbClr val="68737D"/>
                </a:solidFill>
                <a:latin typeface="Helvetica Neue"/>
                <a:ea typeface="Helvetica Neue"/>
                <a:cs typeface="Helvetica Neue"/>
              </a:defRPr>
            </a:pPr>
            <a:r>
              <a:rPr sz="1013" b="0">
                <a:solidFill>
                  <a:srgbClr val="68737D"/>
                </a:solidFill>
                <a:latin typeface="Helvetica Neue"/>
                <a:ea typeface="Helvetica Neue"/>
                <a:cs typeface="Helvetica Neue"/>
              </a:rPr>
              <a:t>Source: baseline bank-view, simulation_truth.csv, training_signals.csv. Researcher-defined synthetic distributions.</a:t>
            </a:r>
          </a:p>
        </p:txBody>
      </p:sp>
      <p:sp>
        <p:nvSpPr>
          <p:cNvPr id="4" name="text-29">
            <a:extLst xmlns:a="http://schemas.openxmlformats.org/drawingml/2006/main">
              <a:ext uri="{FF2B5EF4-FFF2-40B4-BE49-F238E27FC236}">
                <a16:creationId xmlns:a16="http://schemas.microsoft.com/office/drawing/2014/main" id="{526B2817-AFF8-4D5B-B713-60CB45F9E9AD}"/>
              </a:ext>
            </a:extLst>
          </p:cNvPr>
          <p:cNvSpPr>
            <a:spLocks xmlns:a="http://schemas.openxmlformats.org/drawingml/2006/main" noGrp="1"/>
          </p:cNvSpPr>
          <p:nvPr/>
        </p:nvSpPr>
        <p:spPr>
          <a:xfrm xmlns:a="http://schemas.openxmlformats.org/drawingml/2006/main">
            <a:off x="11506200" y="6515100"/>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8737D"/>
                </a:solidFill>
                <a:latin typeface="Helvetica Neue"/>
                <a:ea typeface="Helvetica Neue"/>
                <a:cs typeface="Helvetica Neue"/>
              </a:defRPr>
            </a:defPPr>
          </a:lstStyle>
          <a:p xmlns:a="http://schemas.openxmlformats.org/drawingml/2006/main">
            <a:pPr algn="r">
              <a:defRPr sz="1050" b="0">
                <a:solidFill>
                  <a:srgbClr val="68737D"/>
                </a:solidFill>
                <a:latin typeface="Helvetica Neue"/>
                <a:ea typeface="Helvetica Neue"/>
                <a:cs typeface="Helvetica Neue"/>
              </a:defRPr>
            </a:pPr>
            <a:r>
              <a:rPr sz="1050" b="0">
                <a:solidFill>
                  <a:srgbClr val="68737D"/>
                </a:solidFill>
                <a:latin typeface="Helvetica Neue"/>
                <a:ea typeface="Helvetica Neue"/>
                <a:cs typeface="Helvetica Neue"/>
              </a:rPr>
              <a:t>03</a:t>
            </a:r>
          </a:p>
        </p:txBody>
      </p:sp>
      <p:sp>
        <p:nvSpPr>
          <p:cNvPr id="5" name="text-30">
            <a:extLst xmlns:a="http://schemas.openxmlformats.org/drawingml/2006/main">
              <a:ext uri="{FF2B5EF4-FFF2-40B4-BE49-F238E27FC236}">
                <a16:creationId xmlns:a16="http://schemas.microsoft.com/office/drawing/2014/main" id="{D726566C-B35F-4F2C-A66D-E9F7F06C9B67}"/>
              </a:ext>
            </a:extLst>
          </p:cNvPr>
          <p:cNvSpPr>
            <a:spLocks xmlns:a="http://schemas.openxmlformats.org/drawingml/2006/main" noGrp="1"/>
          </p:cNvSpPr>
          <p:nvPr/>
        </p:nvSpPr>
        <p:spPr>
          <a:xfrm xmlns:a="http://schemas.openxmlformats.org/drawingml/2006/main">
            <a:off x="533400" y="144780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861F41"/>
                </a:solidFill>
                <a:latin typeface="Helvetica Neue"/>
                <a:ea typeface="Helvetica Neue"/>
                <a:cs typeface="Helvetica Neue"/>
              </a:defRPr>
            </a:defPPr>
          </a:lstStyle>
          <a:p xmlns:a="http://schemas.openxmlformats.org/drawingml/2006/main">
            <a:pPr algn="l">
              <a:defRPr sz="2400" b="1">
                <a:solidFill>
                  <a:srgbClr val="861F41"/>
                </a:solidFill>
                <a:latin typeface="Helvetica Neue"/>
                <a:ea typeface="Helvetica Neue"/>
                <a:cs typeface="Helvetica Neue"/>
              </a:defRPr>
            </a:pPr>
            <a:r>
              <a:rPr sz="2400" b="1">
                <a:solidFill>
                  <a:srgbClr val="861F41"/>
                </a:solidFill>
                <a:latin typeface="Helvetica Neue"/>
                <a:ea typeface="Helvetica Neue"/>
                <a:cs typeface="Helvetica Neue"/>
              </a:rPr>
              <a:t>100,000 applicants</a:t>
            </a:r>
          </a:p>
        </p:txBody>
      </p:sp>
      <p:sp>
        <p:nvSpPr>
          <p:cNvPr id="6" name="text-31">
            <a:extLst xmlns:a="http://schemas.openxmlformats.org/drawingml/2006/main">
              <a:ext uri="{FF2B5EF4-FFF2-40B4-BE49-F238E27FC236}">
                <a16:creationId xmlns:a16="http://schemas.microsoft.com/office/drawing/2014/main" id="{9688B536-9C50-46C7-8934-983D56DF68EC}"/>
              </a:ext>
            </a:extLst>
          </p:cNvPr>
          <p:cNvSpPr>
            <a:spLocks xmlns:a="http://schemas.openxmlformats.org/drawingml/2006/main" noGrp="1"/>
          </p:cNvSpPr>
          <p:nvPr/>
        </p:nvSpPr>
        <p:spPr>
          <a:xfrm xmlns:a="http://schemas.openxmlformats.org/drawingml/2006/main">
            <a:off x="533400" y="195262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53746"/>
                </a:solidFill>
                <a:latin typeface="Helvetica Neue"/>
                <a:ea typeface="Helvetica Neue"/>
                <a:cs typeface="Helvetica Neue"/>
              </a:defRPr>
            </a:defPPr>
          </a:lstStyle>
          <a:p xmlns:a="http://schemas.openxmlformats.org/drawingml/2006/main">
            <a:pPr algn="l">
              <a:defRPr sz="1800" b="0">
                <a:solidFill>
                  <a:srgbClr val="253746"/>
                </a:solidFill>
                <a:latin typeface="Helvetica Neue"/>
                <a:ea typeface="Helvetica Neue"/>
                <a:cs typeface="Helvetica Neue"/>
              </a:defRPr>
            </a:pPr>
            <a:r>
              <a:rPr sz="1800" b="0">
                <a:solidFill>
                  <a:srgbClr val="253746"/>
                </a:solidFill>
                <a:latin typeface="Helvetica Neue"/>
                <a:ea typeface="Helvetica Neue"/>
                <a:cs typeface="Helvetica Neue"/>
              </a:rPr>
              <a:t>80,000 train / 20,000 evaluation</a:t>
            </a:r>
          </a:p>
        </p:txBody>
      </p:sp>
      <p:sp>
        <p:nvSpPr>
          <p:cNvPr id="7" name="text-32">
            <a:extLst xmlns:a="http://schemas.openxmlformats.org/drawingml/2006/main">
              <a:ext uri="{FF2B5EF4-FFF2-40B4-BE49-F238E27FC236}">
                <a16:creationId xmlns:a16="http://schemas.microsoft.com/office/drawing/2014/main" id="{FDAD428F-857E-4733-9A82-36CE5A1AE31C}"/>
              </a:ext>
            </a:extLst>
          </p:cNvPr>
          <p:cNvSpPr>
            <a:spLocks xmlns:a="http://schemas.openxmlformats.org/drawingml/2006/main" noGrp="1"/>
          </p:cNvSpPr>
          <p:nvPr/>
        </p:nvSpPr>
        <p:spPr>
          <a:xfrm xmlns:a="http://schemas.openxmlformats.org/drawingml/2006/main">
            <a:off x="533400" y="2571750"/>
            <a:ext cx="42291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53746"/>
                </a:solidFill>
                <a:latin typeface="Helvetica Neue"/>
                <a:ea typeface="Helvetica Neue"/>
                <a:cs typeface="Helvetica Neue"/>
              </a:defRPr>
            </a:defPPr>
          </a:lstStyle>
          <a:p xmlns:a="http://schemas.openxmlformats.org/drawingml/2006/main">
            <a:pPr algn="l">
              <a:defRPr sz="1875" b="0">
                <a:solidFill>
                  <a:srgbClr val="253746"/>
                </a:solidFill>
                <a:latin typeface="Helvetica Neue"/>
                <a:ea typeface="Helvetica Neue"/>
                <a:cs typeface="Helvetica Neue"/>
              </a:defRPr>
            </a:pPr>
            <a:r>
              <a:rPr sz="1875" b="0">
                <a:solidFill>
                  <a:srgbClr val="253746"/>
                </a:solidFill>
                <a:latin typeface="Helvetica Neue"/>
                <a:ea typeface="Helvetica Neue"/>
                <a:cs typeface="Helvetica Neue"/>
              </a:rPr>
              <a:t>Y   Annual income</a:t>
            </a:r>
          </a:p>
          <a:p xmlns:a="http://schemas.openxmlformats.org/drawingml/2006/main">
            <a:pPr algn="l">
              <a:defRPr sz="1875" b="0">
                <a:solidFill>
                  <a:srgbClr val="253746"/>
                </a:solidFill>
                <a:latin typeface="Helvetica Neue"/>
                <a:ea typeface="Helvetica Neue"/>
                <a:cs typeface="Helvetica Neue"/>
              </a:defRPr>
            </a:pPr>
            <a:r>
              <a:rPr sz="1875" b="0">
                <a:solidFill>
                  <a:srgbClr val="253746"/>
                </a:solidFill>
                <a:latin typeface="Helvetica Neue"/>
                <a:ea typeface="Helvetica Neue"/>
                <a:cs typeface="Helvetica Neue"/>
              </a:rPr>
              <a:t>D   Debt-to-income ratio</a:t>
            </a:r>
          </a:p>
          <a:p xmlns:a="http://schemas.openxmlformats.org/drawingml/2006/main">
            <a:pPr algn="l">
              <a:defRPr sz="1875" b="0">
                <a:solidFill>
                  <a:srgbClr val="253746"/>
                </a:solidFill>
                <a:latin typeface="Helvetica Neue"/>
                <a:ea typeface="Helvetica Neue"/>
                <a:cs typeface="Helvetica Neue"/>
              </a:defRPr>
            </a:pPr>
            <a:r>
              <a:rPr sz="1875" b="0">
                <a:solidFill>
                  <a:srgbClr val="253746"/>
                </a:solidFill>
                <a:latin typeface="Helvetica Neue"/>
                <a:ea typeface="Helvetica Neue"/>
                <a:cs typeface="Helvetica Neue"/>
              </a:rPr>
              <a:t>B   Binary group (15.07% B=1)</a:t>
            </a:r>
          </a:p>
          <a:p xmlns:a="http://schemas.openxmlformats.org/drawingml/2006/main">
            <a:pPr algn="l">
              <a:defRPr sz="1875" b="0">
                <a:solidFill>
                  <a:srgbClr val="253746"/>
                </a:solidFill>
                <a:latin typeface="Helvetica Neue"/>
                <a:ea typeface="Helvetica Neue"/>
                <a:cs typeface="Helvetica Neue"/>
              </a:defRPr>
            </a:pPr>
            <a:r>
              <a:rPr sz="1875" b="0">
                <a:solidFill>
                  <a:srgbClr val="253746"/>
                </a:solidFill>
                <a:latin typeface="Helvetica Neue"/>
                <a:ea typeface="Helvetica Neue"/>
                <a:cs typeface="Helvetica Neue"/>
              </a:rPr>
              <a:t>C   Noisy credit signal</a:t>
            </a:r>
          </a:p>
          <a:p xmlns:a="http://schemas.openxmlformats.org/drawingml/2006/main">
            <a:pPr algn="l">
              <a:defRPr sz="1875" b="0">
                <a:solidFill>
                  <a:srgbClr val="253746"/>
                </a:solidFill>
                <a:latin typeface="Helvetica Neue"/>
                <a:ea typeface="Helvetica Neue"/>
                <a:cs typeface="Helvetica Neue"/>
              </a:defRPr>
            </a:pPr>
            <a:r>
              <a:rPr sz="1875" b="0">
                <a:solidFill>
                  <a:srgbClr val="253746"/>
                </a:solidFill>
                <a:latin typeface="Helvetica Neue"/>
                <a:ea typeface="Helvetica Neue"/>
                <a:cs typeface="Helvetica Neue"/>
              </a:rPr>
              <a:t>ε   Hidden borrower factor</a:t>
            </a:r>
          </a:p>
        </p:txBody>
      </p:sp>
      <p:sp>
        <p:nvSpPr>
          <p:cNvPr id="8" name="text-33">
            <a:extLst xmlns:a="http://schemas.openxmlformats.org/drawingml/2006/main">
              <a:ext uri="{FF2B5EF4-FFF2-40B4-BE49-F238E27FC236}">
                <a16:creationId xmlns:a16="http://schemas.microsoft.com/office/drawing/2014/main" id="{BC92290B-2C04-4EB1-A3BF-E2959AF916E4}"/>
              </a:ext>
            </a:extLst>
          </p:cNvPr>
          <p:cNvSpPr>
            <a:spLocks xmlns:a="http://schemas.openxmlformats.org/drawingml/2006/main" noGrp="1"/>
          </p:cNvSpPr>
          <p:nvPr/>
        </p:nvSpPr>
        <p:spPr>
          <a:xfrm xmlns:a="http://schemas.openxmlformats.org/drawingml/2006/main">
            <a:off x="533400" y="4476750"/>
            <a:ext cx="4191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53746"/>
                </a:solidFill>
                <a:latin typeface="Helvetica Neue"/>
                <a:ea typeface="Helvetica Neue"/>
                <a:cs typeface="Helvetica Neue"/>
              </a:defRPr>
            </a:defPPr>
          </a:lstStyle>
          <a:p xmlns:a="http://schemas.openxmlformats.org/drawingml/2006/main">
            <a:pPr algn="l">
              <a:defRPr sz="1725" b="0">
                <a:solidFill>
                  <a:srgbClr val="253746"/>
                </a:solidFill>
                <a:latin typeface="Helvetica Neue"/>
                <a:ea typeface="Helvetica Neue"/>
                <a:cs typeface="Helvetica Neue"/>
              </a:defRPr>
            </a:pPr>
            <a:r>
              <a:rPr sz="1725" b="0">
                <a:solidFill>
                  <a:srgbClr val="253746"/>
                </a:solidFill>
                <a:latin typeface="Helvetica Neue"/>
                <a:ea typeface="Helvetica Neue"/>
                <a:cs typeface="Helvetica Neue"/>
              </a:rPr>
              <a:t>true_PD =</a:t>
            </a:r>
          </a:p>
          <a:p xmlns:a="http://schemas.openxmlformats.org/drawingml/2006/main">
            <a:pPr algn="l">
              <a:defRPr sz="1725" b="0">
                <a:solidFill>
                  <a:srgbClr val="253746"/>
                </a:solidFill>
                <a:latin typeface="Helvetica Neue"/>
                <a:ea typeface="Helvetica Neue"/>
                <a:cs typeface="Helvetica Neue"/>
              </a:defRPr>
            </a:pPr>
            <a:r>
              <a:rPr sz="1725" b="0">
                <a:solidFill>
                  <a:srgbClr val="253746"/>
                </a:solidFill>
                <a:latin typeface="Helvetica Neue"/>
                <a:ea typeface="Helvetica Neue"/>
                <a:cs typeface="Helvetica Neue"/>
              </a:rPr>
              <a:t>sigmoid(0.52 − 0.65 log Y)</a:t>
            </a:r>
          </a:p>
          <a:p xmlns:a="http://schemas.openxmlformats.org/drawingml/2006/main">
            <a:pPr algn="l">
              <a:defRPr sz="1725" b="0">
                <a:solidFill>
                  <a:srgbClr val="253746"/>
                </a:solidFill>
                <a:latin typeface="Helvetica Neue"/>
                <a:ea typeface="Helvetica Neue"/>
                <a:cs typeface="Helvetica Neue"/>
              </a:defRPr>
            </a:pPr>
            <a:r>
              <a:rPr sz="1725" b="0">
                <a:solidFill>
                  <a:srgbClr val="253746"/>
                </a:solidFill>
                <a:latin typeface="Helvetica Neue"/>
                <a:ea typeface="Helvetica Neue"/>
                <a:cs typeface="Helvetica Neue"/>
              </a:rPr>
              <a:t>× sigmoid(4 + 0.06 D + ε)</a:t>
            </a:r>
          </a:p>
        </p:txBody>
      </p:sp>
      <p:sp>
        <p:nvSpPr>
          <p:cNvPr id="9" name="text-34">
            <a:extLst xmlns:a="http://schemas.openxmlformats.org/drawingml/2006/main">
              <a:ext uri="{FF2B5EF4-FFF2-40B4-BE49-F238E27FC236}">
                <a16:creationId xmlns:a16="http://schemas.microsoft.com/office/drawing/2014/main" id="{A4D8D610-7CA9-4F8C-8612-37327CC17287}"/>
              </a:ext>
            </a:extLst>
          </p:cNvPr>
          <p:cNvSpPr>
            <a:spLocks xmlns:a="http://schemas.openxmlformats.org/drawingml/2006/main" noGrp="1"/>
          </p:cNvSpPr>
          <p:nvPr/>
        </p:nvSpPr>
        <p:spPr>
          <a:xfrm xmlns:a="http://schemas.openxmlformats.org/drawingml/2006/main">
            <a:off x="533400" y="5667375"/>
            <a:ext cx="4476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861F41"/>
                </a:solidFill>
                <a:latin typeface="Helvetica Neue"/>
                <a:ea typeface="Helvetica Neue"/>
                <a:cs typeface="Helvetica Neue"/>
              </a:defRPr>
            </a:defPPr>
          </a:lstStyle>
          <a:p xmlns:a="http://schemas.openxmlformats.org/drawingml/2006/main">
            <a:pPr algn="l">
              <a:defRPr sz="1575" b="1">
                <a:solidFill>
                  <a:srgbClr val="861F41"/>
                </a:solidFill>
                <a:latin typeface="Helvetica Neue"/>
                <a:ea typeface="Helvetica Neue"/>
                <a:cs typeface="Helvetica Neue"/>
              </a:defRPr>
            </a:pPr>
            <a:r>
              <a:rPr sz="1575" b="1">
                <a:solidFill>
                  <a:srgbClr val="861F41"/>
                </a:solidFill>
                <a:latin typeface="Helvetica Neue"/>
                <a:ea typeface="Helvetica Neue"/>
                <a:cs typeface="Helvetica Neue"/>
              </a:rPr>
              <a:t>Mean true_PD 0.1422%</a:t>
            </a:r>
          </a:p>
          <a:p xmlns:a="http://schemas.openxmlformats.org/drawingml/2006/main">
            <a:pPr algn="l">
              <a:defRPr sz="1575" b="1">
                <a:solidFill>
                  <a:srgbClr val="861F41"/>
                </a:solidFill>
                <a:latin typeface="Helvetica Neue"/>
                <a:ea typeface="Helvetica Neue"/>
                <a:cs typeface="Helvetica Neue"/>
              </a:defRPr>
            </a:pPr>
            <a:r>
              <a:rPr sz="1575" b="1">
                <a:solidFill>
                  <a:srgbClr val="861F41"/>
                </a:solidFill>
                <a:latin typeface="Helvetica Neue"/>
                <a:ea typeface="Helvetica Neue"/>
                <a:cs typeface="Helvetica Neue"/>
              </a:rPr>
              <a:t>Noise SD 10 pp ≈ 183× scaled-signal SD</a:t>
            </a:r>
          </a:p>
        </p:txBody>
      </p:sp>
      <p:sp>
        <p:nvSpPr>
          <p:cNvPr id="10" name="text-35">
            <a:extLst xmlns:a="http://schemas.openxmlformats.org/drawingml/2006/main">
              <a:ext uri="{FF2B5EF4-FFF2-40B4-BE49-F238E27FC236}">
                <a16:creationId xmlns:a16="http://schemas.microsoft.com/office/drawing/2014/main" id="{22777E38-360C-4D85-B73F-6F6DAD690C71}"/>
              </a:ext>
            </a:extLst>
          </p:cNvPr>
          <p:cNvSpPr>
            <a:spLocks xmlns:a="http://schemas.openxmlformats.org/drawingml/2006/main" noGrp="1"/>
          </p:cNvSpPr>
          <p:nvPr/>
        </p:nvSpPr>
        <p:spPr>
          <a:xfrm xmlns:a="http://schemas.openxmlformats.org/drawingml/2006/main">
            <a:off x="5010150" y="1552575"/>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861F41"/>
                </a:solidFill>
                <a:latin typeface="Helvetica Neue"/>
                <a:ea typeface="Helvetica Neue"/>
                <a:cs typeface="Helvetica Neue"/>
              </a:defRPr>
            </a:defPPr>
          </a:lstStyle>
          <a:p xmlns:a="http://schemas.openxmlformats.org/drawingml/2006/main">
            <a:pPr algn="l">
              <a:defRPr sz="1800" b="1">
                <a:solidFill>
                  <a:srgbClr val="861F41"/>
                </a:solidFill>
                <a:latin typeface="Helvetica Neue"/>
                <a:ea typeface="Helvetica Neue"/>
                <a:cs typeface="Helvetica Neue"/>
              </a:defRPr>
            </a:pPr>
            <a:r>
              <a:rPr sz="1800" b="1">
                <a:solidFill>
                  <a:srgbClr val="861F41"/>
                </a:solidFill>
                <a:latin typeface="Helvetica Neue"/>
                <a:ea typeface="Helvetica Neue"/>
                <a:cs typeface="Helvetica Neue"/>
              </a:rPr>
              <a:t>EVALUATOR-ONLY DATA PREVIEW</a:t>
            </a:r>
          </a:p>
        </p:txBody>
      </p:sp>
      <p:sp>
        <p:nvSpPr>
          <p:cNvPr id="11" name="text-36">
            <a:extLst xmlns:a="http://schemas.openxmlformats.org/drawingml/2006/main">
              <a:ext uri="{FF2B5EF4-FFF2-40B4-BE49-F238E27FC236}">
                <a16:creationId xmlns:a16="http://schemas.microsoft.com/office/drawing/2014/main" id="{17E34488-D6A2-4E12-8E6F-9BDB9016D1A1}"/>
              </a:ext>
            </a:extLst>
          </p:cNvPr>
          <p:cNvSpPr>
            <a:spLocks xmlns:a="http://schemas.openxmlformats.org/drawingml/2006/main" noGrp="1"/>
          </p:cNvSpPr>
          <p:nvPr/>
        </p:nvSpPr>
        <p:spPr>
          <a:xfrm xmlns:a="http://schemas.openxmlformats.org/drawingml/2006/main">
            <a:off x="5010150" y="194310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8737D"/>
                </a:solidFill>
                <a:latin typeface="Helvetica Neue"/>
                <a:ea typeface="Helvetica Neue"/>
                <a:cs typeface="Helvetica Neue"/>
              </a:defRPr>
            </a:defPPr>
          </a:lstStyle>
          <a:p xmlns:a="http://schemas.openxmlformats.org/drawingml/2006/main">
            <a:pPr algn="l">
              <a:defRPr sz="1575" b="0">
                <a:solidFill>
                  <a:srgbClr val="68737D"/>
                </a:solidFill>
                <a:latin typeface="Helvetica Neue"/>
                <a:ea typeface="Helvetica Neue"/>
                <a:cs typeface="Helvetica Neue"/>
              </a:defRPr>
            </a:pPr>
            <a:r>
              <a:rPr sz="1575" b="0">
                <a:solidFill>
                  <a:srgbClr val="68737D"/>
                </a:solidFill>
                <a:latin typeface="Helvetica Neue"/>
                <a:ea typeface="Helvetica Neue"/>
                <a:cs typeface="Helvetica Neue"/>
              </a:rPr>
              <a:t>First five saved IDs. PD in percent, PN in raw units.</a:t>
            </a:r>
          </a:p>
        </p:txBody>
      </p:sp>
      <p:graphicFrame>
        <p:nvGraphicFramePr>
          <p:cNvPr id="12" name="">
            <a:extLst xmlns:a="http://schemas.openxmlformats.org/drawingml/2006/main">
              <a:ext uri="{FF2B5EF4-FFF2-40B4-BE49-F238E27FC236}">
                <a16:creationId xmlns:a16="http://schemas.microsoft.com/office/drawing/2014/main" id="{15BF186A-E8F3-4367-A6B6-F6E2A1D80933}"/>
              </a:ext>
            </a:extLst>
          </p:cNvPr>
          <p:cNvGraphicFramePr/>
          <p:nvPr/>
        </p:nvGraphicFramePr>
        <p:xfrm>
          <a:off xmlns:a="http://schemas.openxmlformats.org/drawingml/2006/main" x="5010150" y="2505075"/>
          <a:ext xmlns:a="http://schemas.openxmlformats.org/drawingml/2006/main" cx="6667500" cy="3105150"/>
        </p:xfrm>
        <a:graphic xmlns:a="http://schemas.openxmlformats.org/drawingml/2006/main">
          <a:graphicData uri="http://schemas.openxmlformats.org/drawingml/2006/table">
            <a:tbl>
              <a:tblPr firstRow="1" bandRow="0"/>
              <a:tblGrid>
                <a:gridCol w="1466850"/>
                <a:gridCol w="361950"/>
                <a:gridCol w="942975"/>
                <a:gridCol w="714375"/>
                <a:gridCol w="819150"/>
                <a:gridCol w="1104900"/>
                <a:gridCol w="1257300"/>
              </a:tblGrid>
              <a:tr h="517525">
                <a:tc>
                  <a:txBody>
                    <a:bodyPr/>
                    <a:lstStyle/>
                    <a:p>
                      <a:pPr algn="l"/>
                      <a:r>
                        <a:rPr sz="1500" b="1">
                          <a:solidFill>
                            <a:srgbClr val="FFFFFF"/>
                          </a:solidFill>
                          <a:latin typeface="Helvetica Neue"/>
                          <a:ea typeface="Helvetica Neue"/>
                          <a:cs typeface="Helvetica Neue"/>
                        </a:rPr>
                        <a:t>Applicant ID</a:t>
                      </a:r>
                    </a:p>
                  </a:txBody>
                  <a:tcPr marL="76200" marR="76200" marT="95250" marB="95250" anchor="ctr">
                    <a:lnL w="4763">
                      <a:solidFill>
                        <a:srgbClr val="D7DBDF"/>
                      </a:solidFill>
                    </a:lnL>
                    <a:lnR w="4763">
                      <a:solidFill>
                        <a:srgbClr val="D7DBDF"/>
                      </a:solidFill>
                    </a:lnR>
                    <a:lnT w="4763">
                      <a:solidFill>
                        <a:srgbClr val="D7DBDF"/>
                      </a:solidFill>
                    </a:lnT>
                    <a:lnB w="4763">
                      <a:solidFill>
                        <a:srgbClr val="D7DBDF"/>
                      </a:solidFill>
                    </a:lnB>
                    <a:solidFill>
                      <a:srgbClr val="861F41"/>
                    </a:solidFill>
                  </a:tcPr>
                </a:tc>
                <a:tc>
                  <a:txBody>
                    <a:bodyPr/>
                    <a:lstStyle/>
                    <a:p>
                      <a:pPr algn="r"/>
                      <a:r>
                        <a:rPr sz="1500" b="1">
                          <a:solidFill>
                            <a:srgbClr val="FFFFFF"/>
                          </a:solidFill>
                          <a:latin typeface="Helvetica Neue"/>
                          <a:ea typeface="Helvetica Neue"/>
                          <a:cs typeface="Helvetica Neue"/>
                        </a:rPr>
                        <a:t>B</a:t>
                      </a:r>
                    </a:p>
                  </a:txBody>
                  <a:tcPr marL="76200" marR="76200" marT="95250" marB="95250" anchor="ctr">
                    <a:lnR w="4763">
                      <a:solidFill>
                        <a:srgbClr val="D7DBDF"/>
                      </a:solidFill>
                    </a:lnR>
                    <a:lnT w="4763">
                      <a:solidFill>
                        <a:srgbClr val="D7DBDF"/>
                      </a:solidFill>
                    </a:lnT>
                    <a:lnB w="4763">
                      <a:solidFill>
                        <a:srgbClr val="D7DBDF"/>
                      </a:solidFill>
                    </a:lnB>
                    <a:solidFill>
                      <a:srgbClr val="861F41"/>
                    </a:solidFill>
                  </a:tcPr>
                </a:tc>
                <a:tc>
                  <a:txBody>
                    <a:bodyPr/>
                    <a:lstStyle/>
                    <a:p>
                      <a:pPr algn="r"/>
                      <a:r>
                        <a:rPr sz="1500" b="1">
                          <a:solidFill>
                            <a:srgbClr val="FFFFFF"/>
                          </a:solidFill>
                          <a:latin typeface="Helvetica Neue"/>
                          <a:ea typeface="Helvetica Neue"/>
                          <a:cs typeface="Helvetica Neue"/>
                        </a:rPr>
                        <a:t>Y ($)</a:t>
                      </a:r>
                    </a:p>
                  </a:txBody>
                  <a:tcPr marL="76200" marR="76200" marT="95250" marB="95250" anchor="ctr">
                    <a:lnR w="4763">
                      <a:solidFill>
                        <a:srgbClr val="D7DBDF"/>
                      </a:solidFill>
                    </a:lnR>
                    <a:lnT w="4763">
                      <a:solidFill>
                        <a:srgbClr val="D7DBDF"/>
                      </a:solidFill>
                    </a:lnT>
                    <a:lnB w="4763">
                      <a:solidFill>
                        <a:srgbClr val="D7DBDF"/>
                      </a:solidFill>
                    </a:lnB>
                    <a:solidFill>
                      <a:srgbClr val="861F41"/>
                    </a:solidFill>
                  </a:tcPr>
                </a:tc>
                <a:tc>
                  <a:txBody>
                    <a:bodyPr/>
                    <a:lstStyle/>
                    <a:p>
                      <a:pPr algn="r"/>
                      <a:r>
                        <a:rPr sz="1500" b="1">
                          <a:solidFill>
                            <a:srgbClr val="FFFFFF"/>
                          </a:solidFill>
                          <a:latin typeface="Helvetica Neue"/>
                          <a:ea typeface="Helvetica Neue"/>
                          <a:cs typeface="Helvetica Neue"/>
                        </a:rPr>
                        <a:t>D</a:t>
                      </a:r>
                    </a:p>
                  </a:txBody>
                  <a:tcPr marL="76200" marR="76200" marT="95250" marB="95250" anchor="ctr">
                    <a:lnR w="4763">
                      <a:solidFill>
                        <a:srgbClr val="D7DBDF"/>
                      </a:solidFill>
                    </a:lnR>
                    <a:lnT w="4763">
                      <a:solidFill>
                        <a:srgbClr val="D7DBDF"/>
                      </a:solidFill>
                    </a:lnT>
                    <a:lnB w="4763">
                      <a:solidFill>
                        <a:srgbClr val="D7DBDF"/>
                      </a:solidFill>
                    </a:lnB>
                    <a:solidFill>
                      <a:srgbClr val="861F41"/>
                    </a:solidFill>
                  </a:tcPr>
                </a:tc>
                <a:tc>
                  <a:txBody>
                    <a:bodyPr/>
                    <a:lstStyle/>
                    <a:p>
                      <a:pPr algn="r"/>
                      <a:r>
                        <a:rPr sz="1500" b="1">
                          <a:solidFill>
                            <a:srgbClr val="FFFFFF"/>
                          </a:solidFill>
                          <a:latin typeface="Helvetica Neue"/>
                          <a:ea typeface="Helvetica Neue"/>
                          <a:cs typeface="Helvetica Neue"/>
                        </a:rPr>
                        <a:t>C</a:t>
                      </a:r>
                    </a:p>
                  </a:txBody>
                  <a:tcPr marL="76200" marR="76200" marT="95250" marB="95250" anchor="ctr">
                    <a:lnR w="4763">
                      <a:solidFill>
                        <a:srgbClr val="D7DBDF"/>
                      </a:solidFill>
                    </a:lnR>
                    <a:lnT w="4763">
                      <a:solidFill>
                        <a:srgbClr val="D7DBDF"/>
                      </a:solidFill>
                    </a:lnT>
                    <a:lnB w="4763">
                      <a:solidFill>
                        <a:srgbClr val="D7DBDF"/>
                      </a:solidFill>
                    </a:lnB>
                    <a:solidFill>
                      <a:srgbClr val="861F41"/>
                    </a:solidFill>
                  </a:tcPr>
                </a:tc>
                <a:tc>
                  <a:txBody>
                    <a:bodyPr/>
                    <a:lstStyle/>
                    <a:p>
                      <a:pPr algn="r"/>
                      <a:r>
                        <a:rPr sz="1500" b="1">
                          <a:solidFill>
                            <a:srgbClr val="FFFFFF"/>
                          </a:solidFill>
                          <a:latin typeface="Helvetica Neue"/>
                          <a:ea typeface="Helvetica Neue"/>
                          <a:cs typeface="Helvetica Neue"/>
                        </a:rPr>
                        <a:t>PD (%)</a:t>
                      </a:r>
                    </a:p>
                  </a:txBody>
                  <a:tcPr marL="76200" marR="76200" marT="95250" marB="95250" anchor="ctr">
                    <a:lnR w="4763">
                      <a:solidFill>
                        <a:srgbClr val="D7DBDF"/>
                      </a:solidFill>
                    </a:lnR>
                    <a:lnT w="4763">
                      <a:solidFill>
                        <a:srgbClr val="D7DBDF"/>
                      </a:solidFill>
                    </a:lnT>
                    <a:lnB w="4763">
                      <a:solidFill>
                        <a:srgbClr val="D7DBDF"/>
                      </a:solidFill>
                    </a:lnB>
                    <a:solidFill>
                      <a:srgbClr val="861F41"/>
                    </a:solidFill>
                  </a:tcPr>
                </a:tc>
                <a:tc>
                  <a:txBody>
                    <a:bodyPr/>
                    <a:lstStyle/>
                    <a:p>
                      <a:pPr algn="r"/>
                      <a:r>
                        <a:rPr sz="1500" b="1">
                          <a:solidFill>
                            <a:srgbClr val="FFFFFF"/>
                          </a:solidFill>
                          <a:latin typeface="Helvetica Neue"/>
                          <a:ea typeface="Helvetica Neue"/>
                          <a:cs typeface="Helvetica Neue"/>
                        </a:rPr>
                        <a:t>PN raw</a:t>
                      </a:r>
                    </a:p>
                  </a:txBody>
                  <a:tcPr marL="76200" marR="76200" marT="95250" marB="95250" anchor="ctr">
                    <a:lnR w="4763">
                      <a:solidFill>
                        <a:srgbClr val="D7DBDF"/>
                      </a:solidFill>
                    </a:lnR>
                    <a:lnT w="4763">
                      <a:solidFill>
                        <a:srgbClr val="D7DBDF"/>
                      </a:solidFill>
                    </a:lnT>
                    <a:lnB w="4763">
                      <a:solidFill>
                        <a:srgbClr val="D7DBDF"/>
                      </a:solidFill>
                    </a:lnB>
                    <a:solidFill>
                      <a:srgbClr val="861F41"/>
                    </a:solidFill>
                  </a:tcPr>
                </a:tc>
              </a:tr>
              <a:tr h="517525">
                <a:tc>
                  <a:txBody>
                    <a:bodyPr/>
                    <a:lstStyle/>
                    <a:p>
                      <a:pPr algn="l"/>
                      <a:r>
                        <a:rPr sz="1500" b="0">
                          <a:solidFill>
                            <a:srgbClr val="253746"/>
                          </a:solidFill>
                          <a:latin typeface="Helvetica Neue"/>
                          <a:ea typeface="Helvetica Neue"/>
                          <a:cs typeface="Helvetica Neue"/>
                        </a:rPr>
                        <a:t>prof_000001</a:t>
                      </a:r>
                    </a:p>
                  </a:txBody>
                  <a:tcPr marL="76200" marR="76200" marT="95250" marB="95250" anchor="ctr">
                    <a:lnL w="4763">
                      <a:solidFill>
                        <a:srgbClr val="D7DBDF"/>
                      </a:solidFill>
                    </a:lnL>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0</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28,753</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0.521</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0.591</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0.2109</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0.0684</a:t>
                      </a:r>
                    </a:p>
                  </a:txBody>
                  <a:tcPr marL="76200" marR="76200" marT="95250" marB="95250" anchor="ctr">
                    <a:lnR w="4763">
                      <a:solidFill>
                        <a:srgbClr val="D7DBDF"/>
                      </a:solidFill>
                    </a:lnR>
                    <a:lnB w="4763">
                      <a:solidFill>
                        <a:srgbClr val="D7DBDF"/>
                      </a:solidFill>
                    </a:lnB>
                    <a:solidFill>
                      <a:srgbClr val="FFFFFF"/>
                    </a:solidFill>
                  </a:tcPr>
                </a:tc>
              </a:tr>
              <a:tr h="517525">
                <a:tc>
                  <a:txBody>
                    <a:bodyPr/>
                    <a:lstStyle/>
                    <a:p>
                      <a:pPr algn="l"/>
                      <a:r>
                        <a:rPr sz="1500" b="0">
                          <a:solidFill>
                            <a:srgbClr val="253746"/>
                          </a:solidFill>
                          <a:latin typeface="Helvetica Neue"/>
                          <a:ea typeface="Helvetica Neue"/>
                          <a:cs typeface="Helvetica Neue"/>
                        </a:rPr>
                        <a:t>prof_000002</a:t>
                      </a:r>
                    </a:p>
                  </a:txBody>
                  <a:tcPr marL="76200" marR="76200" marT="95250" marB="95250" anchor="ctr">
                    <a:lnL w="4763">
                      <a:solidFill>
                        <a:srgbClr val="D7DBDF"/>
                      </a:solidFill>
                    </a:lnL>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0</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60,933</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0.125</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0.388</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0.1295</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0.0583</a:t>
                      </a:r>
                    </a:p>
                  </a:txBody>
                  <a:tcPr marL="76200" marR="76200" marT="95250" marB="95250" anchor="ctr">
                    <a:lnR w="4763">
                      <a:solidFill>
                        <a:srgbClr val="D7DBDF"/>
                      </a:solidFill>
                    </a:lnR>
                    <a:lnB w="4763">
                      <a:solidFill>
                        <a:srgbClr val="D7DBDF"/>
                      </a:solidFill>
                    </a:lnB>
                    <a:solidFill>
                      <a:srgbClr val="FFFFFF"/>
                    </a:solidFill>
                  </a:tcPr>
                </a:tc>
              </a:tr>
              <a:tr h="517525">
                <a:tc>
                  <a:txBody>
                    <a:bodyPr/>
                    <a:lstStyle/>
                    <a:p>
                      <a:pPr algn="l"/>
                      <a:r>
                        <a:rPr sz="1500" b="0">
                          <a:solidFill>
                            <a:srgbClr val="253746"/>
                          </a:solidFill>
                          <a:latin typeface="Helvetica Neue"/>
                          <a:ea typeface="Helvetica Neue"/>
                          <a:cs typeface="Helvetica Neue"/>
                        </a:rPr>
                        <a:t>prof_000003</a:t>
                      </a:r>
                    </a:p>
                  </a:txBody>
                  <a:tcPr marL="76200" marR="76200" marT="95250" marB="95250" anchor="ctr">
                    <a:lnL w="4763">
                      <a:solidFill>
                        <a:srgbClr val="D7DBDF"/>
                      </a:solidFill>
                    </a:lnL>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0</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86,547</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0.180</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-0.758</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0.0930</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0.2353</a:t>
                      </a:r>
                    </a:p>
                  </a:txBody>
                  <a:tcPr marL="76200" marR="76200" marT="95250" marB="95250" anchor="ctr">
                    <a:lnR w="4763">
                      <a:solidFill>
                        <a:srgbClr val="D7DBDF"/>
                      </a:solidFill>
                    </a:lnR>
                    <a:lnB w="4763">
                      <a:solidFill>
                        <a:srgbClr val="D7DBDF"/>
                      </a:solidFill>
                    </a:lnB>
                    <a:solidFill>
                      <a:srgbClr val="FFFFFF"/>
                    </a:solidFill>
                  </a:tcPr>
                </a:tc>
              </a:tr>
              <a:tr h="517525">
                <a:tc>
                  <a:txBody>
                    <a:bodyPr/>
                    <a:lstStyle/>
                    <a:p>
                      <a:pPr algn="l"/>
                      <a:r>
                        <a:rPr sz="1500" b="0">
                          <a:solidFill>
                            <a:srgbClr val="253746"/>
                          </a:solidFill>
                          <a:latin typeface="Helvetica Neue"/>
                          <a:ea typeface="Helvetica Neue"/>
                          <a:cs typeface="Helvetica Neue"/>
                        </a:rPr>
                        <a:t>prof_000004</a:t>
                      </a:r>
                    </a:p>
                  </a:txBody>
                  <a:tcPr marL="76200" marR="76200" marT="95250" marB="95250" anchor="ctr">
                    <a:lnL w="4763">
                      <a:solidFill>
                        <a:srgbClr val="D7DBDF"/>
                      </a:solidFill>
                    </a:lnL>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1</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58,043</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0.128</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-0.109</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0.1314</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1">
                          <a:solidFill>
                            <a:srgbClr val="E5751F"/>
                          </a:solidFill>
                          <a:latin typeface="Helvetica Neue"/>
                          <a:ea typeface="Helvetica Neue"/>
                          <a:cs typeface="Helvetica Neue"/>
                        </a:rPr>
                        <a:t>-0.0432</a:t>
                      </a:r>
                    </a:p>
                  </a:txBody>
                  <a:tcPr marL="76200" marR="76200" marT="95250" marB="95250" anchor="ctr">
                    <a:lnR w="4763">
                      <a:solidFill>
                        <a:srgbClr val="D7DBDF"/>
                      </a:solidFill>
                    </a:lnR>
                    <a:lnB w="4763">
                      <a:solidFill>
                        <a:srgbClr val="D7DBDF"/>
                      </a:solidFill>
                    </a:lnB>
                    <a:solidFill>
                      <a:srgbClr val="FFFFFF"/>
                    </a:solidFill>
                  </a:tcPr>
                </a:tc>
              </a:tr>
              <a:tr h="517525">
                <a:tc>
                  <a:txBody>
                    <a:bodyPr/>
                    <a:lstStyle/>
                    <a:p>
                      <a:pPr algn="l"/>
                      <a:r>
                        <a:rPr sz="1500" b="0">
                          <a:solidFill>
                            <a:srgbClr val="253746"/>
                          </a:solidFill>
                          <a:latin typeface="Helvetica Neue"/>
                          <a:ea typeface="Helvetica Neue"/>
                          <a:cs typeface="Helvetica Neue"/>
                        </a:rPr>
                        <a:t>prof_000005</a:t>
                      </a:r>
                    </a:p>
                  </a:txBody>
                  <a:tcPr marL="76200" marR="76200" marT="95250" marB="95250" anchor="ctr">
                    <a:lnL w="4763">
                      <a:solidFill>
                        <a:srgbClr val="D7DBDF"/>
                      </a:solidFill>
                    </a:lnL>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0</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24,706</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0.257</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0.985</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0.2338</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500" b="0">
                          <a:solidFill>
                            <a:srgbClr val="253746"/>
                          </a:solidFill>
                          <a:latin typeface="Helvetica Neue"/>
                          <a:ea typeface="Helvetica Neue"/>
                          <a:cs typeface="Helvetica Neue"/>
                        </a:rPr>
                        <a:t>0.0347</a:t>
                      </a:r>
                    </a:p>
                  </a:txBody>
                  <a:tcPr marL="76200" marR="76200" marT="95250" marB="95250" anchor="ctr">
                    <a:lnR w="4763">
                      <a:solidFill>
                        <a:srgbClr val="D7DBDF"/>
                      </a:solidFill>
                    </a:lnR>
                    <a:lnB w="4763">
                      <a:solidFill>
                        <a:srgbClr val="D7DBDF"/>
                      </a:solidFill>
                    </a:lnB>
                    <a:solidFill>
                      <a:srgbClr val="FFFFFF"/>
                    </a:solidFill>
                  </a:tcPr>
                </a:tc>
              </a:tr>
            </a:tbl>
          </a:graphicData>
        </a:graphic>
      </p:graphicFrame>
      <p:sp>
        <p:nvSpPr>
          <p:cNvPr id="13" name="text-37">
            <a:extLst xmlns:a="http://schemas.openxmlformats.org/drawingml/2006/main">
              <a:ext uri="{FF2B5EF4-FFF2-40B4-BE49-F238E27FC236}">
                <a16:creationId xmlns:a16="http://schemas.microsoft.com/office/drawing/2014/main" id="{EFE10164-A751-4C19-8B50-CA560FBE72B1}"/>
              </a:ext>
            </a:extLst>
          </p:cNvPr>
          <p:cNvSpPr>
            <a:spLocks xmlns:a="http://schemas.openxmlformats.org/drawingml/2006/main" noGrp="1"/>
          </p:cNvSpPr>
          <p:nvPr/>
        </p:nvSpPr>
        <p:spPr>
          <a:xfrm xmlns:a="http://schemas.openxmlformats.org/drawingml/2006/main">
            <a:off x="5010150" y="5810250"/>
            <a:ext cx="666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8737D"/>
                </a:solidFill>
                <a:latin typeface="Helvetica Neue"/>
                <a:ea typeface="Helvetica Neue"/>
                <a:cs typeface="Helvetica Neue"/>
              </a:defRPr>
            </a:defPPr>
          </a:lstStyle>
          <a:p xmlns:a="http://schemas.openxmlformats.org/drawingml/2006/main">
            <a:pPr algn="l">
              <a:defRPr sz="1575" b="0">
                <a:solidFill>
                  <a:srgbClr val="68737D"/>
                </a:solidFill>
                <a:latin typeface="Helvetica Neue"/>
                <a:ea typeface="Helvetica Neue"/>
                <a:cs typeface="Helvetica Neue"/>
              </a:defRPr>
            </a:pPr>
            <a:r>
              <a:rPr sz="1575" b="0">
                <a:solidFill>
                  <a:srgbClr val="68737D"/>
                </a:solidFill>
                <a:latin typeface="Helvetica Neue"/>
                <a:ea typeface="Helvetica Neue"/>
                <a:cs typeface="Helvetica Neue"/>
              </a:rPr>
              <a:t>Negative PN is a noisy measurement, not negative true risk.</a:t>
            </a:r>
          </a:p>
          <a:p xmlns:a="http://schemas.openxmlformats.org/drawingml/2006/main">
            <a:pPr algn="l">
              <a:defRPr sz="1575" b="0">
                <a:solidFill>
                  <a:srgbClr val="68737D"/>
                </a:solidFill>
                <a:latin typeface="Helvetica Neue"/>
                <a:ea typeface="Helvetica Neue"/>
                <a:cs typeface="Helvetica Neue"/>
              </a:defRPr>
            </a:pPr>
            <a:r>
              <a:rPr sz="1575" b="0">
                <a:solidFill>
                  <a:srgbClr val="68737D"/>
                </a:solidFill>
                <a:latin typeface="Helvetica Neue"/>
                <a:ea typeface="Helvetica Neue"/>
                <a:cs typeface="Helvetica Neue"/>
              </a:rPr>
              <a:t>No empirical U.S. mortgage sample or representative preview.</a:t>
            </a:r>
          </a:p>
        </p:txBody>
      </p:sp>
    </p:spTree>
    <p:extLst>
      <p:ext uri="{BB962C8B-B14F-4D97-AF65-F5344CB8AC3E}">
        <p14:creationId xmlns:p14="http://schemas.microsoft.com/office/powerpoint/2010/main" val="18089687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38">
            <a:extLst xmlns:a="http://schemas.openxmlformats.org/drawingml/2006/main">
              <a:ext uri="{FF2B5EF4-FFF2-40B4-BE49-F238E27FC236}">
                <a16:creationId xmlns:a16="http://schemas.microsoft.com/office/drawing/2014/main" id="{8B04C54B-3311-4E7E-96DE-6C79697D4EF0}"/>
              </a:ext>
            </a:extLst>
          </p:cNvPr>
          <p:cNvSpPr>
            <a:spLocks xmlns:a="http://schemas.openxmlformats.org/drawingml/2006/main" noGrp="1"/>
          </p:cNvSpPr>
          <p:nvPr/>
        </p:nvSpPr>
        <p:spPr>
          <a:xfrm xmlns:a="http://schemas.openxmlformats.org/drawingml/2006/main">
            <a:off x="533400" y="371475"/>
            <a:ext cx="1114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861F41"/>
                </a:solidFill>
                <a:latin typeface="Helvetica Neue"/>
                <a:ea typeface="Helvetica Neue"/>
                <a:cs typeface="Helvetica Neue"/>
              </a:defRPr>
            </a:defPPr>
          </a:lstStyle>
          <a:p xmlns:a="http://schemas.openxmlformats.org/drawingml/2006/main">
            <a:pPr algn="l">
              <a:defRPr sz="3150" b="1">
                <a:solidFill>
                  <a:srgbClr val="861F41"/>
                </a:solidFill>
                <a:latin typeface="Helvetica Neue"/>
                <a:ea typeface="Helvetica Neue"/>
                <a:cs typeface="Helvetica Neue"/>
              </a:defRPr>
            </a:pPr>
            <a:r>
              <a:rPr sz="3150" b="1">
                <a:solidFill>
                  <a:srgbClr val="861F41"/>
                </a:solidFill>
                <a:latin typeface="Helvetica Neue"/>
                <a:ea typeface="Helvetica Neue"/>
                <a:cs typeface="Helvetica Neue"/>
              </a:rPr>
              <a:t>Initial Bank, Group-Blind, and Oracle Results</a:t>
            </a:r>
          </a:p>
        </p:txBody>
      </p:sp>
      <p:sp>
        <p:nvSpPr>
          <p:cNvPr id="2" name="">
            <a:extLst xmlns:a="http://schemas.openxmlformats.org/drawingml/2006/main">
              <a:ext uri="{FF2B5EF4-FFF2-40B4-BE49-F238E27FC236}">
                <a16:creationId xmlns:a16="http://schemas.microsoft.com/office/drawing/2014/main" id="{FEA54D0E-D2BF-46C1-87D4-2048C3CCE7E3}"/>
              </a:ext>
            </a:extLst>
          </p:cNvPr>
          <p:cNvSpPr>
            <a:spLocks xmlns:a="http://schemas.openxmlformats.org/drawingml/2006/main" noGrp="1"/>
          </p:cNvSpPr>
          <p:nvPr/>
        </p:nvSpPr>
        <p:spPr>
          <a:xfrm xmlns:a="http://schemas.openxmlformats.org/drawingml/2006/main">
            <a:off x="533400" y="1057275"/>
            <a:ext cx="11125200" cy="0"/>
          </a:xfrm>
          <a:prstGeom xmlns:a="http://schemas.openxmlformats.org/drawingml/2006/main" prst="line">
            <a:avLst/>
          </a:prstGeom>
          <a:noFill xmlns:a="http://schemas.openxmlformats.org/drawingml/2006/main"/>
          <a:ln xmlns:a="http://schemas.openxmlformats.org/drawingml/2006/main" w="9525">
            <a:solidFill>
              <a:srgbClr val="D7DBDF"/>
            </a:solidFill>
          </a:ln>
        </p:spPr>
      </p:sp>
      <p:sp>
        <p:nvSpPr>
          <p:cNvPr id="3" name="text-39">
            <a:extLst xmlns:a="http://schemas.openxmlformats.org/drawingml/2006/main">
              <a:ext uri="{FF2B5EF4-FFF2-40B4-BE49-F238E27FC236}">
                <a16:creationId xmlns:a16="http://schemas.microsoft.com/office/drawing/2014/main" id="{90CB0B05-C3E4-4D5F-89D1-390C28DA480F}"/>
              </a:ext>
            </a:extLst>
          </p:cNvPr>
          <p:cNvSpPr>
            <a:spLocks xmlns:a="http://schemas.openxmlformats.org/drawingml/2006/main" noGrp="1"/>
          </p:cNvSpPr>
          <p:nvPr/>
        </p:nvSpPr>
        <p:spPr>
          <a:xfrm xmlns:a="http://schemas.openxmlformats.org/drawingml/2006/main">
            <a:off x="533400" y="65151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68737D"/>
                </a:solidFill>
                <a:latin typeface="Helvetica Neue"/>
                <a:ea typeface="Helvetica Neue"/>
                <a:cs typeface="Helvetica Neue"/>
              </a:defRPr>
            </a:defPPr>
          </a:lstStyle>
          <a:p xmlns:a="http://schemas.openxmlformats.org/drawingml/2006/main">
            <a:pPr algn="l">
              <a:defRPr sz="1013" b="0">
                <a:solidFill>
                  <a:srgbClr val="68737D"/>
                </a:solidFill>
                <a:latin typeface="Helvetica Neue"/>
                <a:ea typeface="Helvetica Neue"/>
                <a:cs typeface="Helvetica Neue"/>
              </a:defRPr>
            </a:pPr>
            <a:r>
              <a:rPr sz="1013" b="0">
                <a:solidFill>
                  <a:srgbClr val="68737D"/>
                </a:solidFill>
                <a:latin typeface="Helvetica Neue"/>
                <a:ea typeface="Helvetica Neue"/>
                <a:cs typeface="Helvetica Neue"/>
              </a:rPr>
              <a:t>Source: group_aware_vs_blind_portfolio.csv and group_aware_vs_blind_group_audit.csv, Steps 7A–7B.</a:t>
            </a:r>
          </a:p>
        </p:txBody>
      </p:sp>
      <p:sp>
        <p:nvSpPr>
          <p:cNvPr id="4" name="text-40">
            <a:extLst xmlns:a="http://schemas.openxmlformats.org/drawingml/2006/main">
              <a:ext uri="{FF2B5EF4-FFF2-40B4-BE49-F238E27FC236}">
                <a16:creationId xmlns:a16="http://schemas.microsoft.com/office/drawing/2014/main" id="{38823092-8284-406D-AA85-962FF5D63B4B}"/>
              </a:ext>
            </a:extLst>
          </p:cNvPr>
          <p:cNvSpPr>
            <a:spLocks xmlns:a="http://schemas.openxmlformats.org/drawingml/2006/main" noGrp="1"/>
          </p:cNvSpPr>
          <p:nvPr/>
        </p:nvSpPr>
        <p:spPr>
          <a:xfrm xmlns:a="http://schemas.openxmlformats.org/drawingml/2006/main">
            <a:off x="11506200" y="6515100"/>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8737D"/>
                </a:solidFill>
                <a:latin typeface="Helvetica Neue"/>
                <a:ea typeface="Helvetica Neue"/>
                <a:cs typeface="Helvetica Neue"/>
              </a:defRPr>
            </a:defPPr>
          </a:lstStyle>
          <a:p xmlns:a="http://schemas.openxmlformats.org/drawingml/2006/main">
            <a:pPr algn="r">
              <a:defRPr sz="1050" b="0">
                <a:solidFill>
                  <a:srgbClr val="68737D"/>
                </a:solidFill>
                <a:latin typeface="Helvetica Neue"/>
                <a:ea typeface="Helvetica Neue"/>
                <a:cs typeface="Helvetica Neue"/>
              </a:defRPr>
            </a:pPr>
            <a:r>
              <a:rPr sz="1050" b="0">
                <a:solidFill>
                  <a:srgbClr val="68737D"/>
                </a:solidFill>
                <a:latin typeface="Helvetica Neue"/>
                <a:ea typeface="Helvetica Neue"/>
                <a:cs typeface="Helvetica Neue"/>
              </a:rPr>
              <a:t>04</a:t>
            </a:r>
          </a:p>
        </p:txBody>
      </p:sp>
      <p:sp>
        <p:nvSpPr>
          <p:cNvPr id="5" name="text-41">
            <a:extLst xmlns:a="http://schemas.openxmlformats.org/drawingml/2006/main">
              <a:ext uri="{FF2B5EF4-FFF2-40B4-BE49-F238E27FC236}">
                <a16:creationId xmlns:a16="http://schemas.microsoft.com/office/drawing/2014/main" id="{6383F5C4-5405-4031-9559-03BCF8280EAD}"/>
              </a:ext>
            </a:extLst>
          </p:cNvPr>
          <p:cNvSpPr>
            <a:spLocks xmlns:a="http://schemas.openxmlformats.org/drawingml/2006/main" noGrp="1"/>
          </p:cNvSpPr>
          <p:nvPr/>
        </p:nvSpPr>
        <p:spPr>
          <a:xfrm xmlns:a="http://schemas.openxmlformats.org/drawingml/2006/main">
            <a:off x="533400" y="123825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737D"/>
                </a:solidFill>
                <a:latin typeface="Helvetica Neue"/>
                <a:ea typeface="Helvetica Neue"/>
                <a:cs typeface="Helvetica Neue"/>
              </a:defRPr>
            </a:defPPr>
          </a:lstStyle>
          <a:p xmlns:a="http://schemas.openxmlformats.org/drawingml/2006/main">
            <a:pPr algn="l">
              <a:defRPr sz="1800" b="0">
                <a:solidFill>
                  <a:srgbClr val="68737D"/>
                </a:solidFill>
                <a:latin typeface="Helvetica Neue"/>
                <a:ea typeface="Helvetica Neue"/>
                <a:cs typeface="Helvetica Neue"/>
              </a:defRPr>
            </a:pPr>
            <a:r>
              <a:rPr sz="1800" b="0">
                <a:solidFill>
                  <a:srgbClr val="68737D"/>
                </a:solidFill>
                <a:latin typeface="Helvetica Neue"/>
                <a:ea typeface="Helvetica Neue"/>
                <a:cs typeface="Helvetica Neue"/>
              </a:rPr>
              <a:t>Single synthetic noise realization, not a robustness result</a:t>
            </a:r>
          </a:p>
        </p:txBody>
      </p:sp>
      <p:sp>
        <p:nvSpPr>
          <p:cNvPr id="6" name="text-42">
            <a:extLst xmlns:a="http://schemas.openxmlformats.org/drawingml/2006/main">
              <a:ext uri="{FF2B5EF4-FFF2-40B4-BE49-F238E27FC236}">
                <a16:creationId xmlns:a16="http://schemas.microsoft.com/office/drawing/2014/main" id="{06D1A86E-CE40-45C7-88FA-EB3CCCC52C6C}"/>
              </a:ext>
            </a:extLst>
          </p:cNvPr>
          <p:cNvSpPr>
            <a:spLocks xmlns:a="http://schemas.openxmlformats.org/drawingml/2006/main" noGrp="1"/>
          </p:cNvSpPr>
          <p:nvPr/>
        </p:nvSpPr>
        <p:spPr>
          <a:xfrm xmlns:a="http://schemas.openxmlformats.org/drawingml/2006/main">
            <a:off x="533400" y="1838325"/>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53746"/>
                </a:solidFill>
                <a:latin typeface="Helvetica Neue"/>
                <a:ea typeface="Helvetica Neue"/>
                <a:cs typeface="Helvetica Neue"/>
              </a:defRPr>
            </a:defPPr>
          </a:lstStyle>
          <a:p xmlns:a="http://schemas.openxmlformats.org/drawingml/2006/main">
            <a:pPr algn="l">
              <a:defRPr sz="1875" b="1">
                <a:solidFill>
                  <a:srgbClr val="253746"/>
                </a:solidFill>
                <a:latin typeface="Helvetica Neue"/>
                <a:ea typeface="Helvetica Neue"/>
                <a:cs typeface="Helvetica Neue"/>
              </a:defRPr>
            </a:pPr>
            <a:r>
              <a:rPr sz="1875" b="1">
                <a:solidFill>
                  <a:srgbClr val="253746"/>
                </a:solidFill>
                <a:latin typeface="Helvetica Neue"/>
                <a:ea typeface="Helvetica Neue"/>
                <a:cs typeface="Helvetica Neue"/>
              </a:rPr>
              <a:t>Approval gap (B=1 minus B=0, pp)</a:t>
            </a:r>
          </a:p>
        </p:txBody>
      </p:sp>
      <p:graphicFrame>
        <p:nvGraphicFramePr>
          <p:cNvPr id="7" name="Chart">
            <a:extLst xmlns:a="http://schemas.openxmlformats.org/drawingml/2006/main">
              <a:ext uri="{FF2B5EF4-FFF2-40B4-BE49-F238E27FC236}">
                <a16:creationId xmlns:a16="http://schemas.microsoft.com/office/drawing/2014/main" id="{34659ECE-8698-4EA8-8C66-1A6CAEABD1C6}"/>
              </a:ext>
            </a:extLst>
          </p:cNvPr>
          <p:cNvGraphicFramePr/>
          <p:nvPr/>
        </p:nvGraphicFramePr>
        <p:xfrm>
          <a:off xmlns:a="http://schemas.openxmlformats.org/drawingml/2006/main" x="457200" y="2333625"/>
          <a:ext xmlns:a="http://schemas.openxmlformats.org/drawingml/2006/main" cx="6334125" cy="2990850"/>
        </p:xfrm>
        <a:graphic xmlns:a="http://schemas.openxmlformats.org/drawingml/2006/main">
          <a:graphicData uri="http://schemas.openxmlformats.org/drawingml/2006/chart">
            <c:chart xmlns:r="http://schemas.openxmlformats.org/officeDocument/2006/relationships" xmlns:c="http://schemas.openxmlformats.org/drawingml/2006/chart" r:id="R049c7c3d1ebf4b32"/>
          </a:graphicData>
        </a:graphic>
      </p:graphicFrame>
      <p:sp>
        <p:nvSpPr>
          <p:cNvPr id="8" name="text-43">
            <a:extLst xmlns:a="http://schemas.openxmlformats.org/drawingml/2006/main">
              <a:ext uri="{FF2B5EF4-FFF2-40B4-BE49-F238E27FC236}">
                <a16:creationId xmlns:a16="http://schemas.microsoft.com/office/drawing/2014/main" id="{3F263097-6A41-4728-84A8-9024226B045D}"/>
              </a:ext>
            </a:extLst>
          </p:cNvPr>
          <p:cNvSpPr>
            <a:spLocks xmlns:a="http://schemas.openxmlformats.org/drawingml/2006/main" noGrp="1"/>
          </p:cNvSpPr>
          <p:nvPr/>
        </p:nvSpPr>
        <p:spPr>
          <a:xfrm xmlns:a="http://schemas.openxmlformats.org/drawingml/2006/main">
            <a:off x="7620000" y="1847850"/>
            <a:ext cx="4048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53746"/>
                </a:solidFill>
                <a:latin typeface="Helvetica Neue"/>
                <a:ea typeface="Helvetica Neue"/>
                <a:cs typeface="Helvetica Neue"/>
              </a:defRPr>
            </a:defPPr>
          </a:lstStyle>
          <a:p xmlns:a="http://schemas.openxmlformats.org/drawingml/2006/main">
            <a:pPr algn="l">
              <a:defRPr sz="1875" b="1">
                <a:solidFill>
                  <a:srgbClr val="253746"/>
                </a:solidFill>
                <a:latin typeface="Helvetica Neue"/>
                <a:ea typeface="Helvetica Neue"/>
                <a:cs typeface="Helvetica Neue"/>
              </a:defRPr>
            </a:pPr>
            <a:r>
              <a:rPr sz="1875" b="1">
                <a:solidFill>
                  <a:srgbClr val="253746"/>
                </a:solidFill>
                <a:latin typeface="Helvetica Neue"/>
                <a:ea typeface="Helvetica Neue"/>
                <a:cs typeface="Helvetica Neue"/>
              </a:rPr>
              <a:t>True expected portfolio profit</a:t>
            </a:r>
          </a:p>
        </p:txBody>
      </p:sp>
      <p:sp>
        <p:nvSpPr>
          <p:cNvPr id="9" name="text-44">
            <a:extLst xmlns:a="http://schemas.openxmlformats.org/drawingml/2006/main">
              <a:ext uri="{FF2B5EF4-FFF2-40B4-BE49-F238E27FC236}">
                <a16:creationId xmlns:a16="http://schemas.microsoft.com/office/drawing/2014/main" id="{75B31E4E-3FE6-4A8B-A2F5-C5055F398017}"/>
              </a:ext>
            </a:extLst>
          </p:cNvPr>
          <p:cNvSpPr>
            <a:spLocks xmlns:a="http://schemas.openxmlformats.org/drawingml/2006/main" noGrp="1"/>
          </p:cNvSpPr>
          <p:nvPr/>
        </p:nvSpPr>
        <p:spPr>
          <a:xfrm xmlns:a="http://schemas.openxmlformats.org/drawingml/2006/main">
            <a:off x="7620000" y="2447925"/>
            <a:ext cx="4048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861F41"/>
                </a:solidFill>
                <a:latin typeface="Helvetica Neue"/>
                <a:ea typeface="Helvetica Neue"/>
                <a:cs typeface="Helvetica Neue"/>
              </a:defRPr>
            </a:defPPr>
          </a:lstStyle>
          <a:p xmlns:a="http://schemas.openxmlformats.org/drawingml/2006/main">
            <a:pPr algn="l">
              <a:defRPr sz="1725" b="0">
                <a:solidFill>
                  <a:srgbClr val="861F41"/>
                </a:solidFill>
                <a:latin typeface="Helvetica Neue"/>
                <a:ea typeface="Helvetica Neue"/>
                <a:cs typeface="Helvetica Neue"/>
              </a:defRPr>
            </a:pPr>
            <a:r>
              <a:rPr sz="1725" b="0">
                <a:solidFill>
                  <a:srgbClr val="861F41"/>
                </a:solidFill>
                <a:latin typeface="Helvetica Neue"/>
                <a:ea typeface="Helvetica Neue"/>
                <a:cs typeface="Helvetica Neue"/>
              </a:rPr>
              <a:t>Group-aware bank</a:t>
            </a:r>
          </a:p>
        </p:txBody>
      </p:sp>
      <p:sp>
        <p:nvSpPr>
          <p:cNvPr id="10" name="text-45">
            <a:extLst xmlns:a="http://schemas.openxmlformats.org/drawingml/2006/main">
              <a:ext uri="{FF2B5EF4-FFF2-40B4-BE49-F238E27FC236}">
                <a16:creationId xmlns:a16="http://schemas.microsoft.com/office/drawing/2014/main" id="{CD06DDFC-F428-4D11-8C78-AC77E3A98EA6}"/>
              </a:ext>
            </a:extLst>
          </p:cNvPr>
          <p:cNvSpPr>
            <a:spLocks xmlns:a="http://schemas.openxmlformats.org/drawingml/2006/main" noGrp="1"/>
          </p:cNvSpPr>
          <p:nvPr/>
        </p:nvSpPr>
        <p:spPr>
          <a:xfrm xmlns:a="http://schemas.openxmlformats.org/drawingml/2006/main">
            <a:off x="7620000" y="2781300"/>
            <a:ext cx="4048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861F41"/>
                </a:solidFill>
                <a:latin typeface="Helvetica Neue"/>
                <a:ea typeface="Helvetica Neue"/>
                <a:cs typeface="Helvetica Neue"/>
              </a:defRPr>
            </a:defPPr>
          </a:lstStyle>
          <a:p xmlns:a="http://schemas.openxmlformats.org/drawingml/2006/main">
            <a:pPr algn="l">
              <a:defRPr sz="2925" b="1">
                <a:solidFill>
                  <a:srgbClr val="861F41"/>
                </a:solidFill>
                <a:latin typeface="Helvetica Neue"/>
                <a:ea typeface="Helvetica Neue"/>
                <a:cs typeface="Helvetica Neue"/>
              </a:defRPr>
            </a:pPr>
            <a:r>
              <a:rPr sz="2925" b="1">
                <a:solidFill>
                  <a:srgbClr val="861F41"/>
                </a:solidFill>
                <a:latin typeface="Helvetica Neue"/>
                <a:ea typeface="Helvetica Neue"/>
                <a:cs typeface="Helvetica Neue"/>
              </a:rPr>
              <a:t>$2.3661B</a:t>
            </a:r>
          </a:p>
        </p:txBody>
      </p:sp>
      <p:sp>
        <p:nvSpPr>
          <p:cNvPr id="11" name="text-46">
            <a:extLst xmlns:a="http://schemas.openxmlformats.org/drawingml/2006/main">
              <a:ext uri="{FF2B5EF4-FFF2-40B4-BE49-F238E27FC236}">
                <a16:creationId xmlns:a16="http://schemas.microsoft.com/office/drawing/2014/main" id="{654911AF-D890-43D2-9EEC-84EB1E4C04E5}"/>
              </a:ext>
            </a:extLst>
          </p:cNvPr>
          <p:cNvSpPr>
            <a:spLocks xmlns:a="http://schemas.openxmlformats.org/drawingml/2006/main" noGrp="1"/>
          </p:cNvSpPr>
          <p:nvPr/>
        </p:nvSpPr>
        <p:spPr>
          <a:xfrm xmlns:a="http://schemas.openxmlformats.org/drawingml/2006/main">
            <a:off x="7620000" y="3343275"/>
            <a:ext cx="4048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5751F"/>
                </a:solidFill>
                <a:latin typeface="Helvetica Neue"/>
                <a:ea typeface="Helvetica Neue"/>
                <a:cs typeface="Helvetica Neue"/>
              </a:defRPr>
            </a:defPPr>
          </a:lstStyle>
          <a:p xmlns:a="http://schemas.openxmlformats.org/drawingml/2006/main">
            <a:pPr algn="l">
              <a:defRPr sz="1725" b="0">
                <a:solidFill>
                  <a:srgbClr val="E5751F"/>
                </a:solidFill>
                <a:latin typeface="Helvetica Neue"/>
                <a:ea typeface="Helvetica Neue"/>
                <a:cs typeface="Helvetica Neue"/>
              </a:defRPr>
            </a:pPr>
            <a:r>
              <a:rPr sz="1725" b="0">
                <a:solidFill>
                  <a:srgbClr val="E5751F"/>
                </a:solidFill>
                <a:latin typeface="Helvetica Neue"/>
                <a:ea typeface="Helvetica Neue"/>
                <a:cs typeface="Helvetica Neue"/>
              </a:rPr>
              <a:t>Group-blind bank</a:t>
            </a:r>
          </a:p>
        </p:txBody>
      </p:sp>
      <p:sp>
        <p:nvSpPr>
          <p:cNvPr id="12" name="text-47">
            <a:extLst xmlns:a="http://schemas.openxmlformats.org/drawingml/2006/main">
              <a:ext uri="{FF2B5EF4-FFF2-40B4-BE49-F238E27FC236}">
                <a16:creationId xmlns:a16="http://schemas.microsoft.com/office/drawing/2014/main" id="{719CBFA2-4A61-4A11-A617-C7341063A652}"/>
              </a:ext>
            </a:extLst>
          </p:cNvPr>
          <p:cNvSpPr>
            <a:spLocks xmlns:a="http://schemas.openxmlformats.org/drawingml/2006/main" noGrp="1"/>
          </p:cNvSpPr>
          <p:nvPr/>
        </p:nvSpPr>
        <p:spPr>
          <a:xfrm xmlns:a="http://schemas.openxmlformats.org/drawingml/2006/main">
            <a:off x="7620000" y="3676650"/>
            <a:ext cx="4048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E5751F"/>
                </a:solidFill>
                <a:latin typeface="Helvetica Neue"/>
                <a:ea typeface="Helvetica Neue"/>
                <a:cs typeface="Helvetica Neue"/>
              </a:defRPr>
            </a:defPPr>
          </a:lstStyle>
          <a:p xmlns:a="http://schemas.openxmlformats.org/drawingml/2006/main">
            <a:pPr algn="l">
              <a:defRPr sz="2925" b="1">
                <a:solidFill>
                  <a:srgbClr val="E5751F"/>
                </a:solidFill>
                <a:latin typeface="Helvetica Neue"/>
                <a:ea typeface="Helvetica Neue"/>
                <a:cs typeface="Helvetica Neue"/>
              </a:defRPr>
            </a:pPr>
            <a:r>
              <a:rPr sz="2925" b="1">
                <a:solidFill>
                  <a:srgbClr val="E5751F"/>
                </a:solidFill>
                <a:latin typeface="Helvetica Neue"/>
                <a:ea typeface="Helvetica Neue"/>
                <a:cs typeface="Helvetica Neue"/>
              </a:rPr>
              <a:t>$2.3666B</a:t>
            </a:r>
          </a:p>
        </p:txBody>
      </p:sp>
      <p:sp>
        <p:nvSpPr>
          <p:cNvPr id="13" name="text-48">
            <a:extLst xmlns:a="http://schemas.openxmlformats.org/drawingml/2006/main">
              <a:ext uri="{FF2B5EF4-FFF2-40B4-BE49-F238E27FC236}">
                <a16:creationId xmlns:a16="http://schemas.microsoft.com/office/drawing/2014/main" id="{7B0155F3-190F-44AC-B68C-5CE0D4EA90DD}"/>
              </a:ext>
            </a:extLst>
          </p:cNvPr>
          <p:cNvSpPr>
            <a:spLocks xmlns:a="http://schemas.openxmlformats.org/drawingml/2006/main" noGrp="1"/>
          </p:cNvSpPr>
          <p:nvPr/>
        </p:nvSpPr>
        <p:spPr>
          <a:xfrm xmlns:a="http://schemas.openxmlformats.org/drawingml/2006/main">
            <a:off x="7620000" y="4238625"/>
            <a:ext cx="4048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737D"/>
                </a:solidFill>
                <a:latin typeface="Helvetica Neue"/>
                <a:ea typeface="Helvetica Neue"/>
                <a:cs typeface="Helvetica Neue"/>
              </a:defRPr>
            </a:defPPr>
          </a:lstStyle>
          <a:p xmlns:a="http://schemas.openxmlformats.org/drawingml/2006/main">
            <a:pPr algn="l">
              <a:defRPr sz="1725" b="0">
                <a:solidFill>
                  <a:srgbClr val="68737D"/>
                </a:solidFill>
                <a:latin typeface="Helvetica Neue"/>
                <a:ea typeface="Helvetica Neue"/>
                <a:cs typeface="Helvetica Neue"/>
              </a:defRPr>
            </a:pPr>
            <a:r>
              <a:rPr sz="1725" b="0">
                <a:solidFill>
                  <a:srgbClr val="68737D"/>
                </a:solidFill>
                <a:latin typeface="Helvetica Neue"/>
                <a:ea typeface="Helvetica Neue"/>
                <a:cs typeface="Helvetica Neue"/>
              </a:rPr>
              <a:t>True-risk oracle</a:t>
            </a:r>
          </a:p>
        </p:txBody>
      </p:sp>
      <p:sp>
        <p:nvSpPr>
          <p:cNvPr id="14" name="text-49">
            <a:extLst xmlns:a="http://schemas.openxmlformats.org/drawingml/2006/main">
              <a:ext uri="{FF2B5EF4-FFF2-40B4-BE49-F238E27FC236}">
                <a16:creationId xmlns:a16="http://schemas.microsoft.com/office/drawing/2014/main" id="{62B74CCF-1BFF-4222-AB88-A783FBD56DAD}"/>
              </a:ext>
            </a:extLst>
          </p:cNvPr>
          <p:cNvSpPr>
            <a:spLocks xmlns:a="http://schemas.openxmlformats.org/drawingml/2006/main" noGrp="1"/>
          </p:cNvSpPr>
          <p:nvPr/>
        </p:nvSpPr>
        <p:spPr>
          <a:xfrm xmlns:a="http://schemas.openxmlformats.org/drawingml/2006/main">
            <a:off x="7620000" y="4572000"/>
            <a:ext cx="4048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68737D"/>
                </a:solidFill>
                <a:latin typeface="Helvetica Neue"/>
                <a:ea typeface="Helvetica Neue"/>
                <a:cs typeface="Helvetica Neue"/>
              </a:defRPr>
            </a:defPPr>
          </a:lstStyle>
          <a:p xmlns:a="http://schemas.openxmlformats.org/drawingml/2006/main">
            <a:pPr algn="l">
              <a:defRPr sz="2925" b="1">
                <a:solidFill>
                  <a:srgbClr val="68737D"/>
                </a:solidFill>
                <a:latin typeface="Helvetica Neue"/>
                <a:ea typeface="Helvetica Neue"/>
                <a:cs typeface="Helvetica Neue"/>
              </a:defRPr>
            </a:pPr>
            <a:r>
              <a:rPr sz="2925" b="1">
                <a:solidFill>
                  <a:srgbClr val="68737D"/>
                </a:solidFill>
                <a:latin typeface="Helvetica Neue"/>
                <a:ea typeface="Helvetica Neue"/>
                <a:cs typeface="Helvetica Neue"/>
              </a:rPr>
              <a:t>$2.3702B</a:t>
            </a:r>
          </a:p>
        </p:txBody>
      </p:sp>
      <p:sp>
        <p:nvSpPr>
          <p:cNvPr id="15" name="text-50">
            <a:extLst xmlns:a="http://schemas.openxmlformats.org/drawingml/2006/main">
              <a:ext uri="{FF2B5EF4-FFF2-40B4-BE49-F238E27FC236}">
                <a16:creationId xmlns:a16="http://schemas.microsoft.com/office/drawing/2014/main" id="{A77926FB-185E-4EEF-A6C0-FC7FADBCD530}"/>
              </a:ext>
            </a:extLst>
          </p:cNvPr>
          <p:cNvSpPr>
            <a:spLocks xmlns:a="http://schemas.openxmlformats.org/drawingml/2006/main" noGrp="1"/>
          </p:cNvSpPr>
          <p:nvPr/>
        </p:nvSpPr>
        <p:spPr>
          <a:xfrm xmlns:a="http://schemas.openxmlformats.org/drawingml/2006/main">
            <a:off x="533400" y="551497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861F41"/>
                </a:solidFill>
                <a:latin typeface="Helvetica Neue"/>
                <a:ea typeface="Helvetica Neue"/>
                <a:cs typeface="Helvetica Neue"/>
              </a:defRPr>
            </a:defPPr>
          </a:lstStyle>
          <a:p xmlns:a="http://schemas.openxmlformats.org/drawingml/2006/main">
            <a:pPr algn="l">
              <a:defRPr sz="2100" b="1">
                <a:solidFill>
                  <a:srgbClr val="861F41"/>
                </a:solidFill>
                <a:latin typeface="Helvetica Neue"/>
                <a:ea typeface="Helvetica Neue"/>
                <a:cs typeface="Helvetica Neue"/>
              </a:defRPr>
            </a:pPr>
            <a:r>
              <a:rPr sz="2100" b="1">
                <a:solidFill>
                  <a:srgbClr val="861F41"/>
                </a:solidFill>
                <a:latin typeface="Helvetica Neue"/>
                <a:ea typeface="Helvetica Neue"/>
                <a:cs typeface="Helvetica Neue"/>
              </a:rPr>
              <a:t>Excluding B changed the original approval gap from −14.39 pp to +0.16 pp.</a:t>
            </a:r>
          </a:p>
        </p:txBody>
      </p:sp>
      <p:sp>
        <p:nvSpPr>
          <p:cNvPr id="16" name="text-51">
            <a:extLst xmlns:a="http://schemas.openxmlformats.org/drawingml/2006/main">
              <a:ext uri="{FF2B5EF4-FFF2-40B4-BE49-F238E27FC236}">
                <a16:creationId xmlns:a16="http://schemas.microsoft.com/office/drawing/2014/main" id="{20061062-C8AF-4E6D-A538-C096EB634234}"/>
              </a:ext>
            </a:extLst>
          </p:cNvPr>
          <p:cNvSpPr>
            <a:spLocks xmlns:a="http://schemas.openxmlformats.org/drawingml/2006/main" noGrp="1"/>
          </p:cNvSpPr>
          <p:nvPr/>
        </p:nvSpPr>
        <p:spPr>
          <a:xfrm xmlns:a="http://schemas.openxmlformats.org/drawingml/2006/main">
            <a:off x="533400" y="6000750"/>
            <a:ext cx="1112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8737D"/>
                </a:solidFill>
                <a:latin typeface="Helvetica Neue"/>
                <a:ea typeface="Helvetica Neue"/>
                <a:cs typeface="Helvetica Neue"/>
              </a:defRPr>
            </a:defPPr>
          </a:lstStyle>
          <a:p xmlns:a="http://schemas.openxmlformats.org/drawingml/2006/main">
            <a:pPr algn="l">
              <a:defRPr sz="1575" b="0">
                <a:solidFill>
                  <a:srgbClr val="68737D"/>
                </a:solidFill>
                <a:latin typeface="Helvetica Neue"/>
                <a:ea typeface="Helvetica Neue"/>
                <a:cs typeface="Helvetica Neue"/>
              </a:defRPr>
            </a:pPr>
            <a:r>
              <a:rPr sz="1575" b="0">
                <a:solidFill>
                  <a:srgbClr val="68737D"/>
                </a:solidFill>
                <a:latin typeface="Helvetica Neue"/>
                <a:ea typeface="Helvetica Neue"/>
                <a:cs typeface="Helvetica Neue"/>
              </a:rPr>
              <a:t>Different risk rankings create different feasible cutoff portfolios.</a:t>
            </a:r>
          </a:p>
          <a:p xmlns:a="http://schemas.openxmlformats.org/drawingml/2006/main">
            <a:pPr algn="l">
              <a:defRPr sz="1575" b="0">
                <a:solidFill>
                  <a:srgbClr val="68737D"/>
                </a:solidFill>
                <a:latin typeface="Helvetica Neue"/>
                <a:ea typeface="Helvetica Neue"/>
                <a:cs typeface="Helvetica Neue"/>
              </a:defRPr>
            </a:pPr>
            <a:r>
              <a:rPr sz="1575" b="0">
                <a:solidFill>
                  <a:srgbClr val="68737D"/>
                </a:solidFill>
                <a:latin typeface="Helvetica Neue"/>
                <a:ea typeface="Helvetica Neue"/>
                <a:cs typeface="Helvetica Neue"/>
              </a:rPr>
              <a:t>The oracle is neither a fairness rule nor an unrestricted optimality bound.</a:t>
            </a:r>
          </a:p>
        </p:txBody>
      </p:sp>
    </p:spTree>
    <p:extLst>
      <p:ext uri="{BB962C8B-B14F-4D97-AF65-F5344CB8AC3E}">
        <p14:creationId xmlns:p14="http://schemas.microsoft.com/office/powerpoint/2010/main" val="6203233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7E7493F2-6895-4E88-83D9-0CAD3B9C2674}"/>
              </a:ext>
            </a:extLst>
          </p:cNvPr>
          <p:cNvCxnSpPr>
            <a:stCxn xmlns:a="http://schemas.openxmlformats.org/drawingml/2006/main" id="10" idx="2"/>
            <a:endCxn xmlns:a="http://schemas.openxmlformats.org/drawingml/2006/main" id="12" idx="0"/>
          </p:cNvCxnSpPr>
          <p:nvPr/>
        </p:nvCxnSpPr>
        <p:spPr>
          <a:xfrm xmlns:a="http://schemas.openxmlformats.org/drawingml/2006/main">
            <a:off x="3319463" y="5295900"/>
            <a:ext cx="0" cy="352425"/>
          </a:xfrm>
          <a:prstGeom xmlns:a="http://schemas.openxmlformats.org/drawingml/2006/main" prst="straightConnector1">
            <a:avLst/>
          </a:prstGeom>
          <a:ln xmlns:a="http://schemas.openxmlformats.org/drawingml/2006/main" w="14288">
            <a:solidFill>
              <a:srgbClr val="68737D"/>
            </a:solidFill>
            <a:tailEnd type="triangle" w="med" len="med"/>
          </a:ln>
        </p:spPr>
      </p:cxnSp>
      <p:cxnSp>
        <p:nvCxnSpPr>
          <p:cNvPr id="11" name="">
            <a:extLst xmlns:a="http://schemas.openxmlformats.org/drawingml/2006/main">
              <a:ext uri="{FF2B5EF4-FFF2-40B4-BE49-F238E27FC236}">
                <a16:creationId xmlns:a16="http://schemas.microsoft.com/office/drawing/2014/main" id="{84BA3A47-AA91-4453-99CA-C63DCAAA0F12}"/>
              </a:ext>
            </a:extLst>
          </p:cNvPr>
          <p:cNvCxnSpPr>
            <a:stCxn xmlns:a="http://schemas.openxmlformats.org/drawingml/2006/main" id="8" idx="2"/>
            <a:endCxn xmlns:a="http://schemas.openxmlformats.org/drawingml/2006/main" id="10" idx="0"/>
          </p:cNvCxnSpPr>
          <p:nvPr/>
        </p:nvCxnSpPr>
        <p:spPr>
          <a:xfrm xmlns:a="http://schemas.openxmlformats.org/drawingml/2006/main">
            <a:off x="3319463" y="4362450"/>
            <a:ext cx="0" cy="352425"/>
          </a:xfrm>
          <a:prstGeom xmlns:a="http://schemas.openxmlformats.org/drawingml/2006/main" prst="straightConnector1">
            <a:avLst/>
          </a:prstGeom>
          <a:ln xmlns:a="http://schemas.openxmlformats.org/drawingml/2006/main" w="14288">
            <a:solidFill>
              <a:srgbClr val="68737D"/>
            </a:solidFill>
            <a:tailEnd type="triangle" w="med" len="med"/>
          </a:ln>
        </p:spPr>
      </p:cxnSp>
      <p:cxnSp>
        <p:nvCxnSpPr>
          <p:cNvPr id="9" name="">
            <a:extLst xmlns:a="http://schemas.openxmlformats.org/drawingml/2006/main">
              <a:ext uri="{FF2B5EF4-FFF2-40B4-BE49-F238E27FC236}">
                <a16:creationId xmlns:a16="http://schemas.microsoft.com/office/drawing/2014/main" id="{D807BE2B-2DC3-4DF7-AE58-83418FF949DA}"/>
              </a:ext>
            </a:extLst>
          </p:cNvPr>
          <p:cNvCxnSpPr>
            <a:stCxn xmlns:a="http://schemas.openxmlformats.org/drawingml/2006/main" id="6" idx="2"/>
            <a:endCxn xmlns:a="http://schemas.openxmlformats.org/drawingml/2006/main" id="8" idx="0"/>
          </p:cNvCxnSpPr>
          <p:nvPr/>
        </p:nvCxnSpPr>
        <p:spPr>
          <a:xfrm xmlns:a="http://schemas.openxmlformats.org/drawingml/2006/main">
            <a:off x="3319463" y="3429000"/>
            <a:ext cx="0" cy="352425"/>
          </a:xfrm>
          <a:prstGeom xmlns:a="http://schemas.openxmlformats.org/drawingml/2006/main" prst="straightConnector1">
            <a:avLst/>
          </a:prstGeom>
          <a:ln xmlns:a="http://schemas.openxmlformats.org/drawingml/2006/main" w="14288">
            <a:solidFill>
              <a:srgbClr val="68737D"/>
            </a:solidFill>
            <a:tailEnd type="triangle" w="med" len="med"/>
          </a:ln>
        </p:spPr>
      </p:cxnSp>
      <p:cxnSp>
        <p:nvCxnSpPr>
          <p:cNvPr id="7" name="">
            <a:extLst xmlns:a="http://schemas.openxmlformats.org/drawingml/2006/main">
              <a:ext uri="{FF2B5EF4-FFF2-40B4-BE49-F238E27FC236}">
                <a16:creationId xmlns:a16="http://schemas.microsoft.com/office/drawing/2014/main" id="{3CC0B50C-1FB0-4884-95D6-A5A899CDA386}"/>
              </a:ext>
            </a:extLst>
          </p:cNvPr>
          <p:cNvCxnSpPr>
            <a:stCxn xmlns:a="http://schemas.openxmlformats.org/drawingml/2006/main" id="5" idx="2"/>
            <a:endCxn xmlns:a="http://schemas.openxmlformats.org/drawingml/2006/main" id="6" idx="0"/>
          </p:cNvCxnSpPr>
          <p:nvPr/>
        </p:nvCxnSpPr>
        <p:spPr>
          <a:xfrm xmlns:a="http://schemas.openxmlformats.org/drawingml/2006/main">
            <a:off x="3319463" y="2362200"/>
            <a:ext cx="0" cy="361950"/>
          </a:xfrm>
          <a:prstGeom xmlns:a="http://schemas.openxmlformats.org/drawingml/2006/main" prst="straightConnector1">
            <a:avLst/>
          </a:prstGeom>
          <a:ln xmlns:a="http://schemas.openxmlformats.org/drawingml/2006/main" w="14288">
            <a:solidFill>
              <a:srgbClr val="68737D"/>
            </a:solidFill>
            <a:tailEnd type="triangle" w="med" len="med"/>
          </a:ln>
        </p:spPr>
      </p:cxnSp>
      <p:sp>
        <p:nvSpPr>
          <p:cNvPr id="24" name="text-52">
            <a:extLst xmlns:a="http://schemas.openxmlformats.org/drawingml/2006/main">
              <a:ext uri="{FF2B5EF4-FFF2-40B4-BE49-F238E27FC236}">
                <a16:creationId xmlns:a16="http://schemas.microsoft.com/office/drawing/2014/main" id="{70DFE193-47D5-44F1-90A1-1214DCFA0F48}"/>
              </a:ext>
            </a:extLst>
          </p:cNvPr>
          <p:cNvSpPr>
            <a:spLocks xmlns:a="http://schemas.openxmlformats.org/drawingml/2006/main" noGrp="1"/>
          </p:cNvSpPr>
          <p:nvPr/>
        </p:nvSpPr>
        <p:spPr>
          <a:xfrm xmlns:a="http://schemas.openxmlformats.org/drawingml/2006/main">
            <a:off x="533400" y="371475"/>
            <a:ext cx="1114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861F41"/>
                </a:solidFill>
                <a:latin typeface="Helvetica Neue"/>
                <a:ea typeface="Helvetica Neue"/>
                <a:cs typeface="Helvetica Neue"/>
              </a:defRPr>
            </a:defPPr>
          </a:lstStyle>
          <a:p xmlns:a="http://schemas.openxmlformats.org/drawingml/2006/main">
            <a:pPr algn="l">
              <a:defRPr sz="3150" b="1">
                <a:solidFill>
                  <a:srgbClr val="861F41"/>
                </a:solidFill>
                <a:latin typeface="Helvetica Neue"/>
                <a:ea typeface="Helvetica Neue"/>
                <a:cs typeface="Helvetica Neue"/>
              </a:defRPr>
            </a:pPr>
            <a:r>
              <a:rPr sz="3150" b="1">
                <a:solidFill>
                  <a:srgbClr val="861F41"/>
                </a:solidFill>
                <a:latin typeface="Helvetica Neue"/>
                <a:ea typeface="Helvetica Neue"/>
                <a:cs typeface="Helvetica Neue"/>
              </a:rPr>
              <a:t>Testing Whether the Result Survives New Noise</a:t>
            </a:r>
          </a:p>
        </p:txBody>
      </p:sp>
      <p:sp>
        <p:nvSpPr>
          <p:cNvPr id="2" name="">
            <a:extLst xmlns:a="http://schemas.openxmlformats.org/drawingml/2006/main">
              <a:ext uri="{FF2B5EF4-FFF2-40B4-BE49-F238E27FC236}">
                <a16:creationId xmlns:a16="http://schemas.microsoft.com/office/drawing/2014/main" id="{C5E6BDCE-CC6F-42FE-B262-C661051EAC6C}"/>
              </a:ext>
            </a:extLst>
          </p:cNvPr>
          <p:cNvSpPr>
            <a:spLocks xmlns:a="http://schemas.openxmlformats.org/drawingml/2006/main" noGrp="1"/>
          </p:cNvSpPr>
          <p:nvPr/>
        </p:nvSpPr>
        <p:spPr>
          <a:xfrm xmlns:a="http://schemas.openxmlformats.org/drawingml/2006/main">
            <a:off x="533400" y="1057275"/>
            <a:ext cx="11125200" cy="0"/>
          </a:xfrm>
          <a:prstGeom xmlns:a="http://schemas.openxmlformats.org/drawingml/2006/main" prst="line">
            <a:avLst/>
          </a:prstGeom>
          <a:noFill xmlns:a="http://schemas.openxmlformats.org/drawingml/2006/main"/>
          <a:ln xmlns:a="http://schemas.openxmlformats.org/drawingml/2006/main" w="9525">
            <a:solidFill>
              <a:srgbClr val="D7DBDF"/>
            </a:solidFill>
          </a:ln>
        </p:spPr>
      </p:sp>
      <p:sp>
        <p:nvSpPr>
          <p:cNvPr id="3" name="text-53">
            <a:extLst xmlns:a="http://schemas.openxmlformats.org/drawingml/2006/main">
              <a:ext uri="{FF2B5EF4-FFF2-40B4-BE49-F238E27FC236}">
                <a16:creationId xmlns:a16="http://schemas.microsoft.com/office/drawing/2014/main" id="{6F3ED617-A308-46B6-921D-0E7CA4EC2B5D}"/>
              </a:ext>
            </a:extLst>
          </p:cNvPr>
          <p:cNvSpPr>
            <a:spLocks xmlns:a="http://schemas.openxmlformats.org/drawingml/2006/main" noGrp="1"/>
          </p:cNvSpPr>
          <p:nvPr/>
        </p:nvSpPr>
        <p:spPr>
          <a:xfrm xmlns:a="http://schemas.openxmlformats.org/drawingml/2006/main">
            <a:off x="533400" y="65151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68737D"/>
                </a:solidFill>
                <a:latin typeface="Helvetica Neue"/>
                <a:ea typeface="Helvetica Neue"/>
                <a:cs typeface="Helvetica Neue"/>
              </a:defRPr>
            </a:defPPr>
          </a:lstStyle>
          <a:p xmlns:a="http://schemas.openxmlformats.org/drawingml/2006/main">
            <a:pPr algn="l">
              <a:defRPr sz="1013" b="0">
                <a:solidFill>
                  <a:srgbClr val="68737D"/>
                </a:solidFill>
                <a:latin typeface="Helvetica Neue"/>
                <a:ea typeface="Helvetica Neue"/>
                <a:cs typeface="Helvetica Neue"/>
              </a:defRPr>
            </a:pPr>
            <a:r>
              <a:rPr sz="1013" b="0">
                <a:solidFill>
                  <a:srgbClr val="68737D"/>
                </a:solidFill>
                <a:latin typeface="Helvetica Neue"/>
                <a:ea typeface="Helvetica Neue"/>
                <a:cs typeface="Helvetica Neue"/>
              </a:rPr>
              <a:t>Source: Step 8B manifest, immutable replication records, noise_full_results.csv. Indices 0–199, master seed 499408.</a:t>
            </a:r>
          </a:p>
        </p:txBody>
      </p:sp>
      <p:sp>
        <p:nvSpPr>
          <p:cNvPr id="4" name="text-54">
            <a:extLst xmlns:a="http://schemas.openxmlformats.org/drawingml/2006/main">
              <a:ext uri="{FF2B5EF4-FFF2-40B4-BE49-F238E27FC236}">
                <a16:creationId xmlns:a16="http://schemas.microsoft.com/office/drawing/2014/main" id="{EBC2EB2A-859F-4752-B739-E1DF39AC7F48}"/>
              </a:ext>
            </a:extLst>
          </p:cNvPr>
          <p:cNvSpPr>
            <a:spLocks xmlns:a="http://schemas.openxmlformats.org/drawingml/2006/main" noGrp="1"/>
          </p:cNvSpPr>
          <p:nvPr/>
        </p:nvSpPr>
        <p:spPr>
          <a:xfrm xmlns:a="http://schemas.openxmlformats.org/drawingml/2006/main">
            <a:off x="11506200" y="6515100"/>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8737D"/>
                </a:solidFill>
                <a:latin typeface="Helvetica Neue"/>
                <a:ea typeface="Helvetica Neue"/>
                <a:cs typeface="Helvetica Neue"/>
              </a:defRPr>
            </a:defPPr>
          </a:lstStyle>
          <a:p xmlns:a="http://schemas.openxmlformats.org/drawingml/2006/main">
            <a:pPr algn="r">
              <a:defRPr sz="1050" b="0">
                <a:solidFill>
                  <a:srgbClr val="68737D"/>
                </a:solidFill>
                <a:latin typeface="Helvetica Neue"/>
                <a:ea typeface="Helvetica Neue"/>
                <a:cs typeface="Helvetica Neue"/>
              </a:defRPr>
            </a:pPr>
            <a:r>
              <a:rPr sz="1050" b="0">
                <a:solidFill>
                  <a:srgbClr val="68737D"/>
                </a:solidFill>
                <a:latin typeface="Helvetica Neue"/>
                <a:ea typeface="Helvetica Neue"/>
                <a:cs typeface="Helvetica Neue"/>
              </a:rPr>
              <a:t>05</a:t>
            </a:r>
          </a:p>
        </p:txBody>
      </p:sp>
      <p:sp>
        <p:nvSpPr>
          <p:cNvPr id="5" name="diagram-55">
            <a:extLst xmlns:a="http://schemas.openxmlformats.org/drawingml/2006/main">
              <a:ext uri="{FF2B5EF4-FFF2-40B4-BE49-F238E27FC236}">
                <a16:creationId xmlns:a16="http://schemas.microsoft.com/office/drawing/2014/main" id="{B2A7B5D6-3A17-4D2F-A254-9214FD6A0D28}"/>
              </a:ext>
            </a:extLst>
          </p:cNvPr>
          <p:cNvSpPr>
            <a:spLocks xmlns:a="http://schemas.openxmlformats.org/drawingml/2006/main" noGrp="1"/>
          </p:cNvSpPr>
          <p:nvPr/>
        </p:nvSpPr>
        <p:spPr>
          <a:xfrm xmlns:a="http://schemas.openxmlformats.org/drawingml/2006/main">
            <a:off x="533400" y="1504950"/>
            <a:ext cx="5572125" cy="857250"/>
          </a:xfrm>
          <a:prstGeom xmlns:a="http://schemas.openxmlformats.org/drawingml/2006/main" prst="rect">
            <a:avLst/>
          </a:prstGeom>
          <a:solidFill xmlns:a="http://schemas.openxmlformats.org/drawingml/2006/main">
            <a:srgbClr val="F6F3F4"/>
          </a:solidFill>
          <a:ln xmlns:a="http://schemas.openxmlformats.org/drawingml/2006/main" w="12383">
            <a:solidFill>
              <a:srgbClr val="253746"/>
            </a:solidFill>
          </a:ln>
        </p:spPr>
        <p:txBody>
          <a:bodyPr xmlns:a="http://schemas.openxmlformats.org/drawingml/2006/main" lIns="95250" tIns="95250" rIns="95250" bIns="95250" anchor="ctr">
            <a:noAutofit/>
          </a:bodyPr>
          <a:lstStyle xmlns:a="http://schemas.openxmlformats.org/drawingml/2006/main">
            <a:defPPr algn="ctr">
              <a:defRPr sz="1800">
                <a:solidFill>
                  <a:srgbClr val="253746"/>
                </a:solidFill>
                <a:latin typeface="Helvetica Neue"/>
                <a:ea typeface="Helvetica Neue"/>
                <a:cs typeface="Helvetica Neue"/>
              </a:defRPr>
            </a:defPPr>
          </a:lstStyle>
          <a:p xmlns:a="http://schemas.openxmlformats.org/drawingml/2006/main">
            <a:pPr algn="ctr">
              <a:defRPr sz="1800">
                <a:solidFill>
                  <a:srgbClr val="253746"/>
                </a:solidFill>
                <a:latin typeface="Helvetica Neue"/>
                <a:ea typeface="Helvetica Neue"/>
                <a:cs typeface="Helvetica Neue"/>
              </a:defRPr>
            </a:pPr>
            <a:r>
              <a:rPr sz="1800">
                <a:solidFill>
                  <a:srgbClr val="253746"/>
                </a:solidFill>
                <a:latin typeface="Helvetica Neue"/>
                <a:ea typeface="Helvetica Neue"/>
                <a:cs typeface="Helvetica Neue"/>
              </a:rPr>
              <a:t>Frozen applicants, true risk, split,</a:t>
            </a:r>
          </a:p>
          <a:p xmlns:a="http://schemas.openxmlformats.org/drawingml/2006/main">
            <a:pPr algn="ctr">
              <a:defRPr sz="1800">
                <a:solidFill>
                  <a:srgbClr val="253746"/>
                </a:solidFill>
                <a:latin typeface="Helvetica Neue"/>
                <a:ea typeface="Helvetica Neue"/>
                <a:cs typeface="Helvetica Neue"/>
              </a:defRPr>
            </a:pPr>
            <a:r>
              <a:rPr sz="1800">
                <a:solidFill>
                  <a:srgbClr val="253746"/>
                </a:solidFill>
                <a:latin typeface="Helvetica Neue"/>
                <a:ea typeface="Helvetica Neue"/>
                <a:cs typeface="Helvetica Neue"/>
              </a:rPr>
              <a:t>contracts, capital, and oracle</a:t>
            </a:r>
          </a:p>
        </p:txBody>
      </p:sp>
      <p:sp>
        <p:nvSpPr>
          <p:cNvPr id="6" name="diagram-56">
            <a:extLst xmlns:a="http://schemas.openxmlformats.org/drawingml/2006/main">
              <a:ext uri="{FF2B5EF4-FFF2-40B4-BE49-F238E27FC236}">
                <a16:creationId xmlns:a16="http://schemas.microsoft.com/office/drawing/2014/main" id="{4E6EA5D7-2C08-4F1D-A46B-F4D9C9D53BBB}"/>
              </a:ext>
            </a:extLst>
          </p:cNvPr>
          <p:cNvSpPr>
            <a:spLocks xmlns:a="http://schemas.openxmlformats.org/drawingml/2006/main" noGrp="1"/>
          </p:cNvSpPr>
          <p:nvPr/>
        </p:nvSpPr>
        <p:spPr>
          <a:xfrm xmlns:a="http://schemas.openxmlformats.org/drawingml/2006/main">
            <a:off x="533400" y="2724150"/>
            <a:ext cx="5572125" cy="704850"/>
          </a:xfrm>
          <a:prstGeom xmlns:a="http://schemas.openxmlformats.org/drawingml/2006/main" prst="rect">
            <a:avLst/>
          </a:prstGeom>
          <a:solidFill xmlns:a="http://schemas.openxmlformats.org/drawingml/2006/main">
            <a:srgbClr val="F6F3F4"/>
          </a:solidFill>
          <a:ln xmlns:a="http://schemas.openxmlformats.org/drawingml/2006/main" w="12383">
            <a:solidFill>
              <a:srgbClr val="253746"/>
            </a:solidFill>
          </a:ln>
        </p:spPr>
        <p:txBody>
          <a:bodyPr xmlns:a="http://schemas.openxmlformats.org/drawingml/2006/main" lIns="95250" tIns="95250" rIns="95250" bIns="95250" anchor="ctr">
            <a:noAutofit/>
          </a:bodyPr>
          <a:lstStyle xmlns:a="http://schemas.openxmlformats.org/drawingml/2006/main">
            <a:defPPr algn="ctr">
              <a:defRPr sz="1800">
                <a:solidFill>
                  <a:srgbClr val="253746"/>
                </a:solidFill>
                <a:latin typeface="Helvetica Neue"/>
                <a:ea typeface="Helvetica Neue"/>
                <a:cs typeface="Helvetica Neue"/>
              </a:defRPr>
            </a:defPPr>
          </a:lstStyle>
          <a:p xmlns:a="http://schemas.openxmlformats.org/drawingml/2006/main">
            <a:pPr algn="ctr">
              <a:defRPr sz="1800">
                <a:solidFill>
                  <a:srgbClr val="253746"/>
                </a:solidFill>
                <a:latin typeface="Helvetica Neue"/>
                <a:ea typeface="Helvetica Neue"/>
                <a:cs typeface="Helvetica Neue"/>
              </a:defRPr>
            </a:pPr>
            <a:r>
              <a:rPr sz="1800">
                <a:solidFill>
                  <a:srgbClr val="253746"/>
                </a:solidFill>
                <a:latin typeface="Helvetica Neue"/>
                <a:ea typeface="Helvetica Neue"/>
                <a:cs typeface="Helvetica Neue"/>
              </a:rPr>
              <a:t>200 independent η draws</a:t>
            </a:r>
          </a:p>
          <a:p xmlns:a="http://schemas.openxmlformats.org/drawingml/2006/main">
            <a:pPr algn="ctr">
              <a:defRPr sz="1800">
                <a:solidFill>
                  <a:srgbClr val="253746"/>
                </a:solidFill>
                <a:latin typeface="Helvetica Neue"/>
                <a:ea typeface="Helvetica Neue"/>
                <a:cs typeface="Helvetica Neue"/>
              </a:defRPr>
            </a:pPr>
            <a:r>
              <a:rPr sz="1800">
                <a:solidFill>
                  <a:srgbClr val="253746"/>
                </a:solidFill>
                <a:latin typeface="Helvetica Neue"/>
                <a:ea typeface="Helvetica Neue"/>
                <a:cs typeface="Helvetica Neue"/>
              </a:rPr>
              <a:t>200 raw noisy PN targets</a:t>
            </a:r>
          </a:p>
        </p:txBody>
      </p:sp>
      <p:sp>
        <p:nvSpPr>
          <p:cNvPr id="8" name="diagram-57">
            <a:extLst xmlns:a="http://schemas.openxmlformats.org/drawingml/2006/main">
              <a:ext uri="{FF2B5EF4-FFF2-40B4-BE49-F238E27FC236}">
                <a16:creationId xmlns:a16="http://schemas.microsoft.com/office/drawing/2014/main" id="{1FF08E86-DB47-4AD1-A4DB-1B1BF4BD3ABC}"/>
              </a:ext>
            </a:extLst>
          </p:cNvPr>
          <p:cNvSpPr>
            <a:spLocks xmlns:a="http://schemas.openxmlformats.org/drawingml/2006/main" noGrp="1"/>
          </p:cNvSpPr>
          <p:nvPr/>
        </p:nvSpPr>
        <p:spPr>
          <a:xfrm xmlns:a="http://schemas.openxmlformats.org/drawingml/2006/main">
            <a:off x="533400" y="3781425"/>
            <a:ext cx="5572125" cy="581025"/>
          </a:xfrm>
          <a:prstGeom xmlns:a="http://schemas.openxmlformats.org/drawingml/2006/main" prst="rect">
            <a:avLst/>
          </a:prstGeom>
          <a:solidFill xmlns:a="http://schemas.openxmlformats.org/drawingml/2006/main">
            <a:srgbClr val="F6F3F4"/>
          </a:solidFill>
          <a:ln xmlns:a="http://schemas.openxmlformats.org/drawingml/2006/main" w="12383">
            <a:solidFill>
              <a:srgbClr val="253746"/>
            </a:solidFill>
          </a:ln>
        </p:spPr>
        <p:txBody>
          <a:bodyPr xmlns:a="http://schemas.openxmlformats.org/drawingml/2006/main" lIns="95250" tIns="95250" rIns="95250" bIns="95250" anchor="ctr">
            <a:noAutofit/>
          </a:bodyPr>
          <a:lstStyle xmlns:a="http://schemas.openxmlformats.org/drawingml/2006/main">
            <a:defPPr algn="ctr">
              <a:defRPr sz="1800">
                <a:solidFill>
                  <a:srgbClr val="253746"/>
                </a:solidFill>
                <a:latin typeface="Helvetica Neue"/>
                <a:ea typeface="Helvetica Neue"/>
                <a:cs typeface="Helvetica Neue"/>
              </a:defRPr>
            </a:defPPr>
          </a:lstStyle>
          <a:p xmlns:a="http://schemas.openxmlformats.org/drawingml/2006/main">
            <a:pPr algn="ctr">
              <a:defRPr sz="1800">
                <a:solidFill>
                  <a:srgbClr val="253746"/>
                </a:solidFill>
                <a:latin typeface="Helvetica Neue"/>
                <a:ea typeface="Helvetica Neue"/>
                <a:cs typeface="Helvetica Neue"/>
              </a:defRPr>
            </a:pPr>
            <a:r>
              <a:rPr sz="1800">
                <a:solidFill>
                  <a:srgbClr val="253746"/>
                </a:solidFill>
                <a:latin typeface="Helvetica Neue"/>
                <a:ea typeface="Helvetica Neue"/>
                <a:cs typeface="Helvetica Neue"/>
              </a:rPr>
              <a:t>Group-aware OLS / Group-blind OLS</a:t>
            </a:r>
          </a:p>
        </p:txBody>
      </p:sp>
      <p:sp>
        <p:nvSpPr>
          <p:cNvPr id="10" name="diagram-58">
            <a:extLst xmlns:a="http://schemas.openxmlformats.org/drawingml/2006/main">
              <a:ext uri="{FF2B5EF4-FFF2-40B4-BE49-F238E27FC236}">
                <a16:creationId xmlns:a16="http://schemas.microsoft.com/office/drawing/2014/main" id="{6AA815B5-3D43-48AA-A63C-CD3EEBB071DD}"/>
              </a:ext>
            </a:extLst>
          </p:cNvPr>
          <p:cNvSpPr>
            <a:spLocks xmlns:a="http://schemas.openxmlformats.org/drawingml/2006/main" noGrp="1"/>
          </p:cNvSpPr>
          <p:nvPr/>
        </p:nvSpPr>
        <p:spPr>
          <a:xfrm xmlns:a="http://schemas.openxmlformats.org/drawingml/2006/main">
            <a:off x="533400" y="4714875"/>
            <a:ext cx="5572125" cy="581025"/>
          </a:xfrm>
          <a:prstGeom xmlns:a="http://schemas.openxmlformats.org/drawingml/2006/main" prst="rect">
            <a:avLst/>
          </a:prstGeom>
          <a:solidFill xmlns:a="http://schemas.openxmlformats.org/drawingml/2006/main">
            <a:srgbClr val="F6F3F4"/>
          </a:solidFill>
          <a:ln xmlns:a="http://schemas.openxmlformats.org/drawingml/2006/main" w="12383">
            <a:solidFill>
              <a:srgbClr val="253746"/>
            </a:solidFill>
          </a:ln>
        </p:spPr>
        <p:txBody>
          <a:bodyPr xmlns:a="http://schemas.openxmlformats.org/drawingml/2006/main" lIns="95250" tIns="95250" rIns="95250" bIns="95250" anchor="ctr">
            <a:noAutofit/>
          </a:bodyPr>
          <a:lstStyle xmlns:a="http://schemas.openxmlformats.org/drawingml/2006/main">
            <a:defPPr algn="ctr">
              <a:defRPr sz="1800">
                <a:solidFill>
                  <a:srgbClr val="253746"/>
                </a:solidFill>
                <a:latin typeface="Helvetica Neue"/>
                <a:ea typeface="Helvetica Neue"/>
                <a:cs typeface="Helvetica Neue"/>
              </a:defRPr>
            </a:defPPr>
          </a:lstStyle>
          <a:p xmlns:a="http://schemas.openxmlformats.org/drawingml/2006/main">
            <a:pPr algn="ctr">
              <a:defRPr sz="1800">
                <a:solidFill>
                  <a:srgbClr val="253746"/>
                </a:solidFill>
                <a:latin typeface="Helvetica Neue"/>
                <a:ea typeface="Helvetica Neue"/>
                <a:cs typeface="Helvetica Neue"/>
              </a:defRPr>
            </a:pPr>
            <a:r>
              <a:rPr sz="1800">
                <a:solidFill>
                  <a:srgbClr val="253746"/>
                </a:solidFill>
                <a:latin typeface="Helvetica Neue"/>
                <a:ea typeface="Helvetica Neue"/>
                <a:cs typeface="Helvetica Neue"/>
              </a:rPr>
              <a:t>Re-optimize each common cutoff</a:t>
            </a:r>
          </a:p>
        </p:txBody>
      </p:sp>
      <p:sp>
        <p:nvSpPr>
          <p:cNvPr id="12" name="diagram-59">
            <a:extLst xmlns:a="http://schemas.openxmlformats.org/drawingml/2006/main">
              <a:ext uri="{FF2B5EF4-FFF2-40B4-BE49-F238E27FC236}">
                <a16:creationId xmlns:a16="http://schemas.microsoft.com/office/drawing/2014/main" id="{090D7106-534B-4E71-BAA2-695303D0DDAE}"/>
              </a:ext>
            </a:extLst>
          </p:cNvPr>
          <p:cNvSpPr>
            <a:spLocks xmlns:a="http://schemas.openxmlformats.org/drawingml/2006/main" noGrp="1"/>
          </p:cNvSpPr>
          <p:nvPr/>
        </p:nvSpPr>
        <p:spPr>
          <a:xfrm xmlns:a="http://schemas.openxmlformats.org/drawingml/2006/main">
            <a:off x="533400" y="5648325"/>
            <a:ext cx="5572125" cy="552450"/>
          </a:xfrm>
          <a:prstGeom xmlns:a="http://schemas.openxmlformats.org/drawingml/2006/main" prst="rect">
            <a:avLst/>
          </a:prstGeom>
          <a:solidFill xmlns:a="http://schemas.openxmlformats.org/drawingml/2006/main">
            <a:srgbClr val="F6F3F4"/>
          </a:solidFill>
          <a:ln xmlns:a="http://schemas.openxmlformats.org/drawingml/2006/main" w="12383">
            <a:solidFill>
              <a:srgbClr val="253746"/>
            </a:solidFill>
          </a:ln>
        </p:spPr>
        <p:txBody>
          <a:bodyPr xmlns:a="http://schemas.openxmlformats.org/drawingml/2006/main" lIns="95250" tIns="95250" rIns="95250" bIns="95250" anchor="ctr">
            <a:noAutofit/>
          </a:bodyPr>
          <a:lstStyle xmlns:a="http://schemas.openxmlformats.org/drawingml/2006/main">
            <a:defPPr algn="ctr">
              <a:defRPr sz="1800">
                <a:solidFill>
                  <a:srgbClr val="253746"/>
                </a:solidFill>
                <a:latin typeface="Helvetica Neue"/>
                <a:ea typeface="Helvetica Neue"/>
                <a:cs typeface="Helvetica Neue"/>
              </a:defRPr>
            </a:defPPr>
          </a:lstStyle>
          <a:p xmlns:a="http://schemas.openxmlformats.org/drawingml/2006/main">
            <a:pPr algn="ctr">
              <a:defRPr sz="1800">
                <a:solidFill>
                  <a:srgbClr val="253746"/>
                </a:solidFill>
                <a:latin typeface="Helvetica Neue"/>
                <a:ea typeface="Helvetica Neue"/>
                <a:cs typeface="Helvetica Neue"/>
              </a:defRPr>
            </a:pPr>
            <a:r>
              <a:rPr sz="1800">
                <a:solidFill>
                  <a:srgbClr val="253746"/>
                </a:solidFill>
                <a:latin typeface="Helvetica Neue"/>
                <a:ea typeface="Helvetica Neue"/>
                <a:cs typeface="Helvetica Neue"/>
              </a:rPr>
              <a:t>Compare group outcomes and true profit</a:t>
            </a:r>
          </a:p>
        </p:txBody>
      </p:sp>
      <p:sp>
        <p:nvSpPr>
          <p:cNvPr id="14" name="text-60">
            <a:extLst xmlns:a="http://schemas.openxmlformats.org/drawingml/2006/main">
              <a:ext uri="{FF2B5EF4-FFF2-40B4-BE49-F238E27FC236}">
                <a16:creationId xmlns:a16="http://schemas.microsoft.com/office/drawing/2014/main" id="{B1BAC4AA-7EEE-4B1C-85BD-7D3D56248338}"/>
              </a:ext>
            </a:extLst>
          </p:cNvPr>
          <p:cNvSpPr>
            <a:spLocks xmlns:a="http://schemas.openxmlformats.org/drawingml/2006/main" noGrp="1"/>
          </p:cNvSpPr>
          <p:nvPr/>
        </p:nvSpPr>
        <p:spPr>
          <a:xfrm xmlns:a="http://schemas.openxmlformats.org/drawingml/2006/main">
            <a:off x="7000875" y="1647825"/>
            <a:ext cx="190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861F41"/>
                </a:solidFill>
                <a:latin typeface="Helvetica Neue"/>
                <a:ea typeface="Helvetica Neue"/>
                <a:cs typeface="Helvetica Neue"/>
              </a:defRPr>
            </a:defPPr>
          </a:lstStyle>
          <a:p xmlns:a="http://schemas.openxmlformats.org/drawingml/2006/main">
            <a:pPr algn="l">
              <a:defRPr sz="3225" b="1">
                <a:solidFill>
                  <a:srgbClr val="861F41"/>
                </a:solidFill>
                <a:latin typeface="Helvetica Neue"/>
                <a:ea typeface="Helvetica Neue"/>
                <a:cs typeface="Helvetica Neue"/>
              </a:defRPr>
            </a:pPr>
            <a:r>
              <a:rPr sz="3225" b="1">
                <a:solidFill>
                  <a:srgbClr val="861F41"/>
                </a:solidFill>
                <a:latin typeface="Helvetica Neue"/>
                <a:ea typeface="Helvetica Neue"/>
                <a:cs typeface="Helvetica Neue"/>
              </a:rPr>
              <a:t>200/200</a:t>
            </a:r>
          </a:p>
        </p:txBody>
      </p:sp>
      <p:sp>
        <p:nvSpPr>
          <p:cNvPr id="15" name="text-61">
            <a:extLst xmlns:a="http://schemas.openxmlformats.org/drawingml/2006/main">
              <a:ext uri="{FF2B5EF4-FFF2-40B4-BE49-F238E27FC236}">
                <a16:creationId xmlns:a16="http://schemas.microsoft.com/office/drawing/2014/main" id="{7012BB1D-6F60-46C1-A047-E3B7DC32DCF2}"/>
              </a:ext>
            </a:extLst>
          </p:cNvPr>
          <p:cNvSpPr>
            <a:spLocks xmlns:a="http://schemas.openxmlformats.org/drawingml/2006/main" noGrp="1"/>
          </p:cNvSpPr>
          <p:nvPr/>
        </p:nvSpPr>
        <p:spPr>
          <a:xfrm xmlns:a="http://schemas.openxmlformats.org/drawingml/2006/main">
            <a:off x="9029700" y="1647825"/>
            <a:ext cx="138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861F41"/>
                </a:solidFill>
                <a:latin typeface="Helvetica Neue"/>
                <a:ea typeface="Helvetica Neue"/>
                <a:cs typeface="Helvetica Neue"/>
              </a:defRPr>
            </a:defPPr>
          </a:lstStyle>
          <a:p xmlns:a="http://schemas.openxmlformats.org/drawingml/2006/main">
            <a:pPr algn="l">
              <a:defRPr sz="3225" b="1">
                <a:solidFill>
                  <a:srgbClr val="861F41"/>
                </a:solidFill>
                <a:latin typeface="Helvetica Neue"/>
                <a:ea typeface="Helvetica Neue"/>
                <a:cs typeface="Helvetica Neue"/>
              </a:defRPr>
            </a:pPr>
            <a:r>
              <a:rPr sz="3225" b="1">
                <a:solidFill>
                  <a:srgbClr val="861F41"/>
                </a:solidFill>
                <a:latin typeface="Helvetica Neue"/>
                <a:ea typeface="Helvetica Neue"/>
                <a:cs typeface="Helvetica Neue"/>
              </a:rPr>
              <a:t>400</a:t>
            </a:r>
          </a:p>
        </p:txBody>
      </p:sp>
      <p:sp>
        <p:nvSpPr>
          <p:cNvPr id="16" name="text-62">
            <a:extLst xmlns:a="http://schemas.openxmlformats.org/drawingml/2006/main">
              <a:ext uri="{FF2B5EF4-FFF2-40B4-BE49-F238E27FC236}">
                <a16:creationId xmlns:a16="http://schemas.microsoft.com/office/drawing/2014/main" id="{8D46780F-8F8C-49DC-A258-102EC30D536E}"/>
              </a:ext>
            </a:extLst>
          </p:cNvPr>
          <p:cNvSpPr>
            <a:spLocks xmlns:a="http://schemas.openxmlformats.org/drawingml/2006/main" noGrp="1"/>
          </p:cNvSpPr>
          <p:nvPr/>
        </p:nvSpPr>
        <p:spPr>
          <a:xfrm xmlns:a="http://schemas.openxmlformats.org/drawingml/2006/main">
            <a:off x="10572750" y="1647825"/>
            <a:ext cx="1085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68737D"/>
                </a:solidFill>
                <a:latin typeface="Helvetica Neue"/>
                <a:ea typeface="Helvetica Neue"/>
                <a:cs typeface="Helvetica Neue"/>
              </a:defRPr>
            </a:defPPr>
          </a:lstStyle>
          <a:p xmlns:a="http://schemas.openxmlformats.org/drawingml/2006/main">
            <a:pPr algn="l">
              <a:defRPr sz="3225" b="1">
                <a:solidFill>
                  <a:srgbClr val="68737D"/>
                </a:solidFill>
                <a:latin typeface="Helvetica Neue"/>
                <a:ea typeface="Helvetica Neue"/>
                <a:cs typeface="Helvetica Neue"/>
              </a:defRPr>
            </a:pPr>
            <a:r>
              <a:rPr sz="3225" b="1">
                <a:solidFill>
                  <a:srgbClr val="68737D"/>
                </a:solidFill>
                <a:latin typeface="Helvetica Neue"/>
                <a:ea typeface="Helvetica Neue"/>
                <a:cs typeface="Helvetica Neue"/>
              </a:rPr>
              <a:t>0</a:t>
            </a:r>
          </a:p>
        </p:txBody>
      </p:sp>
      <p:sp>
        <p:nvSpPr>
          <p:cNvPr id="17" name="text-63">
            <a:extLst xmlns:a="http://schemas.openxmlformats.org/drawingml/2006/main">
              <a:ext uri="{FF2B5EF4-FFF2-40B4-BE49-F238E27FC236}">
                <a16:creationId xmlns:a16="http://schemas.microsoft.com/office/drawing/2014/main" id="{70E8BF6B-C82D-4056-89A6-6A114B867EA9}"/>
              </a:ext>
            </a:extLst>
          </p:cNvPr>
          <p:cNvSpPr>
            <a:spLocks xmlns:a="http://schemas.openxmlformats.org/drawingml/2006/main" noGrp="1"/>
          </p:cNvSpPr>
          <p:nvPr/>
        </p:nvSpPr>
        <p:spPr>
          <a:xfrm xmlns:a="http://schemas.openxmlformats.org/drawingml/2006/main">
            <a:off x="7000875" y="2305050"/>
            <a:ext cx="1905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53746"/>
                </a:solidFill>
                <a:latin typeface="Helvetica Neue"/>
                <a:ea typeface="Helvetica Neue"/>
                <a:cs typeface="Helvetica Neue"/>
              </a:defRPr>
            </a:defPPr>
          </a:lstStyle>
          <a:p xmlns:a="http://schemas.openxmlformats.org/drawingml/2006/main">
            <a:pPr algn="l">
              <a:defRPr sz="1650" b="0">
                <a:solidFill>
                  <a:srgbClr val="253746"/>
                </a:solidFill>
                <a:latin typeface="Helvetica Neue"/>
                <a:ea typeface="Helvetica Neue"/>
                <a:cs typeface="Helvetica Neue"/>
              </a:defRPr>
            </a:pPr>
            <a:r>
              <a:rPr sz="1650" b="0">
                <a:solidFill>
                  <a:srgbClr val="253746"/>
                </a:solidFill>
                <a:latin typeface="Helvetica Neue"/>
                <a:ea typeface="Helvetica Neue"/>
                <a:cs typeface="Helvetica Neue"/>
              </a:rPr>
              <a:t>Successful</a:t>
            </a:r>
          </a:p>
          <a:p xmlns:a="http://schemas.openxmlformats.org/drawingml/2006/main">
            <a:pPr algn="l">
              <a:defRPr sz="1650" b="0">
                <a:solidFill>
                  <a:srgbClr val="253746"/>
                </a:solidFill>
                <a:latin typeface="Helvetica Neue"/>
                <a:ea typeface="Helvetica Neue"/>
                <a:cs typeface="Helvetica Neue"/>
              </a:defRPr>
            </a:pPr>
            <a:r>
              <a:rPr sz="1650" b="0">
                <a:solidFill>
                  <a:srgbClr val="253746"/>
                </a:solidFill>
                <a:latin typeface="Helvetica Neue"/>
                <a:ea typeface="Helvetica Neue"/>
                <a:cs typeface="Helvetica Neue"/>
              </a:rPr>
              <a:t>replications</a:t>
            </a:r>
          </a:p>
        </p:txBody>
      </p:sp>
      <p:sp>
        <p:nvSpPr>
          <p:cNvPr id="18" name="text-64">
            <a:extLst xmlns:a="http://schemas.openxmlformats.org/drawingml/2006/main">
              <a:ext uri="{FF2B5EF4-FFF2-40B4-BE49-F238E27FC236}">
                <a16:creationId xmlns:a16="http://schemas.microsoft.com/office/drawing/2014/main" id="{3AF32C4B-AF0E-459B-A280-D874751581E1}"/>
              </a:ext>
            </a:extLst>
          </p:cNvPr>
          <p:cNvSpPr>
            <a:spLocks xmlns:a="http://schemas.openxmlformats.org/drawingml/2006/main" noGrp="1"/>
          </p:cNvSpPr>
          <p:nvPr/>
        </p:nvSpPr>
        <p:spPr>
          <a:xfrm xmlns:a="http://schemas.openxmlformats.org/drawingml/2006/main">
            <a:off x="9029700" y="2305050"/>
            <a:ext cx="1381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53746"/>
                </a:solidFill>
                <a:latin typeface="Helvetica Neue"/>
                <a:ea typeface="Helvetica Neue"/>
                <a:cs typeface="Helvetica Neue"/>
              </a:defRPr>
            </a:defPPr>
          </a:lstStyle>
          <a:p xmlns:a="http://schemas.openxmlformats.org/drawingml/2006/main">
            <a:pPr algn="l">
              <a:defRPr sz="1650" b="0">
                <a:solidFill>
                  <a:srgbClr val="253746"/>
                </a:solidFill>
                <a:latin typeface="Helvetica Neue"/>
                <a:ea typeface="Helvetica Neue"/>
                <a:cs typeface="Helvetica Neue"/>
              </a:defRPr>
            </a:pPr>
            <a:r>
              <a:rPr sz="1650" b="0">
                <a:solidFill>
                  <a:srgbClr val="253746"/>
                </a:solidFill>
                <a:latin typeface="Helvetica Neue"/>
                <a:ea typeface="Helvetica Neue"/>
                <a:cs typeface="Helvetica Neue"/>
              </a:rPr>
              <a:t>Policy</a:t>
            </a:r>
          </a:p>
          <a:p xmlns:a="http://schemas.openxmlformats.org/drawingml/2006/main">
            <a:pPr algn="l">
              <a:defRPr sz="1650" b="0">
                <a:solidFill>
                  <a:srgbClr val="253746"/>
                </a:solidFill>
                <a:latin typeface="Helvetica Neue"/>
                <a:ea typeface="Helvetica Neue"/>
                <a:cs typeface="Helvetica Neue"/>
              </a:defRPr>
            </a:pPr>
            <a:r>
              <a:rPr sz="1650" b="0">
                <a:solidFill>
                  <a:srgbClr val="253746"/>
                </a:solidFill>
                <a:latin typeface="Helvetica Neue"/>
                <a:ea typeface="Helvetica Neue"/>
                <a:cs typeface="Helvetica Neue"/>
              </a:rPr>
              <a:t>observations</a:t>
            </a:r>
          </a:p>
        </p:txBody>
      </p:sp>
      <p:sp>
        <p:nvSpPr>
          <p:cNvPr id="19" name="text-65">
            <a:extLst xmlns:a="http://schemas.openxmlformats.org/drawingml/2006/main">
              <a:ext uri="{FF2B5EF4-FFF2-40B4-BE49-F238E27FC236}">
                <a16:creationId xmlns:a16="http://schemas.microsoft.com/office/drawing/2014/main" id="{61E58F00-9E9A-44F5-854B-1A439935D462}"/>
              </a:ext>
            </a:extLst>
          </p:cNvPr>
          <p:cNvSpPr>
            <a:spLocks xmlns:a="http://schemas.openxmlformats.org/drawingml/2006/main" noGrp="1"/>
          </p:cNvSpPr>
          <p:nvPr/>
        </p:nvSpPr>
        <p:spPr>
          <a:xfrm xmlns:a="http://schemas.openxmlformats.org/drawingml/2006/main">
            <a:off x="10572750" y="2305050"/>
            <a:ext cx="10858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53746"/>
                </a:solidFill>
                <a:latin typeface="Helvetica Neue"/>
                <a:ea typeface="Helvetica Neue"/>
                <a:cs typeface="Helvetica Neue"/>
              </a:defRPr>
            </a:defPPr>
          </a:lstStyle>
          <a:p xmlns:a="http://schemas.openxmlformats.org/drawingml/2006/main">
            <a:pPr algn="l">
              <a:defRPr sz="1650" b="0">
                <a:solidFill>
                  <a:srgbClr val="253746"/>
                </a:solidFill>
                <a:latin typeface="Helvetica Neue"/>
                <a:ea typeface="Helvetica Neue"/>
                <a:cs typeface="Helvetica Neue"/>
              </a:defRPr>
            </a:pPr>
            <a:r>
              <a:rPr sz="1650" b="0">
                <a:solidFill>
                  <a:srgbClr val="253746"/>
                </a:solidFill>
                <a:latin typeface="Helvetica Neue"/>
                <a:ea typeface="Helvetica Neue"/>
                <a:cs typeface="Helvetica Neue"/>
              </a:rPr>
              <a:t>Scientific</a:t>
            </a:r>
          </a:p>
          <a:p xmlns:a="http://schemas.openxmlformats.org/drawingml/2006/main">
            <a:pPr algn="l">
              <a:defRPr sz="1650" b="0">
                <a:solidFill>
                  <a:srgbClr val="253746"/>
                </a:solidFill>
                <a:latin typeface="Helvetica Neue"/>
                <a:ea typeface="Helvetica Neue"/>
                <a:cs typeface="Helvetica Neue"/>
              </a:defRPr>
            </a:pPr>
            <a:r>
              <a:rPr sz="1650" b="0">
                <a:solidFill>
                  <a:srgbClr val="253746"/>
                </a:solidFill>
                <a:latin typeface="Helvetica Neue"/>
                <a:ea typeface="Helvetica Neue"/>
                <a:cs typeface="Helvetica Neue"/>
              </a:rPr>
              <a:t>failures</a:t>
            </a:r>
          </a:p>
        </p:txBody>
      </p:sp>
      <p:sp>
        <p:nvSpPr>
          <p:cNvPr id="20" name="text-66">
            <a:extLst xmlns:a="http://schemas.openxmlformats.org/drawingml/2006/main">
              <a:ext uri="{FF2B5EF4-FFF2-40B4-BE49-F238E27FC236}">
                <a16:creationId xmlns:a16="http://schemas.microsoft.com/office/drawing/2014/main" id="{CAFD5E25-5F2E-4156-86CA-6D2335200EF9}"/>
              </a:ext>
            </a:extLst>
          </p:cNvPr>
          <p:cNvSpPr>
            <a:spLocks xmlns:a="http://schemas.openxmlformats.org/drawingml/2006/main" noGrp="1"/>
          </p:cNvSpPr>
          <p:nvPr/>
        </p:nvSpPr>
        <p:spPr>
          <a:xfrm xmlns:a="http://schemas.openxmlformats.org/drawingml/2006/main">
            <a:off x="7000875" y="3114675"/>
            <a:ext cx="46196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E5751F"/>
                </a:solidFill>
                <a:latin typeface="Helvetica Neue"/>
                <a:ea typeface="Helvetica Neue"/>
                <a:cs typeface="Helvetica Neue"/>
              </a:defRPr>
            </a:defPPr>
          </a:lstStyle>
          <a:p xmlns:a="http://schemas.openxmlformats.org/drawingml/2006/main">
            <a:pPr algn="l">
              <a:defRPr sz="2250" b="1">
                <a:solidFill>
                  <a:srgbClr val="E5751F"/>
                </a:solidFill>
                <a:latin typeface="Helvetica Neue"/>
                <a:ea typeface="Helvetica Neue"/>
                <a:cs typeface="Helvetica Neue"/>
              </a:defRPr>
            </a:pPr>
            <a:r>
              <a:rPr sz="2250" b="1">
                <a:solidFill>
                  <a:srgbClr val="E5751F"/>
                </a:solidFill>
                <a:latin typeface="Helvetica Neue"/>
                <a:ea typeface="Helvetica Neue"/>
                <a:cs typeface="Helvetica Neue"/>
              </a:rPr>
              <a:t>Only η changed</a:t>
            </a:r>
          </a:p>
        </p:txBody>
      </p:sp>
      <p:sp>
        <p:nvSpPr>
          <p:cNvPr id="21" name="text-67">
            <a:extLst xmlns:a="http://schemas.openxmlformats.org/drawingml/2006/main">
              <a:ext uri="{FF2B5EF4-FFF2-40B4-BE49-F238E27FC236}">
                <a16:creationId xmlns:a16="http://schemas.microsoft.com/office/drawing/2014/main" id="{378588D7-4C3D-4631-BE00-F259D318E40B}"/>
              </a:ext>
            </a:extLst>
          </p:cNvPr>
          <p:cNvSpPr>
            <a:spLocks xmlns:a="http://schemas.openxmlformats.org/drawingml/2006/main" noGrp="1"/>
          </p:cNvSpPr>
          <p:nvPr/>
        </p:nvSpPr>
        <p:spPr>
          <a:xfrm xmlns:a="http://schemas.openxmlformats.org/drawingml/2006/main">
            <a:off x="7000875" y="3657600"/>
            <a:ext cx="4619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8737D"/>
                </a:solidFill>
                <a:latin typeface="Helvetica Neue"/>
                <a:ea typeface="Helvetica Neue"/>
                <a:cs typeface="Helvetica Neue"/>
              </a:defRPr>
            </a:defPPr>
          </a:lstStyle>
          <a:p xmlns:a="http://schemas.openxmlformats.org/drawingml/2006/main">
            <a:pPr algn="l">
              <a:defRPr sz="1650" b="0">
                <a:solidFill>
                  <a:srgbClr val="68737D"/>
                </a:solidFill>
                <a:latin typeface="Helvetica Neue"/>
                <a:ea typeface="Helvetica Neue"/>
                <a:cs typeface="Helvetica Neue"/>
              </a:defRPr>
            </a:pPr>
            <a:r>
              <a:rPr sz="1650" b="0">
                <a:solidFill>
                  <a:srgbClr val="68737D"/>
                </a:solidFill>
                <a:latin typeface="Helvetica Neue"/>
                <a:ea typeface="Helvetica Neue"/>
                <a:cs typeface="Helvetica Neue"/>
              </a:rPr>
              <a:t>First three predeclared indices (gaps in pp)</a:t>
            </a:r>
          </a:p>
        </p:txBody>
      </p:sp>
      <p:graphicFrame>
        <p:nvGraphicFramePr>
          <p:cNvPr id="22" name="">
            <a:extLst xmlns:a="http://schemas.openxmlformats.org/drawingml/2006/main">
              <a:ext uri="{FF2B5EF4-FFF2-40B4-BE49-F238E27FC236}">
                <a16:creationId xmlns:a16="http://schemas.microsoft.com/office/drawing/2014/main" id="{3E37E5BF-1CFD-45B9-8CED-E80E98E47C85}"/>
              </a:ext>
            </a:extLst>
          </p:cNvPr>
          <p:cNvGraphicFramePr/>
          <p:nvPr/>
        </p:nvGraphicFramePr>
        <p:xfrm>
          <a:off xmlns:a="http://schemas.openxmlformats.org/drawingml/2006/main" x="7000875" y="4124325"/>
          <a:ext xmlns:a="http://schemas.openxmlformats.org/drawingml/2006/main" cx="4657725" cy="1847850"/>
        </p:xfrm>
        <a:graphic xmlns:a="http://schemas.openxmlformats.org/drawingml/2006/main">
          <a:graphicData uri="http://schemas.openxmlformats.org/drawingml/2006/table">
            <a:tbl>
              <a:tblPr firstRow="1" bandRow="0"/>
              <a:tblGrid>
                <a:gridCol w="781050"/>
                <a:gridCol w="1047750"/>
                <a:gridCol w="990600"/>
                <a:gridCol w="1838325"/>
              </a:tblGrid>
              <a:tr h="461963">
                <a:tc>
                  <a:txBody>
                    <a:bodyPr/>
                    <a:lstStyle/>
                    <a:p>
                      <a:pPr algn="l"/>
                      <a:r>
                        <a:rPr sz="1650" b="1">
                          <a:solidFill>
                            <a:srgbClr val="FFFFFF"/>
                          </a:solidFill>
                          <a:latin typeface="Helvetica Neue"/>
                          <a:ea typeface="Helvetica Neue"/>
                          <a:cs typeface="Helvetica Neue"/>
                        </a:rPr>
                        <a:t>Draw</a:t>
                      </a:r>
                    </a:p>
                  </a:txBody>
                  <a:tcPr marL="76200" marR="76200" marT="95250" marB="95250" anchor="ctr">
                    <a:lnL w="4763">
                      <a:solidFill>
                        <a:srgbClr val="D7DBDF"/>
                      </a:solidFill>
                    </a:lnL>
                    <a:lnR w="4763">
                      <a:solidFill>
                        <a:srgbClr val="D7DBDF"/>
                      </a:solidFill>
                    </a:lnR>
                    <a:lnT w="4763">
                      <a:solidFill>
                        <a:srgbClr val="D7DBDF"/>
                      </a:solidFill>
                    </a:lnT>
                    <a:lnB w="4763">
                      <a:solidFill>
                        <a:srgbClr val="D7DBDF"/>
                      </a:solidFill>
                    </a:lnB>
                    <a:solidFill>
                      <a:srgbClr val="861F41"/>
                    </a:solidFill>
                  </a:tcPr>
                </a:tc>
                <a:tc>
                  <a:txBody>
                    <a:bodyPr/>
                    <a:lstStyle/>
                    <a:p>
                      <a:pPr algn="r"/>
                      <a:r>
                        <a:rPr sz="1650" b="1">
                          <a:solidFill>
                            <a:srgbClr val="FFFFFF"/>
                          </a:solidFill>
                          <a:latin typeface="Helvetica Neue"/>
                          <a:ea typeface="Helvetica Neue"/>
                          <a:cs typeface="Helvetica Neue"/>
                        </a:rPr>
                        <a:t>Aware</a:t>
                      </a:r>
                    </a:p>
                  </a:txBody>
                  <a:tcPr marL="76200" marR="76200" marT="95250" marB="95250" anchor="ctr">
                    <a:lnR w="4763">
                      <a:solidFill>
                        <a:srgbClr val="D7DBDF"/>
                      </a:solidFill>
                    </a:lnR>
                    <a:lnT w="4763">
                      <a:solidFill>
                        <a:srgbClr val="D7DBDF"/>
                      </a:solidFill>
                    </a:lnT>
                    <a:lnB w="4763">
                      <a:solidFill>
                        <a:srgbClr val="D7DBDF"/>
                      </a:solidFill>
                    </a:lnB>
                    <a:solidFill>
                      <a:srgbClr val="861F41"/>
                    </a:solidFill>
                  </a:tcPr>
                </a:tc>
                <a:tc>
                  <a:txBody>
                    <a:bodyPr/>
                    <a:lstStyle/>
                    <a:p>
                      <a:pPr algn="r"/>
                      <a:r>
                        <a:rPr sz="1650" b="1">
                          <a:solidFill>
                            <a:srgbClr val="FFFFFF"/>
                          </a:solidFill>
                          <a:latin typeface="Helvetica Neue"/>
                          <a:ea typeface="Helvetica Neue"/>
                          <a:cs typeface="Helvetica Neue"/>
                        </a:rPr>
                        <a:t>Blind</a:t>
                      </a:r>
                    </a:p>
                  </a:txBody>
                  <a:tcPr marL="76200" marR="76200" marT="95250" marB="95250" anchor="ctr">
                    <a:lnR w="4763">
                      <a:solidFill>
                        <a:srgbClr val="D7DBDF"/>
                      </a:solidFill>
                    </a:lnR>
                    <a:lnT w="4763">
                      <a:solidFill>
                        <a:srgbClr val="D7DBDF"/>
                      </a:solidFill>
                    </a:lnT>
                    <a:lnB w="4763">
                      <a:solidFill>
                        <a:srgbClr val="D7DBDF"/>
                      </a:solidFill>
                    </a:lnB>
                    <a:solidFill>
                      <a:srgbClr val="861F41"/>
                    </a:solidFill>
                  </a:tcPr>
                </a:tc>
                <a:tc>
                  <a:txBody>
                    <a:bodyPr/>
                    <a:lstStyle/>
                    <a:p>
                      <a:pPr algn="r"/>
                      <a:r>
                        <a:rPr sz="1650" b="1">
                          <a:solidFill>
                            <a:srgbClr val="FFFFFF"/>
                          </a:solidFill>
                          <a:latin typeface="Helvetica Neue"/>
                          <a:ea typeface="Helvetica Neue"/>
                          <a:cs typeface="Helvetica Neue"/>
                        </a:rPr>
                        <a:t>Blind−aware</a:t>
                      </a:r>
                    </a:p>
                  </a:txBody>
                  <a:tcPr marL="76200" marR="76200" marT="95250" marB="95250" anchor="ctr">
                    <a:lnR w="4763">
                      <a:solidFill>
                        <a:srgbClr val="D7DBDF"/>
                      </a:solidFill>
                    </a:lnR>
                    <a:lnT w="4763">
                      <a:solidFill>
                        <a:srgbClr val="D7DBDF"/>
                      </a:solidFill>
                    </a:lnT>
                    <a:lnB w="4763">
                      <a:solidFill>
                        <a:srgbClr val="D7DBDF"/>
                      </a:solidFill>
                    </a:lnB>
                    <a:solidFill>
                      <a:srgbClr val="861F41"/>
                    </a:solidFill>
                  </a:tcPr>
                </a:tc>
              </a:tr>
              <a:tr h="461963">
                <a:tc>
                  <a:txBody>
                    <a:bodyPr/>
                    <a:lstStyle/>
                    <a:p>
                      <a:pPr algn="l"/>
                      <a:r>
                        <a:rPr sz="1650" b="0">
                          <a:solidFill>
                            <a:srgbClr val="253746"/>
                          </a:solidFill>
                          <a:latin typeface="Helvetica Neue"/>
                          <a:ea typeface="Helvetica Neue"/>
                          <a:cs typeface="Helvetica Neue"/>
                        </a:rPr>
                        <a:t>0</a:t>
                      </a:r>
                    </a:p>
                  </a:txBody>
                  <a:tcPr marL="76200" marR="76200" marT="95250" marB="95250" anchor="ctr">
                    <a:lnL w="4763">
                      <a:solidFill>
                        <a:srgbClr val="D7DBDF"/>
                      </a:solidFill>
                    </a:lnL>
                    <a:lnR w="4763">
                      <a:solidFill>
                        <a:srgbClr val="D7DBDF"/>
                      </a:solidFill>
                    </a:lnR>
                    <a:lnB w="4763">
                      <a:solidFill>
                        <a:srgbClr val="D7DBDF"/>
                      </a:solidFill>
                    </a:lnB>
                    <a:solidFill>
                      <a:srgbClr val="FFFFFF"/>
                    </a:solidFill>
                  </a:tcPr>
                </a:tc>
                <a:tc>
                  <a:txBody>
                    <a:bodyPr/>
                    <a:lstStyle/>
                    <a:p>
                      <a:pPr algn="r"/>
                      <a:r>
                        <a:rPr sz="1650" b="0">
                          <a:solidFill>
                            <a:srgbClr val="253746"/>
                          </a:solidFill>
                          <a:latin typeface="Helvetica Neue"/>
                          <a:ea typeface="Helvetica Neue"/>
                          <a:cs typeface="Helvetica Neue"/>
                        </a:rPr>
                        <a:t>9.975</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650" b="0">
                          <a:solidFill>
                            <a:srgbClr val="253746"/>
                          </a:solidFill>
                          <a:latin typeface="Helvetica Neue"/>
                          <a:ea typeface="Helvetica Neue"/>
                          <a:cs typeface="Helvetica Neue"/>
                        </a:rPr>
                        <a:t>0.754</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650" b="0">
                          <a:solidFill>
                            <a:srgbClr val="253746"/>
                          </a:solidFill>
                          <a:latin typeface="Helvetica Neue"/>
                          <a:ea typeface="Helvetica Neue"/>
                          <a:cs typeface="Helvetica Neue"/>
                        </a:rPr>
                        <a:t>-9.221</a:t>
                      </a:r>
                    </a:p>
                  </a:txBody>
                  <a:tcPr marL="76200" marR="76200" marT="95250" marB="95250" anchor="ctr">
                    <a:lnR w="4763">
                      <a:solidFill>
                        <a:srgbClr val="D7DBDF"/>
                      </a:solidFill>
                    </a:lnR>
                    <a:lnB w="4763">
                      <a:solidFill>
                        <a:srgbClr val="D7DBDF"/>
                      </a:solidFill>
                    </a:lnB>
                    <a:solidFill>
                      <a:srgbClr val="FFFFFF"/>
                    </a:solidFill>
                  </a:tcPr>
                </a:tc>
              </a:tr>
              <a:tr h="461963">
                <a:tc>
                  <a:txBody>
                    <a:bodyPr/>
                    <a:lstStyle/>
                    <a:p>
                      <a:pPr algn="l"/>
                      <a:r>
                        <a:rPr sz="1650" b="0">
                          <a:solidFill>
                            <a:srgbClr val="253746"/>
                          </a:solidFill>
                          <a:latin typeface="Helvetica Neue"/>
                          <a:ea typeface="Helvetica Neue"/>
                          <a:cs typeface="Helvetica Neue"/>
                        </a:rPr>
                        <a:t>1</a:t>
                      </a:r>
                    </a:p>
                  </a:txBody>
                  <a:tcPr marL="76200" marR="76200" marT="95250" marB="95250" anchor="ctr">
                    <a:lnL w="4763">
                      <a:solidFill>
                        <a:srgbClr val="D7DBDF"/>
                      </a:solidFill>
                    </a:lnL>
                    <a:lnR w="4763">
                      <a:solidFill>
                        <a:srgbClr val="D7DBDF"/>
                      </a:solidFill>
                    </a:lnR>
                    <a:lnB w="4763">
                      <a:solidFill>
                        <a:srgbClr val="D7DBDF"/>
                      </a:solidFill>
                    </a:lnB>
                    <a:solidFill>
                      <a:srgbClr val="FFFFFF"/>
                    </a:solidFill>
                  </a:tcPr>
                </a:tc>
                <a:tc>
                  <a:txBody>
                    <a:bodyPr/>
                    <a:lstStyle/>
                    <a:p>
                      <a:pPr algn="r"/>
                      <a:r>
                        <a:rPr sz="1650" b="0">
                          <a:solidFill>
                            <a:srgbClr val="253746"/>
                          </a:solidFill>
                          <a:latin typeface="Helvetica Neue"/>
                          <a:ea typeface="Helvetica Neue"/>
                          <a:cs typeface="Helvetica Neue"/>
                        </a:rPr>
                        <a:t>-1.331</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650" b="0">
                          <a:solidFill>
                            <a:srgbClr val="253746"/>
                          </a:solidFill>
                          <a:latin typeface="Helvetica Neue"/>
                          <a:ea typeface="Helvetica Neue"/>
                          <a:cs typeface="Helvetica Neue"/>
                        </a:rPr>
                        <a:t>0.976</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650" b="0">
                          <a:solidFill>
                            <a:srgbClr val="253746"/>
                          </a:solidFill>
                          <a:latin typeface="Helvetica Neue"/>
                          <a:ea typeface="Helvetica Neue"/>
                          <a:cs typeface="Helvetica Neue"/>
                        </a:rPr>
                        <a:t>2.307</a:t>
                      </a:r>
                    </a:p>
                  </a:txBody>
                  <a:tcPr marL="76200" marR="76200" marT="95250" marB="95250" anchor="ctr">
                    <a:lnR w="4763">
                      <a:solidFill>
                        <a:srgbClr val="D7DBDF"/>
                      </a:solidFill>
                    </a:lnR>
                    <a:lnB w="4763">
                      <a:solidFill>
                        <a:srgbClr val="D7DBDF"/>
                      </a:solidFill>
                    </a:lnB>
                    <a:solidFill>
                      <a:srgbClr val="FFFFFF"/>
                    </a:solidFill>
                  </a:tcPr>
                </a:tc>
              </a:tr>
              <a:tr h="461963">
                <a:tc>
                  <a:txBody>
                    <a:bodyPr/>
                    <a:lstStyle/>
                    <a:p>
                      <a:pPr algn="l"/>
                      <a:r>
                        <a:rPr sz="1650" b="0">
                          <a:solidFill>
                            <a:srgbClr val="253746"/>
                          </a:solidFill>
                          <a:latin typeface="Helvetica Neue"/>
                          <a:ea typeface="Helvetica Neue"/>
                          <a:cs typeface="Helvetica Neue"/>
                        </a:rPr>
                        <a:t>2</a:t>
                      </a:r>
                    </a:p>
                  </a:txBody>
                  <a:tcPr marL="76200" marR="76200" marT="95250" marB="95250" anchor="ctr">
                    <a:lnL w="4763">
                      <a:solidFill>
                        <a:srgbClr val="D7DBDF"/>
                      </a:solidFill>
                    </a:lnL>
                    <a:lnR w="4763">
                      <a:solidFill>
                        <a:srgbClr val="D7DBDF"/>
                      </a:solidFill>
                    </a:lnR>
                    <a:lnB w="4763">
                      <a:solidFill>
                        <a:srgbClr val="D7DBDF"/>
                      </a:solidFill>
                    </a:lnB>
                    <a:solidFill>
                      <a:srgbClr val="FFFFFF"/>
                    </a:solidFill>
                  </a:tcPr>
                </a:tc>
                <a:tc>
                  <a:txBody>
                    <a:bodyPr/>
                    <a:lstStyle/>
                    <a:p>
                      <a:pPr algn="r"/>
                      <a:r>
                        <a:rPr sz="1650" b="0">
                          <a:solidFill>
                            <a:srgbClr val="253746"/>
                          </a:solidFill>
                          <a:latin typeface="Helvetica Neue"/>
                          <a:ea typeface="Helvetica Neue"/>
                          <a:cs typeface="Helvetica Neue"/>
                        </a:rPr>
                        <a:t>18.168</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650" b="0">
                          <a:solidFill>
                            <a:srgbClr val="253746"/>
                          </a:solidFill>
                          <a:latin typeface="Helvetica Neue"/>
                          <a:ea typeface="Helvetica Neue"/>
                          <a:cs typeface="Helvetica Neue"/>
                        </a:rPr>
                        <a:t>0.652</a:t>
                      </a:r>
                    </a:p>
                  </a:txBody>
                  <a:tcPr marL="76200" marR="76200" marT="95250" marB="95250" anchor="ctr">
                    <a:lnR w="4763">
                      <a:solidFill>
                        <a:srgbClr val="D7DBDF"/>
                      </a:solidFill>
                    </a:lnR>
                    <a:lnB w="4763">
                      <a:solidFill>
                        <a:srgbClr val="D7DBDF"/>
                      </a:solidFill>
                    </a:lnB>
                    <a:solidFill>
                      <a:srgbClr val="FFFFFF"/>
                    </a:solidFill>
                  </a:tcPr>
                </a:tc>
                <a:tc>
                  <a:txBody>
                    <a:bodyPr/>
                    <a:lstStyle/>
                    <a:p>
                      <a:pPr algn="r"/>
                      <a:r>
                        <a:rPr sz="1650" b="0">
                          <a:solidFill>
                            <a:srgbClr val="253746"/>
                          </a:solidFill>
                          <a:latin typeface="Helvetica Neue"/>
                          <a:ea typeface="Helvetica Neue"/>
                          <a:cs typeface="Helvetica Neue"/>
                        </a:rPr>
                        <a:t>-17.516</a:t>
                      </a:r>
                    </a:p>
                  </a:txBody>
                  <a:tcPr marL="76200" marR="76200" marT="95250" marB="95250" anchor="ctr">
                    <a:lnR w="4763">
                      <a:solidFill>
                        <a:srgbClr val="D7DBDF"/>
                      </a:solidFill>
                    </a:lnR>
                    <a:lnB w="4763">
                      <a:solidFill>
                        <a:srgbClr val="D7DBDF"/>
                      </a:solidFill>
                    </a:lnB>
                    <a:solidFill>
                      <a:srgbClr val="FFFFFF"/>
                    </a:solidFill>
                  </a:tcPr>
                </a:tc>
              </a:tr>
            </a:tbl>
          </a:graphicData>
        </a:graphic>
      </p:graphicFrame>
      <p:sp>
        <p:nvSpPr>
          <p:cNvPr id="23" name="text-68">
            <a:extLst xmlns:a="http://schemas.openxmlformats.org/drawingml/2006/main">
              <a:ext uri="{FF2B5EF4-FFF2-40B4-BE49-F238E27FC236}">
                <a16:creationId xmlns:a16="http://schemas.microsoft.com/office/drawing/2014/main" id="{EC4D4C74-7C21-4360-B00D-C904D5216CCD}"/>
              </a:ext>
            </a:extLst>
          </p:cNvPr>
          <p:cNvSpPr>
            <a:spLocks xmlns:a="http://schemas.openxmlformats.org/drawingml/2006/main" noGrp="1"/>
          </p:cNvSpPr>
          <p:nvPr/>
        </p:nvSpPr>
        <p:spPr>
          <a:xfrm xmlns:a="http://schemas.openxmlformats.org/drawingml/2006/main">
            <a:off x="7000875" y="6153150"/>
            <a:ext cx="4657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8737D"/>
                </a:solidFill>
                <a:latin typeface="Helvetica Neue"/>
                <a:ea typeface="Helvetica Neue"/>
                <a:cs typeface="Helvetica Neue"/>
              </a:defRPr>
            </a:defPPr>
          </a:lstStyle>
          <a:p xmlns:a="http://schemas.openxmlformats.org/drawingml/2006/main">
            <a:pPr algn="l">
              <a:defRPr sz="1575" b="0">
                <a:solidFill>
                  <a:srgbClr val="68737D"/>
                </a:solidFill>
                <a:latin typeface="Helvetica Neue"/>
                <a:ea typeface="Helvetica Neue"/>
                <a:cs typeface="Helvetica Neue"/>
              </a:defRPr>
            </a:pPr>
            <a:r>
              <a:rPr sz="1575" b="0">
                <a:solidFill>
                  <a:srgbClr val="68737D"/>
                </a:solidFill>
                <a:latin typeface="Helvetica Neue"/>
                <a:ea typeface="Helvetica Neue"/>
                <a:cs typeface="Helvetica Neue"/>
              </a:rPr>
              <a:t>5 pilot reuses + 195 new replications</a:t>
            </a:r>
          </a:p>
        </p:txBody>
      </p:sp>
    </p:spTree>
    <p:extLst>
      <p:ext uri="{BB962C8B-B14F-4D97-AF65-F5344CB8AC3E}">
        <p14:creationId xmlns:p14="http://schemas.microsoft.com/office/powerpoint/2010/main" val="3685531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69">
            <a:extLst xmlns:a="http://schemas.openxmlformats.org/drawingml/2006/main">
              <a:ext uri="{FF2B5EF4-FFF2-40B4-BE49-F238E27FC236}">
                <a16:creationId xmlns:a16="http://schemas.microsoft.com/office/drawing/2014/main" id="{46CE73C4-14D4-4BB3-A795-F229E12CE026}"/>
              </a:ext>
            </a:extLst>
          </p:cNvPr>
          <p:cNvSpPr>
            <a:spLocks xmlns:a="http://schemas.openxmlformats.org/drawingml/2006/main" noGrp="1"/>
          </p:cNvSpPr>
          <p:nvPr/>
        </p:nvSpPr>
        <p:spPr>
          <a:xfrm xmlns:a="http://schemas.openxmlformats.org/drawingml/2006/main">
            <a:off x="533400" y="371475"/>
            <a:ext cx="1114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861F41"/>
                </a:solidFill>
                <a:latin typeface="Helvetica Neue"/>
                <a:ea typeface="Helvetica Neue"/>
                <a:cs typeface="Helvetica Neue"/>
              </a:defRPr>
            </a:defPPr>
          </a:lstStyle>
          <a:p xmlns:a="http://schemas.openxmlformats.org/drawingml/2006/main">
            <a:pPr algn="l">
              <a:defRPr sz="3150" b="1">
                <a:solidFill>
                  <a:srgbClr val="861F41"/>
                </a:solidFill>
                <a:latin typeface="Helvetica Neue"/>
                <a:ea typeface="Helvetica Neue"/>
                <a:cs typeface="Helvetica Neue"/>
              </a:defRPr>
            </a:pPr>
            <a:r>
              <a:rPr sz="3150" b="1">
                <a:solidFill>
                  <a:srgbClr val="861F41"/>
                </a:solidFill>
                <a:latin typeface="Helvetica Neue"/>
                <a:ea typeface="Helvetica Neue"/>
                <a:cs typeface="Helvetica Neue"/>
              </a:rPr>
              <a:t>Noisy Group-Aware Estimates Produce Unstable Gaps</a:t>
            </a:r>
          </a:p>
        </p:txBody>
      </p:sp>
      <p:sp>
        <p:nvSpPr>
          <p:cNvPr id="2" name="">
            <a:extLst xmlns:a="http://schemas.openxmlformats.org/drawingml/2006/main">
              <a:ext uri="{FF2B5EF4-FFF2-40B4-BE49-F238E27FC236}">
                <a16:creationId xmlns:a16="http://schemas.microsoft.com/office/drawing/2014/main" id="{6E69B26F-A408-42B6-B3D7-BB307DCA5AAE}"/>
              </a:ext>
            </a:extLst>
          </p:cNvPr>
          <p:cNvSpPr>
            <a:spLocks xmlns:a="http://schemas.openxmlformats.org/drawingml/2006/main" noGrp="1"/>
          </p:cNvSpPr>
          <p:nvPr/>
        </p:nvSpPr>
        <p:spPr>
          <a:xfrm xmlns:a="http://schemas.openxmlformats.org/drawingml/2006/main">
            <a:off x="533400" y="1057275"/>
            <a:ext cx="11125200" cy="0"/>
          </a:xfrm>
          <a:prstGeom xmlns:a="http://schemas.openxmlformats.org/drawingml/2006/main" prst="line">
            <a:avLst/>
          </a:prstGeom>
          <a:noFill xmlns:a="http://schemas.openxmlformats.org/drawingml/2006/main"/>
          <a:ln xmlns:a="http://schemas.openxmlformats.org/drawingml/2006/main" w="9525">
            <a:solidFill>
              <a:srgbClr val="D7DBDF"/>
            </a:solidFill>
          </a:ln>
        </p:spPr>
      </p:sp>
      <p:sp>
        <p:nvSpPr>
          <p:cNvPr id="3" name="text-70">
            <a:extLst xmlns:a="http://schemas.openxmlformats.org/drawingml/2006/main">
              <a:ext uri="{FF2B5EF4-FFF2-40B4-BE49-F238E27FC236}">
                <a16:creationId xmlns:a16="http://schemas.microsoft.com/office/drawing/2014/main" id="{8B3E4148-8CF4-4949-A866-90D711815487}"/>
              </a:ext>
            </a:extLst>
          </p:cNvPr>
          <p:cNvSpPr>
            <a:spLocks xmlns:a="http://schemas.openxmlformats.org/drawingml/2006/main" noGrp="1"/>
          </p:cNvSpPr>
          <p:nvPr/>
        </p:nvSpPr>
        <p:spPr>
          <a:xfrm xmlns:a="http://schemas.openxmlformats.org/drawingml/2006/main">
            <a:off x="533400" y="65151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68737D"/>
                </a:solidFill>
                <a:latin typeface="Helvetica Neue"/>
                <a:ea typeface="Helvetica Neue"/>
                <a:cs typeface="Helvetica Neue"/>
              </a:defRPr>
            </a:defPPr>
          </a:lstStyle>
          <a:p xmlns:a="http://schemas.openxmlformats.org/drawingml/2006/main">
            <a:pPr algn="l">
              <a:defRPr sz="1013" b="0">
                <a:solidFill>
                  <a:srgbClr val="68737D"/>
                </a:solidFill>
                <a:latin typeface="Helvetica Neue"/>
                <a:ea typeface="Helvetica Neue"/>
                <a:cs typeface="Helvetica Neue"/>
              </a:defRPr>
            </a:pPr>
            <a:r>
              <a:rPr sz="1013" b="0">
                <a:solidFill>
                  <a:srgbClr val="68737D"/>
                </a:solidFill>
                <a:latin typeface="Helvetica Neue"/>
                <a:ea typeface="Helvetica Neue"/>
                <a:cs typeface="Helvetica Neue"/>
              </a:rPr>
              <a:t>Source: noise_full_results.csv, 200 draws. Brackets show p2.5–p97.5 empirical noise spreads, not causal intervals.</a:t>
            </a:r>
          </a:p>
        </p:txBody>
      </p:sp>
      <p:sp>
        <p:nvSpPr>
          <p:cNvPr id="4" name="text-71">
            <a:extLst xmlns:a="http://schemas.openxmlformats.org/drawingml/2006/main">
              <a:ext uri="{FF2B5EF4-FFF2-40B4-BE49-F238E27FC236}">
                <a16:creationId xmlns:a16="http://schemas.microsoft.com/office/drawing/2014/main" id="{C9274380-076D-4EDE-9792-FC353DD2AE3E}"/>
              </a:ext>
            </a:extLst>
          </p:cNvPr>
          <p:cNvSpPr>
            <a:spLocks xmlns:a="http://schemas.openxmlformats.org/drawingml/2006/main" noGrp="1"/>
          </p:cNvSpPr>
          <p:nvPr/>
        </p:nvSpPr>
        <p:spPr>
          <a:xfrm xmlns:a="http://schemas.openxmlformats.org/drawingml/2006/main">
            <a:off x="11506200" y="6515100"/>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8737D"/>
                </a:solidFill>
                <a:latin typeface="Helvetica Neue"/>
                <a:ea typeface="Helvetica Neue"/>
                <a:cs typeface="Helvetica Neue"/>
              </a:defRPr>
            </a:defPPr>
          </a:lstStyle>
          <a:p xmlns:a="http://schemas.openxmlformats.org/drawingml/2006/main">
            <a:pPr algn="r">
              <a:defRPr sz="1050" b="0">
                <a:solidFill>
                  <a:srgbClr val="68737D"/>
                </a:solidFill>
                <a:latin typeface="Helvetica Neue"/>
                <a:ea typeface="Helvetica Neue"/>
                <a:cs typeface="Helvetica Neue"/>
              </a:defRPr>
            </a:pPr>
            <a:r>
              <a:rPr sz="1050" b="0">
                <a:solidFill>
                  <a:srgbClr val="68737D"/>
                </a:solidFill>
                <a:latin typeface="Helvetica Neue"/>
                <a:ea typeface="Helvetica Neue"/>
                <a:cs typeface="Helvetica Neue"/>
              </a:rPr>
              <a:t>06</a:t>
            </a:r>
          </a:p>
        </p:txBody>
      </p:sp>
      <p:sp>
        <p:nvSpPr>
          <p:cNvPr id="5" name="text-72">
            <a:extLst xmlns:a="http://schemas.openxmlformats.org/drawingml/2006/main">
              <a:ext uri="{FF2B5EF4-FFF2-40B4-BE49-F238E27FC236}">
                <a16:creationId xmlns:a16="http://schemas.microsoft.com/office/drawing/2014/main" id="{7E3A1925-2037-4A56-AB86-CFE4A307443C}"/>
              </a:ext>
            </a:extLst>
          </p:cNvPr>
          <p:cNvSpPr>
            <a:spLocks xmlns:a="http://schemas.openxmlformats.org/drawingml/2006/main" noGrp="1"/>
          </p:cNvSpPr>
          <p:nvPr/>
        </p:nvSpPr>
        <p:spPr>
          <a:xfrm xmlns:a="http://schemas.openxmlformats.org/drawingml/2006/main">
            <a:off x="533400" y="11239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8737D"/>
                </a:solidFill>
                <a:latin typeface="Helvetica Neue"/>
                <a:ea typeface="Helvetica Neue"/>
                <a:cs typeface="Helvetica Neue"/>
              </a:defRPr>
            </a:defPPr>
          </a:lstStyle>
          <a:p xmlns:a="http://schemas.openxmlformats.org/drawingml/2006/main">
            <a:pPr algn="l">
              <a:defRPr sz="1650" b="0">
                <a:solidFill>
                  <a:srgbClr val="68737D"/>
                </a:solidFill>
                <a:latin typeface="Helvetica Neue"/>
                <a:ea typeface="Helvetica Neue"/>
                <a:cs typeface="Helvetica Neue"/>
              </a:defRPr>
            </a:pPr>
            <a:r>
              <a:rPr sz="1650" b="0">
                <a:solidFill>
                  <a:srgbClr val="68737D"/>
                </a:solidFill>
                <a:latin typeface="Helvetica Neue"/>
                <a:ea typeface="Helvetica Neue"/>
                <a:cs typeface="Helvetica Neue"/>
              </a:rPr>
              <a:t>The original gap changed direction across independent noise draws.</a:t>
            </a:r>
          </a:p>
        </p:txBody>
      </p:sp>
      <p:pic>
        <p:nvPicPr>
          <p:cNvPr id="6" name="">
            <a:extLst xmlns:a="http://schemas.openxmlformats.org/drawingml/2006/main">
              <a:ext uri="{FF2B5EF4-FFF2-40B4-BE49-F238E27FC236}">
                <a16:creationId xmlns:a16="http://schemas.microsoft.com/office/drawing/2014/main" id="{8C824A51-D181-4BAB-9947-9BABB3CA0F85}"/>
              </a:ext>
            </a:extLst>
          </p:cNvPr>
          <p:cNvPicPr>
            <a:picLocks xmlns:a="http://schemas.openxmlformats.org/drawingml/2006/main" noChangeAspect="1"/>
          </p:cNvPicPr>
          <p:nvPr/>
        </p:nvPicPr>
        <p:blipFill>
          <a:blip xmlns:r="http://schemas.openxmlformats.org/officeDocument/2006/relationships" xmlns:a="http://schemas.openxmlformats.org/drawingml/2006/main" r:embed="R34f0bfd5d8834976"/>
          <a:stretch xmlns:a="http://schemas.openxmlformats.org/drawingml/2006/main"/>
        </p:blipFill>
        <p:spPr>
          <a:xfrm xmlns:a="http://schemas.openxmlformats.org/drawingml/2006/main">
            <a:off x="447675" y="1362075"/>
            <a:ext cx="6286500" cy="40005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F1B4A6FA-9EDA-430D-A568-63792B416DE0}"/>
              </a:ext>
            </a:extLst>
          </p:cNvPr>
          <p:cNvPicPr>
            <a:picLocks xmlns:a="http://schemas.openxmlformats.org/drawingml/2006/main" noChangeAspect="1"/>
          </p:cNvPicPr>
          <p:nvPr/>
        </p:nvPicPr>
        <p:blipFill>
          <a:blip xmlns:r="http://schemas.openxmlformats.org/officeDocument/2006/relationships" xmlns:a="http://schemas.openxmlformats.org/drawingml/2006/main" r:embed="Rdcee33f09fb7478c"/>
          <a:stretch xmlns:a="http://schemas.openxmlformats.org/drawingml/2006/main"/>
        </p:blipFill>
        <p:spPr>
          <a:xfrm xmlns:a="http://schemas.openxmlformats.org/drawingml/2006/main">
            <a:off x="7200900" y="1440656"/>
            <a:ext cx="4457700" cy="3900488"/>
          </a:xfrm>
          <a:prstGeom xmlns:a="http://schemas.openxmlformats.org/drawingml/2006/main" prst="rect">
            <a:avLst/>
          </a:prstGeom>
        </p:spPr>
      </p:pic>
      <p:sp>
        <p:nvSpPr>
          <p:cNvPr id="8" name="text-73">
            <a:extLst xmlns:a="http://schemas.openxmlformats.org/drawingml/2006/main">
              <a:ext uri="{FF2B5EF4-FFF2-40B4-BE49-F238E27FC236}">
                <a16:creationId xmlns:a16="http://schemas.microsoft.com/office/drawing/2014/main" id="{3EFA450F-AF62-49E9-9B36-CEFA1BB79C0C}"/>
              </a:ext>
            </a:extLst>
          </p:cNvPr>
          <p:cNvSpPr>
            <a:spLocks xmlns:a="http://schemas.openxmlformats.org/drawingml/2006/main" noGrp="1"/>
          </p:cNvSpPr>
          <p:nvPr/>
        </p:nvSpPr>
        <p:spPr>
          <a:xfrm xmlns:a="http://schemas.openxmlformats.org/drawingml/2006/main">
            <a:off x="533400" y="5410200"/>
            <a:ext cx="638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53746"/>
                </a:solidFill>
                <a:latin typeface="Helvetica Neue"/>
                <a:ea typeface="Helvetica Neue"/>
                <a:cs typeface="Helvetica Neue"/>
              </a:defRPr>
            </a:defPPr>
          </a:lstStyle>
          <a:p xmlns:a="http://schemas.openxmlformats.org/drawingml/2006/main">
            <a:pPr algn="l">
              <a:defRPr sz="1650" b="0">
                <a:solidFill>
                  <a:srgbClr val="253746"/>
                </a:solidFill>
                <a:latin typeface="Helvetica Neue"/>
                <a:ea typeface="Helvetica Neue"/>
                <a:cs typeface="Helvetica Neue"/>
              </a:defRPr>
            </a:pPr>
            <a:r>
              <a:rPr sz="1650" b="0">
                <a:solidFill>
                  <a:srgbClr val="253746"/>
                </a:solidFill>
                <a:latin typeface="Helvetica Neue"/>
                <a:ea typeface="Helvetica Neue"/>
                <a:cs typeface="Helvetica Neue"/>
              </a:rPr>
              <a:t>Aware mean +8.840 pp, SD 36.206 [−46.658, +82.129]</a:t>
            </a:r>
          </a:p>
          <a:p xmlns:a="http://schemas.openxmlformats.org/drawingml/2006/main">
            <a:pPr algn="l">
              <a:defRPr sz="1650" b="0">
                <a:solidFill>
                  <a:srgbClr val="253746"/>
                </a:solidFill>
                <a:latin typeface="Helvetica Neue"/>
                <a:ea typeface="Helvetica Neue"/>
                <a:cs typeface="Helvetica Neue"/>
              </a:defRPr>
            </a:pPr>
            <a:r>
              <a:rPr sz="1650" b="0">
                <a:solidFill>
                  <a:srgbClr val="253746"/>
                </a:solidFill>
                <a:latin typeface="Helvetica Neue"/>
                <a:ea typeface="Helvetica Neue"/>
                <a:cs typeface="Helvetica Neue"/>
              </a:rPr>
              <a:t>Blind mean +0.366 pp, SD 0.599 [−1.200, +1.454]</a:t>
            </a:r>
          </a:p>
        </p:txBody>
      </p:sp>
      <p:sp>
        <p:nvSpPr>
          <p:cNvPr id="9" name="text-74">
            <a:extLst xmlns:a="http://schemas.openxmlformats.org/drawingml/2006/main">
              <a:ext uri="{FF2B5EF4-FFF2-40B4-BE49-F238E27FC236}">
                <a16:creationId xmlns:a16="http://schemas.microsoft.com/office/drawing/2014/main" id="{E1E24515-B931-4277-BF0F-4DE26F735106}"/>
              </a:ext>
            </a:extLst>
          </p:cNvPr>
          <p:cNvSpPr>
            <a:spLocks xmlns:a="http://schemas.openxmlformats.org/drawingml/2006/main" noGrp="1"/>
          </p:cNvSpPr>
          <p:nvPr/>
        </p:nvSpPr>
        <p:spPr>
          <a:xfrm xmlns:a="http://schemas.openxmlformats.org/drawingml/2006/main">
            <a:off x="7200900" y="5410200"/>
            <a:ext cx="4457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53746"/>
                </a:solidFill>
                <a:latin typeface="Helvetica Neue"/>
                <a:ea typeface="Helvetica Neue"/>
                <a:cs typeface="Helvetica Neue"/>
              </a:defRPr>
            </a:defPPr>
          </a:lstStyle>
          <a:p xmlns:a="http://schemas.openxmlformats.org/drawingml/2006/main">
            <a:pPr algn="l">
              <a:defRPr sz="1575" b="0">
                <a:solidFill>
                  <a:srgbClr val="253746"/>
                </a:solidFill>
                <a:latin typeface="Helvetica Neue"/>
                <a:ea typeface="Helvetica Neue"/>
                <a:cs typeface="Helvetica Neue"/>
              </a:defRPr>
            </a:pPr>
            <a:r>
              <a:rPr sz="1575" b="0">
                <a:solidFill>
                  <a:srgbClr val="253746"/>
                </a:solidFill>
                <a:latin typeface="Helvetica Neue"/>
                <a:ea typeface="Helvetica Neue"/>
                <a:cs typeface="Helvetica Neue"/>
              </a:rPr>
              <a:t>52.5% positive / 47.5% negative B slopes</a:t>
            </a:r>
          </a:p>
          <a:p xmlns:a="http://schemas.openxmlformats.org/drawingml/2006/main">
            <a:pPr algn="l">
              <a:defRPr sz="1575" b="0">
                <a:solidFill>
                  <a:srgbClr val="253746"/>
                </a:solidFill>
                <a:latin typeface="Helvetica Neue"/>
                <a:ea typeface="Helvetica Neue"/>
                <a:cs typeface="Helvetica Neue"/>
              </a:defRPr>
            </a:pPr>
            <a:r>
              <a:rPr sz="1575" b="0">
                <a:solidFill>
                  <a:srgbClr val="253746"/>
                </a:solidFill>
                <a:latin typeface="Helvetica Neue"/>
                <a:ea typeface="Helvetica Neue"/>
                <a:cs typeface="Helvetica Neue"/>
              </a:rPr>
              <a:t>Nearly half of aware gaps were negative.</a:t>
            </a:r>
          </a:p>
        </p:txBody>
      </p:sp>
      <p:sp>
        <p:nvSpPr>
          <p:cNvPr id="10" name="text-75">
            <a:extLst xmlns:a="http://schemas.openxmlformats.org/drawingml/2006/main">
              <a:ext uri="{FF2B5EF4-FFF2-40B4-BE49-F238E27FC236}">
                <a16:creationId xmlns:a16="http://schemas.microsoft.com/office/drawing/2014/main" id="{ADBBDD3F-A48F-401B-B8AD-DA290B2EEE1F}"/>
              </a:ext>
            </a:extLst>
          </p:cNvPr>
          <p:cNvSpPr>
            <a:spLocks xmlns:a="http://schemas.openxmlformats.org/drawingml/2006/main" noGrp="1"/>
          </p:cNvSpPr>
          <p:nvPr/>
        </p:nvSpPr>
        <p:spPr>
          <a:xfrm xmlns:a="http://schemas.openxmlformats.org/drawingml/2006/main">
            <a:off x="533400" y="6086475"/>
            <a:ext cx="633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E5751F"/>
                </a:solidFill>
                <a:latin typeface="Helvetica Neue"/>
                <a:ea typeface="Helvetica Neue"/>
                <a:cs typeface="Helvetica Neue"/>
              </a:defRPr>
            </a:defPPr>
          </a:lstStyle>
          <a:p xmlns:a="http://schemas.openxmlformats.org/drawingml/2006/main">
            <a:pPr algn="l">
              <a:defRPr sz="1875" b="1">
                <a:solidFill>
                  <a:srgbClr val="E5751F"/>
                </a:solidFill>
                <a:latin typeface="Helvetica Neue"/>
                <a:ea typeface="Helvetica Neue"/>
                <a:cs typeface="Helvetica Neue"/>
              </a:defRPr>
            </a:pPr>
            <a:r>
              <a:rPr sz="1875" b="1">
                <a:solidFill>
                  <a:srgbClr val="E5751F"/>
                </a:solidFill>
                <a:latin typeface="Helvetica Neue"/>
                <a:ea typeface="Helvetica Neue"/>
                <a:cs typeface="Helvetica Neue"/>
              </a:rPr>
              <a:t>91.5% had smaller blind absolute gaps</a:t>
            </a:r>
          </a:p>
        </p:txBody>
      </p:sp>
      <p:sp>
        <p:nvSpPr>
          <p:cNvPr id="11" name="text-76">
            <a:extLst xmlns:a="http://schemas.openxmlformats.org/drawingml/2006/main">
              <a:ext uri="{FF2B5EF4-FFF2-40B4-BE49-F238E27FC236}">
                <a16:creationId xmlns:a16="http://schemas.microsoft.com/office/drawing/2014/main" id="{F17D1DB3-7007-4253-BC60-0AAF5977FCA3}"/>
              </a:ext>
            </a:extLst>
          </p:cNvPr>
          <p:cNvSpPr>
            <a:spLocks xmlns:a="http://schemas.openxmlformats.org/drawingml/2006/main" noGrp="1"/>
          </p:cNvSpPr>
          <p:nvPr/>
        </p:nvSpPr>
        <p:spPr>
          <a:xfrm xmlns:a="http://schemas.openxmlformats.org/drawingml/2006/main">
            <a:off x="7200900" y="6086475"/>
            <a:ext cx="4524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861F41"/>
                </a:solidFill>
                <a:latin typeface="Helvetica Neue"/>
                <a:ea typeface="Helvetica Neue"/>
                <a:cs typeface="Helvetica Neue"/>
              </a:defRPr>
            </a:defPPr>
          </a:lstStyle>
          <a:p xmlns:a="http://schemas.openxmlformats.org/drawingml/2006/main">
            <a:pPr algn="l">
              <a:defRPr sz="1725" b="1">
                <a:solidFill>
                  <a:srgbClr val="861F41"/>
                </a:solidFill>
                <a:latin typeface="Helvetica Neue"/>
                <a:ea typeface="Helvetica Neue"/>
                <a:cs typeface="Helvetica Neue"/>
              </a:defRPr>
            </a:pPr>
            <a:r>
              <a:rPr sz="1725" b="1">
                <a:solidFill>
                  <a:srgbClr val="861F41"/>
                </a:solidFill>
                <a:latin typeface="Helvetica Neue"/>
                <a:ea typeface="Helvetica Neue"/>
                <a:cs typeface="Helvetica Neue"/>
              </a:rPr>
              <a:t>65.5% reached the original |14.39 pp| gap</a:t>
            </a:r>
          </a:p>
        </p:txBody>
      </p:sp>
    </p:spTree>
    <p:extLst>
      <p:ext uri="{BB962C8B-B14F-4D97-AF65-F5344CB8AC3E}">
        <p14:creationId xmlns:p14="http://schemas.microsoft.com/office/powerpoint/2010/main" val="12131010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B93AB537-8533-4DC1-8A99-D18A63BC86D5}"/>
              </a:ext>
            </a:extLst>
          </p:cNvPr>
          <p:cNvCxnSpPr>
            <a:stCxn xmlns:a="http://schemas.openxmlformats.org/drawingml/2006/main" id="18" idx="3"/>
            <a:endCxn xmlns:a="http://schemas.openxmlformats.org/drawingml/2006/main" id="20" idx="1"/>
          </p:cNvCxnSpPr>
          <p:nvPr/>
        </p:nvCxnSpPr>
        <p:spPr>
          <a:xfrm xmlns:a="http://schemas.openxmlformats.org/drawingml/2006/main">
            <a:off x="9382125" y="5919788"/>
            <a:ext cx="257175" cy="0"/>
          </a:xfrm>
          <a:prstGeom xmlns:a="http://schemas.openxmlformats.org/drawingml/2006/main" prst="straightConnector1">
            <a:avLst/>
          </a:prstGeom>
          <a:ln xmlns:a="http://schemas.openxmlformats.org/drawingml/2006/main" w="14288">
            <a:solidFill>
              <a:srgbClr val="68737D"/>
            </a:solidFill>
            <a:tailEnd type="triangle" w="med" len="med"/>
          </a:ln>
        </p:spPr>
      </p:cxnSp>
      <p:cxnSp>
        <p:nvCxnSpPr>
          <p:cNvPr id="19" name="">
            <a:extLst xmlns:a="http://schemas.openxmlformats.org/drawingml/2006/main">
              <a:ext uri="{FF2B5EF4-FFF2-40B4-BE49-F238E27FC236}">
                <a16:creationId xmlns:a16="http://schemas.microsoft.com/office/drawing/2014/main" id="{6A31E010-7FB4-4D67-BA2C-245095431062}"/>
              </a:ext>
            </a:extLst>
          </p:cNvPr>
          <p:cNvCxnSpPr>
            <a:stCxn xmlns:a="http://schemas.openxmlformats.org/drawingml/2006/main" id="16" idx="3"/>
            <a:endCxn xmlns:a="http://schemas.openxmlformats.org/drawingml/2006/main" id="18" idx="1"/>
          </p:cNvCxnSpPr>
          <p:nvPr/>
        </p:nvCxnSpPr>
        <p:spPr>
          <a:xfrm xmlns:a="http://schemas.openxmlformats.org/drawingml/2006/main">
            <a:off x="7105650" y="5919788"/>
            <a:ext cx="257175" cy="0"/>
          </a:xfrm>
          <a:prstGeom xmlns:a="http://schemas.openxmlformats.org/drawingml/2006/main" prst="straightConnector1">
            <a:avLst/>
          </a:prstGeom>
          <a:ln xmlns:a="http://schemas.openxmlformats.org/drawingml/2006/main" w="14288">
            <a:solidFill>
              <a:srgbClr val="68737D"/>
            </a:solidFill>
            <a:tailEnd type="triangle" w="med" len="med"/>
          </a:ln>
        </p:spPr>
      </p:cxnSp>
      <p:cxnSp>
        <p:nvCxnSpPr>
          <p:cNvPr id="17" name="">
            <a:extLst xmlns:a="http://schemas.openxmlformats.org/drawingml/2006/main">
              <a:ext uri="{FF2B5EF4-FFF2-40B4-BE49-F238E27FC236}">
                <a16:creationId xmlns:a16="http://schemas.microsoft.com/office/drawing/2014/main" id="{ABF61F29-DEDD-42AE-BB8B-8454CFAC8168}"/>
              </a:ext>
            </a:extLst>
          </p:cNvPr>
          <p:cNvCxnSpPr>
            <a:stCxn xmlns:a="http://schemas.openxmlformats.org/drawingml/2006/main" id="14" idx="3"/>
            <a:endCxn xmlns:a="http://schemas.openxmlformats.org/drawingml/2006/main" id="16" idx="1"/>
          </p:cNvCxnSpPr>
          <p:nvPr/>
        </p:nvCxnSpPr>
        <p:spPr>
          <a:xfrm xmlns:a="http://schemas.openxmlformats.org/drawingml/2006/main">
            <a:off x="4829175" y="5919788"/>
            <a:ext cx="257175" cy="0"/>
          </a:xfrm>
          <a:prstGeom xmlns:a="http://schemas.openxmlformats.org/drawingml/2006/main" prst="straightConnector1">
            <a:avLst/>
          </a:prstGeom>
          <a:ln xmlns:a="http://schemas.openxmlformats.org/drawingml/2006/main" w="14288">
            <a:solidFill>
              <a:srgbClr val="68737D"/>
            </a:solidFill>
            <a:tailEnd type="triangle" w="med" len="med"/>
          </a:ln>
        </p:spPr>
      </p:cxnSp>
      <p:cxnSp>
        <p:nvCxnSpPr>
          <p:cNvPr id="15" name="">
            <a:extLst xmlns:a="http://schemas.openxmlformats.org/drawingml/2006/main">
              <a:ext uri="{FF2B5EF4-FFF2-40B4-BE49-F238E27FC236}">
                <a16:creationId xmlns:a16="http://schemas.microsoft.com/office/drawing/2014/main" id="{B9BD0F37-3280-4A2E-A1B1-56D90A6886B4}"/>
              </a:ext>
            </a:extLst>
          </p:cNvPr>
          <p:cNvCxnSpPr>
            <a:stCxn xmlns:a="http://schemas.openxmlformats.org/drawingml/2006/main" id="13" idx="3"/>
            <a:endCxn xmlns:a="http://schemas.openxmlformats.org/drawingml/2006/main" id="14" idx="1"/>
          </p:cNvCxnSpPr>
          <p:nvPr/>
        </p:nvCxnSpPr>
        <p:spPr>
          <a:xfrm xmlns:a="http://schemas.openxmlformats.org/drawingml/2006/main">
            <a:off x="2552700" y="5919788"/>
            <a:ext cx="257175" cy="0"/>
          </a:xfrm>
          <a:prstGeom xmlns:a="http://schemas.openxmlformats.org/drawingml/2006/main" prst="straightConnector1">
            <a:avLst/>
          </a:prstGeom>
          <a:ln xmlns:a="http://schemas.openxmlformats.org/drawingml/2006/main" w="14288">
            <a:solidFill>
              <a:srgbClr val="68737D"/>
            </a:solidFill>
            <a:tailEnd type="triangle" w="med" len="med"/>
          </a:ln>
        </p:spPr>
      </p:cxnSp>
      <p:sp>
        <p:nvSpPr>
          <p:cNvPr id="23" name="text-77">
            <a:extLst xmlns:a="http://schemas.openxmlformats.org/drawingml/2006/main">
              <a:ext uri="{FF2B5EF4-FFF2-40B4-BE49-F238E27FC236}">
                <a16:creationId xmlns:a16="http://schemas.microsoft.com/office/drawing/2014/main" id="{D2187AD6-8543-4DCA-BF39-72DEFB7FFF5F}"/>
              </a:ext>
            </a:extLst>
          </p:cNvPr>
          <p:cNvSpPr>
            <a:spLocks xmlns:a="http://schemas.openxmlformats.org/drawingml/2006/main" noGrp="1"/>
          </p:cNvSpPr>
          <p:nvPr/>
        </p:nvSpPr>
        <p:spPr>
          <a:xfrm xmlns:a="http://schemas.openxmlformats.org/drawingml/2006/main">
            <a:off x="533400" y="371475"/>
            <a:ext cx="1114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861F41"/>
                </a:solidFill>
                <a:latin typeface="Helvetica Neue"/>
                <a:ea typeface="Helvetica Neue"/>
                <a:cs typeface="Helvetica Neue"/>
              </a:defRPr>
            </a:defPPr>
          </a:lstStyle>
          <a:p xmlns:a="http://schemas.openxmlformats.org/drawingml/2006/main">
            <a:pPr algn="l">
              <a:defRPr sz="3150" b="1">
                <a:solidFill>
                  <a:srgbClr val="861F41"/>
                </a:solidFill>
                <a:latin typeface="Helvetica Neue"/>
                <a:ea typeface="Helvetica Neue"/>
                <a:cs typeface="Helvetica Neue"/>
              </a:defRPr>
            </a:pPr>
            <a:r>
              <a:rPr sz="3150" b="1">
                <a:solidFill>
                  <a:srgbClr val="861F41"/>
                </a:solidFill>
                <a:latin typeface="Helvetica Neue"/>
                <a:ea typeface="Helvetica Neue"/>
                <a:cs typeface="Helvetica Neue"/>
              </a:rPr>
              <a:t>Profit Results Are Driven by Rare Extreme Cases</a:t>
            </a:r>
          </a:p>
        </p:txBody>
      </p:sp>
      <p:sp>
        <p:nvSpPr>
          <p:cNvPr id="2" name="">
            <a:extLst xmlns:a="http://schemas.openxmlformats.org/drawingml/2006/main">
              <a:ext uri="{FF2B5EF4-FFF2-40B4-BE49-F238E27FC236}">
                <a16:creationId xmlns:a16="http://schemas.microsoft.com/office/drawing/2014/main" id="{9954AC62-99CB-4C8D-9F1D-D72864BED7B6}"/>
              </a:ext>
            </a:extLst>
          </p:cNvPr>
          <p:cNvSpPr>
            <a:spLocks xmlns:a="http://schemas.openxmlformats.org/drawingml/2006/main" noGrp="1"/>
          </p:cNvSpPr>
          <p:nvPr/>
        </p:nvSpPr>
        <p:spPr>
          <a:xfrm xmlns:a="http://schemas.openxmlformats.org/drawingml/2006/main">
            <a:off x="533400" y="1057275"/>
            <a:ext cx="11125200" cy="0"/>
          </a:xfrm>
          <a:prstGeom xmlns:a="http://schemas.openxmlformats.org/drawingml/2006/main" prst="line">
            <a:avLst/>
          </a:prstGeom>
          <a:noFill xmlns:a="http://schemas.openxmlformats.org/drawingml/2006/main"/>
          <a:ln xmlns:a="http://schemas.openxmlformats.org/drawingml/2006/main" w="9525">
            <a:solidFill>
              <a:srgbClr val="D7DBDF"/>
            </a:solidFill>
          </a:ln>
        </p:spPr>
      </p:sp>
      <p:sp>
        <p:nvSpPr>
          <p:cNvPr id="3" name="text-78">
            <a:extLst xmlns:a="http://schemas.openxmlformats.org/drawingml/2006/main">
              <a:ext uri="{FF2B5EF4-FFF2-40B4-BE49-F238E27FC236}">
                <a16:creationId xmlns:a16="http://schemas.microsoft.com/office/drawing/2014/main" id="{A994B946-5E7C-4111-99C2-2E65800364BD}"/>
              </a:ext>
            </a:extLst>
          </p:cNvPr>
          <p:cNvSpPr>
            <a:spLocks xmlns:a="http://schemas.openxmlformats.org/drawingml/2006/main" noGrp="1"/>
          </p:cNvSpPr>
          <p:nvPr/>
        </p:nvSpPr>
        <p:spPr>
          <a:xfrm xmlns:a="http://schemas.openxmlformats.org/drawingml/2006/main">
            <a:off x="533400" y="65151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68737D"/>
                </a:solidFill>
                <a:latin typeface="Helvetica Neue"/>
                <a:ea typeface="Helvetica Neue"/>
                <a:cs typeface="Helvetica Neue"/>
              </a:defRPr>
            </a:defPPr>
          </a:lstStyle>
          <a:p xmlns:a="http://schemas.openxmlformats.org/drawingml/2006/main">
            <a:pPr algn="l">
              <a:defRPr sz="1013" b="0">
                <a:solidFill>
                  <a:srgbClr val="68737D"/>
                </a:solidFill>
                <a:latin typeface="Helvetica Neue"/>
                <a:ea typeface="Helvetica Neue"/>
                <a:cs typeface="Helvetica Neue"/>
              </a:defRPr>
            </a:pPr>
            <a:r>
              <a:rPr sz="1013" b="0">
                <a:solidFill>
                  <a:srgbClr val="68737D"/>
                </a:solidFill>
                <a:latin typeface="Helvetica Neue"/>
                <a:ea typeface="Helvetica Neue"/>
                <a:cs typeface="Helvetica Neue"/>
              </a:rPr>
              <a:t>Source: noise_full_results.csv. Nominal true expected profits under stylized 30-period growing payments, not realized returns.</a:t>
            </a:r>
          </a:p>
        </p:txBody>
      </p:sp>
      <p:sp>
        <p:nvSpPr>
          <p:cNvPr id="4" name="text-79">
            <a:extLst xmlns:a="http://schemas.openxmlformats.org/drawingml/2006/main">
              <a:ext uri="{FF2B5EF4-FFF2-40B4-BE49-F238E27FC236}">
                <a16:creationId xmlns:a16="http://schemas.microsoft.com/office/drawing/2014/main" id="{7DE2A391-9172-4E60-B911-184608A9BEE6}"/>
              </a:ext>
            </a:extLst>
          </p:cNvPr>
          <p:cNvSpPr>
            <a:spLocks xmlns:a="http://schemas.openxmlformats.org/drawingml/2006/main" noGrp="1"/>
          </p:cNvSpPr>
          <p:nvPr/>
        </p:nvSpPr>
        <p:spPr>
          <a:xfrm xmlns:a="http://schemas.openxmlformats.org/drawingml/2006/main">
            <a:off x="11506200" y="6515100"/>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8737D"/>
                </a:solidFill>
                <a:latin typeface="Helvetica Neue"/>
                <a:ea typeface="Helvetica Neue"/>
                <a:cs typeface="Helvetica Neue"/>
              </a:defRPr>
            </a:defPPr>
          </a:lstStyle>
          <a:p xmlns:a="http://schemas.openxmlformats.org/drawingml/2006/main">
            <a:pPr algn="r">
              <a:defRPr sz="1050" b="0">
                <a:solidFill>
                  <a:srgbClr val="68737D"/>
                </a:solidFill>
                <a:latin typeface="Helvetica Neue"/>
                <a:ea typeface="Helvetica Neue"/>
                <a:cs typeface="Helvetica Neue"/>
              </a:defRPr>
            </a:pPr>
            <a:r>
              <a:rPr sz="1050" b="0">
                <a:solidFill>
                  <a:srgbClr val="68737D"/>
                </a:solidFill>
                <a:latin typeface="Helvetica Neue"/>
                <a:ea typeface="Helvetica Neue"/>
                <a:cs typeface="Helvetica Neue"/>
              </a:rPr>
              <a:t>07</a:t>
            </a:r>
          </a:p>
        </p:txBody>
      </p:sp>
      <p:pic>
        <p:nvPicPr>
          <p:cNvPr id="5" name="">
            <a:extLst xmlns:a="http://schemas.openxmlformats.org/drawingml/2006/main">
              <a:ext uri="{FF2B5EF4-FFF2-40B4-BE49-F238E27FC236}">
                <a16:creationId xmlns:a16="http://schemas.microsoft.com/office/drawing/2014/main" id="{E3382F4D-F2EA-4AA6-87D2-B7364AD7069A}"/>
              </a:ext>
            </a:extLst>
          </p:cNvPr>
          <p:cNvPicPr>
            <a:picLocks xmlns:a="http://schemas.openxmlformats.org/drawingml/2006/main" noChangeAspect="1"/>
          </p:cNvPicPr>
          <p:nvPr/>
        </p:nvPicPr>
        <p:blipFill>
          <a:blip xmlns:r="http://schemas.openxmlformats.org/officeDocument/2006/relationships" xmlns:a="http://schemas.openxmlformats.org/drawingml/2006/main" r:embed="Ra1f21bc057604ca4"/>
          <a:stretch xmlns:a="http://schemas.openxmlformats.org/drawingml/2006/main"/>
        </p:blipFill>
        <p:spPr>
          <a:xfrm xmlns:a="http://schemas.openxmlformats.org/drawingml/2006/main">
            <a:off x="400050" y="1486402"/>
            <a:ext cx="6762750" cy="3847097"/>
          </a:xfrm>
          <a:prstGeom xmlns:a="http://schemas.openxmlformats.org/drawingml/2006/main" prst="rect">
            <a:avLst/>
          </a:prstGeom>
        </p:spPr>
      </p:pic>
      <p:sp>
        <p:nvSpPr>
          <p:cNvPr id="6" name="text-80">
            <a:extLst xmlns:a="http://schemas.openxmlformats.org/drawingml/2006/main">
              <a:ext uri="{FF2B5EF4-FFF2-40B4-BE49-F238E27FC236}">
                <a16:creationId xmlns:a16="http://schemas.microsoft.com/office/drawing/2014/main" id="{CBE62B72-3F21-49A5-BB42-021BA934AA0E}"/>
              </a:ext>
            </a:extLst>
          </p:cNvPr>
          <p:cNvSpPr>
            <a:spLocks xmlns:a="http://schemas.openxmlformats.org/drawingml/2006/main" noGrp="1"/>
          </p:cNvSpPr>
          <p:nvPr/>
        </p:nvSpPr>
        <p:spPr>
          <a:xfrm xmlns:a="http://schemas.openxmlformats.org/drawingml/2006/main">
            <a:off x="7591425" y="14859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68737D"/>
                </a:solidFill>
                <a:latin typeface="Helvetica Neue"/>
                <a:ea typeface="Helvetica Neue"/>
                <a:cs typeface="Helvetica Neue"/>
              </a:defRPr>
            </a:defPPr>
          </a:lstStyle>
          <a:p xmlns:a="http://schemas.openxmlformats.org/drawingml/2006/main">
            <a:pPr algn="l">
              <a:defRPr sz="1350" b="1">
                <a:solidFill>
                  <a:srgbClr val="68737D"/>
                </a:solidFill>
                <a:latin typeface="Helvetica Neue"/>
                <a:ea typeface="Helvetica Neue"/>
                <a:cs typeface="Helvetica Neue"/>
              </a:defRPr>
            </a:pPr>
            <a:r>
              <a:rPr sz="1350" b="1">
                <a:solidFill>
                  <a:srgbClr val="68737D"/>
                </a:solidFill>
                <a:latin typeface="Helvetica Neue"/>
                <a:ea typeface="Helvetica Neue"/>
                <a:cs typeface="Helvetica Neue"/>
              </a:rPr>
              <a:t>MEDIAN CHANGE</a:t>
            </a:r>
          </a:p>
        </p:txBody>
      </p:sp>
      <p:sp>
        <p:nvSpPr>
          <p:cNvPr id="7" name="text-81">
            <a:extLst xmlns:a="http://schemas.openxmlformats.org/drawingml/2006/main">
              <a:ext uri="{FF2B5EF4-FFF2-40B4-BE49-F238E27FC236}">
                <a16:creationId xmlns:a16="http://schemas.microsoft.com/office/drawing/2014/main" id="{AA774A9D-5B9F-4CAF-A8B6-A0BEEB99DC24}"/>
              </a:ext>
            </a:extLst>
          </p:cNvPr>
          <p:cNvSpPr>
            <a:spLocks xmlns:a="http://schemas.openxmlformats.org/drawingml/2006/main" noGrp="1"/>
          </p:cNvSpPr>
          <p:nvPr/>
        </p:nvSpPr>
        <p:spPr>
          <a:xfrm xmlns:a="http://schemas.openxmlformats.org/drawingml/2006/main">
            <a:off x="7591425" y="1819275"/>
            <a:ext cx="409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861F41"/>
                </a:solidFill>
                <a:latin typeface="Helvetica Neue"/>
                <a:ea typeface="Helvetica Neue"/>
                <a:cs typeface="Helvetica Neue"/>
              </a:defRPr>
            </a:defPPr>
          </a:lstStyle>
          <a:p xmlns:a="http://schemas.openxmlformats.org/drawingml/2006/main">
            <a:pPr algn="l">
              <a:defRPr sz="3675" b="1">
                <a:solidFill>
                  <a:srgbClr val="861F41"/>
                </a:solidFill>
                <a:latin typeface="Helvetica Neue"/>
                <a:ea typeface="Helvetica Neue"/>
                <a:cs typeface="Helvetica Neue"/>
              </a:defRPr>
            </a:pPr>
            <a:r>
              <a:rPr sz="3675" b="1">
                <a:solidFill>
                  <a:srgbClr val="861F41"/>
                </a:solidFill>
                <a:latin typeface="Helvetica Neue"/>
                <a:ea typeface="Helvetica Neue"/>
                <a:cs typeface="Helvetica Neue"/>
              </a:rPr>
              <a:t>+$651,807</a:t>
            </a:r>
          </a:p>
        </p:txBody>
      </p:sp>
      <p:sp>
        <p:nvSpPr>
          <p:cNvPr id="8" name="text-82">
            <a:extLst xmlns:a="http://schemas.openxmlformats.org/drawingml/2006/main">
              <a:ext uri="{FF2B5EF4-FFF2-40B4-BE49-F238E27FC236}">
                <a16:creationId xmlns:a16="http://schemas.microsoft.com/office/drawing/2014/main" id="{27F69B8A-0179-405C-99A2-7593BC80EB39}"/>
              </a:ext>
            </a:extLst>
          </p:cNvPr>
          <p:cNvSpPr>
            <a:spLocks xmlns:a="http://schemas.openxmlformats.org/drawingml/2006/main" noGrp="1"/>
          </p:cNvSpPr>
          <p:nvPr/>
        </p:nvSpPr>
        <p:spPr>
          <a:xfrm xmlns:a="http://schemas.openxmlformats.org/drawingml/2006/main">
            <a:off x="7591425" y="253365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53746"/>
                </a:solidFill>
                <a:latin typeface="Helvetica Neue"/>
                <a:ea typeface="Helvetica Neue"/>
                <a:cs typeface="Helvetica Neue"/>
              </a:defRPr>
            </a:defPPr>
          </a:lstStyle>
          <a:p xmlns:a="http://schemas.openxmlformats.org/drawingml/2006/main">
            <a:pPr algn="l">
              <a:defRPr sz="2025" b="0">
                <a:solidFill>
                  <a:srgbClr val="253746"/>
                </a:solidFill>
                <a:latin typeface="Helvetica Neue"/>
                <a:ea typeface="Helvetica Neue"/>
                <a:cs typeface="Helvetica Neue"/>
              </a:defRPr>
            </a:pPr>
            <a:r>
              <a:rPr sz="2025" b="0">
                <a:solidFill>
                  <a:srgbClr val="253746"/>
                </a:solidFill>
                <a:latin typeface="Helvetica Neue"/>
                <a:ea typeface="Helvetica Neue"/>
                <a:cs typeface="Helvetica Neue"/>
              </a:rPr>
              <a:t>Mean +$24.616M</a:t>
            </a:r>
          </a:p>
        </p:txBody>
      </p:sp>
      <p:sp>
        <p:nvSpPr>
          <p:cNvPr id="9" name="text-83">
            <a:extLst xmlns:a="http://schemas.openxmlformats.org/drawingml/2006/main">
              <a:ext uri="{FF2B5EF4-FFF2-40B4-BE49-F238E27FC236}">
                <a16:creationId xmlns:a16="http://schemas.microsoft.com/office/drawing/2014/main" id="{8431BE9B-BC15-481E-A934-2C9889D325B4}"/>
              </a:ext>
            </a:extLst>
          </p:cNvPr>
          <p:cNvSpPr>
            <a:spLocks xmlns:a="http://schemas.openxmlformats.org/drawingml/2006/main" noGrp="1"/>
          </p:cNvSpPr>
          <p:nvPr/>
        </p:nvSpPr>
        <p:spPr>
          <a:xfrm xmlns:a="http://schemas.openxmlformats.org/drawingml/2006/main">
            <a:off x="7591425" y="3000375"/>
            <a:ext cx="4095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53746"/>
                </a:solidFill>
                <a:latin typeface="Helvetica Neue"/>
                <a:ea typeface="Helvetica Neue"/>
                <a:cs typeface="Helvetica Neue"/>
              </a:defRPr>
            </a:defPPr>
          </a:lstStyle>
          <a:p xmlns:a="http://schemas.openxmlformats.org/drawingml/2006/main">
            <a:pPr algn="l">
              <a:defRPr sz="1800" b="0">
                <a:solidFill>
                  <a:srgbClr val="253746"/>
                </a:solidFill>
                <a:latin typeface="Helvetica Neue"/>
                <a:ea typeface="Helvetica Neue"/>
                <a:cs typeface="Helvetica Neue"/>
              </a:defRPr>
            </a:pPr>
            <a:r>
              <a:rPr sz="1800" b="0">
                <a:solidFill>
                  <a:srgbClr val="253746"/>
                </a:solidFill>
                <a:latin typeface="Helvetica Neue"/>
                <a:ea typeface="Helvetica Neue"/>
                <a:cs typeface="Helvetica Neue"/>
              </a:rPr>
              <a:t>70.5% blind profit higher</a:t>
            </a:r>
          </a:p>
          <a:p xmlns:a="http://schemas.openxmlformats.org/drawingml/2006/main">
            <a:pPr algn="l">
              <a:defRPr sz="1800" b="0">
                <a:solidFill>
                  <a:srgbClr val="253746"/>
                </a:solidFill>
                <a:latin typeface="Helvetica Neue"/>
                <a:ea typeface="Helvetica Neue"/>
                <a:cs typeface="Helvetica Neue"/>
              </a:defRPr>
            </a:pPr>
            <a:r>
              <a:rPr sz="1800" b="0">
                <a:solidFill>
                  <a:srgbClr val="253746"/>
                </a:solidFill>
                <a:latin typeface="Helvetica Neue"/>
                <a:ea typeface="Helvetica Neue"/>
                <a:cs typeface="Helvetica Neue"/>
              </a:rPr>
              <a:t>23.5% lower / 6.0% equal</a:t>
            </a:r>
          </a:p>
        </p:txBody>
      </p:sp>
      <p:sp>
        <p:nvSpPr>
          <p:cNvPr id="10" name="text-84">
            <a:extLst xmlns:a="http://schemas.openxmlformats.org/drawingml/2006/main">
              <a:ext uri="{FF2B5EF4-FFF2-40B4-BE49-F238E27FC236}">
                <a16:creationId xmlns:a16="http://schemas.microsoft.com/office/drawing/2014/main" id="{52D506F1-EE09-4BB3-A5FE-9A3507F23092}"/>
              </a:ext>
            </a:extLst>
          </p:cNvPr>
          <p:cNvSpPr>
            <a:spLocks xmlns:a="http://schemas.openxmlformats.org/drawingml/2006/main" noGrp="1"/>
          </p:cNvSpPr>
          <p:nvPr/>
        </p:nvSpPr>
        <p:spPr>
          <a:xfrm xmlns:a="http://schemas.openxmlformats.org/drawingml/2006/main">
            <a:off x="7591425" y="3800475"/>
            <a:ext cx="4095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E5751F"/>
                </a:solidFill>
                <a:latin typeface="Helvetica Neue"/>
                <a:ea typeface="Helvetica Neue"/>
                <a:cs typeface="Helvetica Neue"/>
              </a:defRPr>
            </a:defPPr>
          </a:lstStyle>
          <a:p xmlns:a="http://schemas.openxmlformats.org/drawingml/2006/main">
            <a:pPr algn="l">
              <a:defRPr sz="1800" b="1">
                <a:solidFill>
                  <a:srgbClr val="E5751F"/>
                </a:solidFill>
                <a:latin typeface="Helvetica Neue"/>
                <a:ea typeface="Helvetica Neue"/>
                <a:cs typeface="Helvetica Neue"/>
              </a:defRPr>
            </a:pPr>
            <a:r>
              <a:rPr sz="1800" b="1">
                <a:solidFill>
                  <a:srgbClr val="E5751F"/>
                </a:solidFill>
                <a:latin typeface="Helvetica Neue"/>
                <a:ea typeface="Helvetica Neue"/>
                <a:cs typeface="Helvetica Neue"/>
              </a:rPr>
              <a:t>Two draws exceed +$2.36B each</a:t>
            </a:r>
          </a:p>
        </p:txBody>
      </p:sp>
      <p:sp>
        <p:nvSpPr>
          <p:cNvPr id="11" name="text-85">
            <a:extLst xmlns:a="http://schemas.openxmlformats.org/drawingml/2006/main">
              <a:ext uri="{FF2B5EF4-FFF2-40B4-BE49-F238E27FC236}">
                <a16:creationId xmlns:a16="http://schemas.microsoft.com/office/drawing/2014/main" id="{42044F34-201D-449A-9829-C6DFE2FC8FCE}"/>
              </a:ext>
            </a:extLst>
          </p:cNvPr>
          <p:cNvSpPr>
            <a:spLocks xmlns:a="http://schemas.openxmlformats.org/drawingml/2006/main" noGrp="1"/>
          </p:cNvSpPr>
          <p:nvPr/>
        </p:nvSpPr>
        <p:spPr>
          <a:xfrm xmlns:a="http://schemas.openxmlformats.org/drawingml/2006/main">
            <a:off x="7591425" y="4191000"/>
            <a:ext cx="4095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53746"/>
                </a:solidFill>
                <a:latin typeface="Helvetica Neue"/>
                <a:ea typeface="Helvetica Neue"/>
                <a:cs typeface="Helvetica Neue"/>
              </a:defRPr>
            </a:defPPr>
          </a:lstStyle>
          <a:p xmlns:a="http://schemas.openxmlformats.org/drawingml/2006/main">
            <a:pPr algn="l">
              <a:defRPr sz="1725" b="0">
                <a:solidFill>
                  <a:srgbClr val="253746"/>
                </a:solidFill>
                <a:latin typeface="Helvetica Neue"/>
                <a:ea typeface="Helvetica Neue"/>
                <a:cs typeface="Helvetica Neue"/>
              </a:defRPr>
            </a:pPr>
            <a:r>
              <a:rPr sz="1725" b="0">
                <a:solidFill>
                  <a:srgbClr val="253746"/>
                </a:solidFill>
                <a:latin typeface="Helvetica Neue"/>
                <a:ea typeface="Helvetica Neue"/>
                <a:cs typeface="Helvetica Neue"/>
              </a:rPr>
              <a:t>Aware: zero loans in both</a:t>
            </a:r>
          </a:p>
          <a:p xmlns:a="http://schemas.openxmlformats.org/drawingml/2006/main">
            <a:pPr algn="l">
              <a:defRPr sz="1725" b="0">
                <a:solidFill>
                  <a:srgbClr val="253746"/>
                </a:solidFill>
                <a:latin typeface="Helvetica Neue"/>
                <a:ea typeface="Helvetica Neue"/>
                <a:cs typeface="Helvetica Neue"/>
              </a:defRPr>
            </a:pPr>
            <a:r>
              <a:rPr sz="1725" b="0">
                <a:solidFill>
                  <a:srgbClr val="253746"/>
                </a:solidFill>
                <a:latin typeface="Helvetica Neue"/>
                <a:ea typeface="Helvetica Neue"/>
                <a:cs typeface="Helvetica Neue"/>
              </a:rPr>
              <a:t>Blind: 4,744 / 3,861 loans</a:t>
            </a:r>
          </a:p>
        </p:txBody>
      </p:sp>
      <p:sp>
        <p:nvSpPr>
          <p:cNvPr id="12" name="text-86">
            <a:extLst xmlns:a="http://schemas.openxmlformats.org/drawingml/2006/main">
              <a:ext uri="{FF2B5EF4-FFF2-40B4-BE49-F238E27FC236}">
                <a16:creationId xmlns:a16="http://schemas.microsoft.com/office/drawing/2014/main" id="{CE1E7E44-CC30-455D-B6D0-954D1A79D5F5}"/>
              </a:ext>
            </a:extLst>
          </p:cNvPr>
          <p:cNvSpPr>
            <a:spLocks xmlns:a="http://schemas.openxmlformats.org/drawingml/2006/main" noGrp="1"/>
          </p:cNvSpPr>
          <p:nvPr/>
        </p:nvSpPr>
        <p:spPr>
          <a:xfrm xmlns:a="http://schemas.openxmlformats.org/drawingml/2006/main">
            <a:off x="7591425" y="491490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8737D"/>
                </a:solidFill>
                <a:latin typeface="Helvetica Neue"/>
                <a:ea typeface="Helvetica Neue"/>
                <a:cs typeface="Helvetica Neue"/>
              </a:defRPr>
            </a:defPPr>
          </a:lstStyle>
          <a:p xmlns:a="http://schemas.openxmlformats.org/drawingml/2006/main">
            <a:pPr algn="l">
              <a:defRPr sz="1575" b="0">
                <a:solidFill>
                  <a:srgbClr val="68737D"/>
                </a:solidFill>
                <a:latin typeface="Helvetica Neue"/>
                <a:ea typeface="Helvetica Neue"/>
                <a:cs typeface="Helvetica Neue"/>
              </a:defRPr>
            </a:pPr>
            <a:r>
              <a:rPr sz="1575" b="0">
                <a:solidFill>
                  <a:srgbClr val="68737D"/>
                </a:solidFill>
                <a:latin typeface="Helvetica Neue"/>
                <a:ea typeface="Helvetica Neue"/>
                <a:cs typeface="Helvetica Neue"/>
              </a:rPr>
              <a:t>Reject-all: aware 13/200, blind 11/200</a:t>
            </a:r>
          </a:p>
          <a:p xmlns:a="http://schemas.openxmlformats.org/drawingml/2006/main">
            <a:pPr algn="l">
              <a:defRPr sz="1575" b="0">
                <a:solidFill>
                  <a:srgbClr val="68737D"/>
                </a:solidFill>
                <a:latin typeface="Helvetica Neue"/>
                <a:ea typeface="Helvetica Neue"/>
                <a:cs typeface="Helvetica Neue"/>
              </a:defRPr>
            </a:pPr>
            <a:r>
              <a:rPr sz="1575" b="0">
                <a:solidFill>
                  <a:srgbClr val="68737D"/>
                </a:solidFill>
                <a:latin typeface="Helvetica Neue"/>
                <a:ea typeface="Helvetica Neue"/>
                <a:cs typeface="Helvetica Neue"/>
              </a:rPr>
              <a:t>Zero block &gt;90% capital: 17/200 each</a:t>
            </a:r>
          </a:p>
        </p:txBody>
      </p:sp>
      <p:sp>
        <p:nvSpPr>
          <p:cNvPr id="13" name="diagram-87">
            <a:extLst xmlns:a="http://schemas.openxmlformats.org/drawingml/2006/main">
              <a:ext uri="{FF2B5EF4-FFF2-40B4-BE49-F238E27FC236}">
                <a16:creationId xmlns:a16="http://schemas.microsoft.com/office/drawing/2014/main" id="{CA8626EF-592E-4345-BF00-62F2D341D5EE}"/>
              </a:ext>
            </a:extLst>
          </p:cNvPr>
          <p:cNvSpPr>
            <a:spLocks xmlns:a="http://schemas.openxmlformats.org/drawingml/2006/main" noGrp="1"/>
          </p:cNvSpPr>
          <p:nvPr/>
        </p:nvSpPr>
        <p:spPr>
          <a:xfrm xmlns:a="http://schemas.openxmlformats.org/drawingml/2006/main">
            <a:off x="533400" y="5629275"/>
            <a:ext cx="2019300" cy="581025"/>
          </a:xfrm>
          <a:prstGeom xmlns:a="http://schemas.openxmlformats.org/drawingml/2006/main" prst="rect">
            <a:avLst/>
          </a:prstGeom>
          <a:solidFill xmlns:a="http://schemas.openxmlformats.org/drawingml/2006/main">
            <a:srgbClr val="F6F3F4"/>
          </a:solidFill>
          <a:ln xmlns:a="http://schemas.openxmlformats.org/drawingml/2006/main" w="12383">
            <a:solidFill>
              <a:srgbClr val="253746"/>
            </a:solidFill>
          </a:ln>
        </p:spPr>
        <p:txBody>
          <a:bodyPr xmlns:a="http://schemas.openxmlformats.org/drawingml/2006/main" lIns="95250" tIns="95250" rIns="95250" bIns="95250" anchor="ctr">
            <a:noAutofit/>
          </a:bodyPr>
          <a:lstStyle xmlns:a="http://schemas.openxmlformats.org/drawingml/2006/main">
            <a:defPPr algn="ctr">
              <a:defRPr sz="1500">
                <a:solidFill>
                  <a:srgbClr val="253746"/>
                </a:solidFill>
                <a:latin typeface="Helvetica Neue"/>
                <a:ea typeface="Helvetica Neue"/>
                <a:cs typeface="Helvetica Neue"/>
              </a:defRPr>
            </a:defPPr>
          </a:lstStyle>
          <a:p xmlns:a="http://schemas.openxmlformats.org/drawingml/2006/main">
            <a:pPr algn="ctr">
              <a:defRPr sz="1500">
                <a:solidFill>
                  <a:srgbClr val="253746"/>
                </a:solidFill>
                <a:latin typeface="Helvetica Neue"/>
                <a:ea typeface="Helvetica Neue"/>
                <a:cs typeface="Helvetica Neue"/>
              </a:defRPr>
            </a:pPr>
            <a:r>
              <a:rPr sz="1500">
                <a:solidFill>
                  <a:srgbClr val="253746"/>
                </a:solidFill>
                <a:latin typeface="Helvetica Neue"/>
                <a:ea typeface="Helvetica Neue"/>
                <a:cs typeface="Helvetica Neue"/>
              </a:rPr>
              <a:t>Negative OLS</a:t>
            </a:r>
          </a:p>
          <a:p xmlns:a="http://schemas.openxmlformats.org/drawingml/2006/main">
            <a:pPr algn="ctr">
              <a:defRPr sz="1500">
                <a:solidFill>
                  <a:srgbClr val="253746"/>
                </a:solidFill>
                <a:latin typeface="Helvetica Neue"/>
                <a:ea typeface="Helvetica Neue"/>
                <a:cs typeface="Helvetica Neue"/>
              </a:defRPr>
            </a:pPr>
            <a:r>
              <a:rPr sz="1500">
                <a:solidFill>
                  <a:srgbClr val="253746"/>
                </a:solidFill>
                <a:latin typeface="Helvetica Neue"/>
                <a:ea typeface="Helvetica Neue"/>
                <a:cs typeface="Helvetica Neue"/>
              </a:rPr>
              <a:t>predictions</a:t>
            </a:r>
          </a:p>
        </p:txBody>
      </p:sp>
      <p:sp>
        <p:nvSpPr>
          <p:cNvPr id="14" name="diagram-88">
            <a:extLst xmlns:a="http://schemas.openxmlformats.org/drawingml/2006/main">
              <a:ext uri="{FF2B5EF4-FFF2-40B4-BE49-F238E27FC236}">
                <a16:creationId xmlns:a16="http://schemas.microsoft.com/office/drawing/2014/main" id="{403C896D-3DB3-4E92-B22F-09C55E760047}"/>
              </a:ext>
            </a:extLst>
          </p:cNvPr>
          <p:cNvSpPr>
            <a:spLocks xmlns:a="http://schemas.openxmlformats.org/drawingml/2006/main" noGrp="1"/>
          </p:cNvSpPr>
          <p:nvPr/>
        </p:nvSpPr>
        <p:spPr>
          <a:xfrm xmlns:a="http://schemas.openxmlformats.org/drawingml/2006/main">
            <a:off x="2809875" y="5629275"/>
            <a:ext cx="2019300" cy="581025"/>
          </a:xfrm>
          <a:prstGeom xmlns:a="http://schemas.openxmlformats.org/drawingml/2006/main" prst="rect">
            <a:avLst/>
          </a:prstGeom>
          <a:solidFill xmlns:a="http://schemas.openxmlformats.org/drawingml/2006/main">
            <a:srgbClr val="F6F3F4"/>
          </a:solidFill>
          <a:ln xmlns:a="http://schemas.openxmlformats.org/drawingml/2006/main" w="12383">
            <a:solidFill>
              <a:srgbClr val="253746"/>
            </a:solidFill>
          </a:ln>
        </p:spPr>
        <p:txBody>
          <a:bodyPr xmlns:a="http://schemas.openxmlformats.org/drawingml/2006/main" lIns="95250" tIns="95250" rIns="95250" bIns="95250" anchor="ctr">
            <a:noAutofit/>
          </a:bodyPr>
          <a:lstStyle xmlns:a="http://schemas.openxmlformats.org/drawingml/2006/main">
            <a:defPPr algn="ctr">
              <a:defRPr sz="1500">
                <a:solidFill>
                  <a:srgbClr val="253746"/>
                </a:solidFill>
                <a:latin typeface="Helvetica Neue"/>
                <a:ea typeface="Helvetica Neue"/>
                <a:cs typeface="Helvetica Neue"/>
              </a:defRPr>
            </a:defPPr>
          </a:lstStyle>
          <a:p xmlns:a="http://schemas.openxmlformats.org/drawingml/2006/main">
            <a:pPr algn="ctr">
              <a:defRPr sz="1500">
                <a:solidFill>
                  <a:srgbClr val="253746"/>
                </a:solidFill>
                <a:latin typeface="Helvetica Neue"/>
                <a:ea typeface="Helvetica Neue"/>
                <a:cs typeface="Helvetica Neue"/>
              </a:defRPr>
            </a:pPr>
            <a:r>
              <a:rPr sz="1500">
                <a:solidFill>
                  <a:srgbClr val="253746"/>
                </a:solidFill>
                <a:latin typeface="Helvetica Neue"/>
                <a:ea typeface="Helvetica Neue"/>
                <a:cs typeface="Helvetica Neue"/>
              </a:rPr>
              <a:t>Clip to zero</a:t>
            </a:r>
          </a:p>
        </p:txBody>
      </p:sp>
      <p:sp>
        <p:nvSpPr>
          <p:cNvPr id="16" name="diagram-89">
            <a:extLst xmlns:a="http://schemas.openxmlformats.org/drawingml/2006/main">
              <a:ext uri="{FF2B5EF4-FFF2-40B4-BE49-F238E27FC236}">
                <a16:creationId xmlns:a16="http://schemas.microsoft.com/office/drawing/2014/main" id="{BA404C60-E9A9-4464-A4F7-3BA58E07D127}"/>
              </a:ext>
            </a:extLst>
          </p:cNvPr>
          <p:cNvSpPr>
            <a:spLocks xmlns:a="http://schemas.openxmlformats.org/drawingml/2006/main" noGrp="1"/>
          </p:cNvSpPr>
          <p:nvPr/>
        </p:nvSpPr>
        <p:spPr>
          <a:xfrm xmlns:a="http://schemas.openxmlformats.org/drawingml/2006/main">
            <a:off x="5086350" y="5629275"/>
            <a:ext cx="2019300" cy="581025"/>
          </a:xfrm>
          <a:prstGeom xmlns:a="http://schemas.openxmlformats.org/drawingml/2006/main" prst="rect">
            <a:avLst/>
          </a:prstGeom>
          <a:solidFill xmlns:a="http://schemas.openxmlformats.org/drawingml/2006/main">
            <a:srgbClr val="F6F3F4"/>
          </a:solidFill>
          <a:ln xmlns:a="http://schemas.openxmlformats.org/drawingml/2006/main" w="12383">
            <a:solidFill>
              <a:srgbClr val="253746"/>
            </a:solidFill>
          </a:ln>
        </p:spPr>
        <p:txBody>
          <a:bodyPr xmlns:a="http://schemas.openxmlformats.org/drawingml/2006/main" lIns="95250" tIns="95250" rIns="95250" bIns="95250" anchor="ctr">
            <a:noAutofit/>
          </a:bodyPr>
          <a:lstStyle xmlns:a="http://schemas.openxmlformats.org/drawingml/2006/main">
            <a:defPPr algn="ctr">
              <a:defRPr sz="1500">
                <a:solidFill>
                  <a:srgbClr val="253746"/>
                </a:solidFill>
                <a:latin typeface="Helvetica Neue"/>
                <a:ea typeface="Helvetica Neue"/>
                <a:cs typeface="Helvetica Neue"/>
              </a:defRPr>
            </a:defPPr>
          </a:lstStyle>
          <a:p xmlns:a="http://schemas.openxmlformats.org/drawingml/2006/main">
            <a:pPr algn="ctr">
              <a:defRPr sz="1500">
                <a:solidFill>
                  <a:srgbClr val="253746"/>
                </a:solidFill>
                <a:latin typeface="Helvetica Neue"/>
                <a:ea typeface="Helvetica Neue"/>
                <a:cs typeface="Helvetica Neue"/>
              </a:defRPr>
            </a:pPr>
            <a:r>
              <a:rPr sz="1500">
                <a:solidFill>
                  <a:srgbClr val="253746"/>
                </a:solidFill>
                <a:latin typeface="Helvetica Neue"/>
                <a:ea typeface="Helvetica Neue"/>
                <a:cs typeface="Helvetica Neue"/>
              </a:rPr>
              <a:t>Indivisible</a:t>
            </a:r>
          </a:p>
          <a:p xmlns:a="http://schemas.openxmlformats.org/drawingml/2006/main">
            <a:pPr algn="ctr">
              <a:defRPr sz="1500">
                <a:solidFill>
                  <a:srgbClr val="253746"/>
                </a:solidFill>
                <a:latin typeface="Helvetica Neue"/>
                <a:ea typeface="Helvetica Neue"/>
                <a:cs typeface="Helvetica Neue"/>
              </a:defRPr>
            </a:pPr>
            <a:r>
              <a:rPr sz="1500">
                <a:solidFill>
                  <a:srgbClr val="253746"/>
                </a:solidFill>
                <a:latin typeface="Helvetica Neue"/>
                <a:ea typeface="Helvetica Neue"/>
                <a:cs typeface="Helvetica Neue"/>
              </a:rPr>
              <a:t>zero-score block</a:t>
            </a:r>
          </a:p>
        </p:txBody>
      </p:sp>
      <p:sp>
        <p:nvSpPr>
          <p:cNvPr id="18" name="diagram-90">
            <a:extLst xmlns:a="http://schemas.openxmlformats.org/drawingml/2006/main">
              <a:ext uri="{FF2B5EF4-FFF2-40B4-BE49-F238E27FC236}">
                <a16:creationId xmlns:a16="http://schemas.microsoft.com/office/drawing/2014/main" id="{E087C68F-D903-4F90-8611-CD90E8B94ED0}"/>
              </a:ext>
            </a:extLst>
          </p:cNvPr>
          <p:cNvSpPr>
            <a:spLocks xmlns:a="http://schemas.openxmlformats.org/drawingml/2006/main" noGrp="1"/>
          </p:cNvSpPr>
          <p:nvPr/>
        </p:nvSpPr>
        <p:spPr>
          <a:xfrm xmlns:a="http://schemas.openxmlformats.org/drawingml/2006/main">
            <a:off x="7362825" y="5629275"/>
            <a:ext cx="2019300" cy="581025"/>
          </a:xfrm>
          <a:prstGeom xmlns:a="http://schemas.openxmlformats.org/drawingml/2006/main" prst="rect">
            <a:avLst/>
          </a:prstGeom>
          <a:solidFill xmlns:a="http://schemas.openxmlformats.org/drawingml/2006/main">
            <a:srgbClr val="F6F3F4"/>
          </a:solidFill>
          <a:ln xmlns:a="http://schemas.openxmlformats.org/drawingml/2006/main" w="12383">
            <a:solidFill>
              <a:srgbClr val="253746"/>
            </a:solidFill>
          </a:ln>
        </p:spPr>
        <p:txBody>
          <a:bodyPr xmlns:a="http://schemas.openxmlformats.org/drawingml/2006/main" lIns="95250" tIns="95250" rIns="95250" bIns="95250" anchor="ctr">
            <a:noAutofit/>
          </a:bodyPr>
          <a:lstStyle xmlns:a="http://schemas.openxmlformats.org/drawingml/2006/main">
            <a:defPPr algn="ctr">
              <a:defRPr sz="1500">
                <a:solidFill>
                  <a:srgbClr val="253746"/>
                </a:solidFill>
                <a:latin typeface="Helvetica Neue"/>
                <a:ea typeface="Helvetica Neue"/>
                <a:cs typeface="Helvetica Neue"/>
              </a:defRPr>
            </a:defPPr>
          </a:lstStyle>
          <a:p xmlns:a="http://schemas.openxmlformats.org/drawingml/2006/main">
            <a:pPr algn="ctr">
              <a:defRPr sz="1500">
                <a:solidFill>
                  <a:srgbClr val="253746"/>
                </a:solidFill>
                <a:latin typeface="Helvetica Neue"/>
                <a:ea typeface="Helvetica Neue"/>
                <a:cs typeface="Helvetica Neue"/>
              </a:defRPr>
            </a:pPr>
            <a:r>
              <a:rPr sz="1500">
                <a:solidFill>
                  <a:srgbClr val="253746"/>
                </a:solidFill>
                <a:latin typeface="Helvetica Neue"/>
                <a:ea typeface="Helvetica Neue"/>
                <a:cs typeface="Helvetica Neue"/>
              </a:rPr>
              <a:t>Block exceeds</a:t>
            </a:r>
          </a:p>
          <a:p xmlns:a="http://schemas.openxmlformats.org/drawingml/2006/main">
            <a:pPr algn="ctr">
              <a:defRPr sz="1500">
                <a:solidFill>
                  <a:srgbClr val="253746"/>
                </a:solidFill>
                <a:latin typeface="Helvetica Neue"/>
                <a:ea typeface="Helvetica Neue"/>
                <a:cs typeface="Helvetica Neue"/>
              </a:defRPr>
            </a:pPr>
            <a:r>
              <a:rPr sz="1500">
                <a:solidFill>
                  <a:srgbClr val="253746"/>
                </a:solidFill>
                <a:latin typeface="Helvetica Neue"/>
                <a:ea typeface="Helvetica Neue"/>
                <a:cs typeface="Helvetica Neue"/>
              </a:rPr>
              <a:t>capital</a:t>
            </a:r>
          </a:p>
        </p:txBody>
      </p:sp>
      <p:sp>
        <p:nvSpPr>
          <p:cNvPr id="20" name="diagram-91">
            <a:extLst xmlns:a="http://schemas.openxmlformats.org/drawingml/2006/main">
              <a:ext uri="{FF2B5EF4-FFF2-40B4-BE49-F238E27FC236}">
                <a16:creationId xmlns:a16="http://schemas.microsoft.com/office/drawing/2014/main" id="{19B9A698-CA96-4FCB-B369-A1E0C1BC3F1A}"/>
              </a:ext>
            </a:extLst>
          </p:cNvPr>
          <p:cNvSpPr>
            <a:spLocks xmlns:a="http://schemas.openxmlformats.org/drawingml/2006/main" noGrp="1"/>
          </p:cNvSpPr>
          <p:nvPr/>
        </p:nvSpPr>
        <p:spPr>
          <a:xfrm xmlns:a="http://schemas.openxmlformats.org/drawingml/2006/main">
            <a:off x="9639300" y="5629275"/>
            <a:ext cx="2019300" cy="581025"/>
          </a:xfrm>
          <a:prstGeom xmlns:a="http://schemas.openxmlformats.org/drawingml/2006/main" prst="rect">
            <a:avLst/>
          </a:prstGeom>
          <a:solidFill xmlns:a="http://schemas.openxmlformats.org/drawingml/2006/main">
            <a:srgbClr val="F6F3F4"/>
          </a:solidFill>
          <a:ln xmlns:a="http://schemas.openxmlformats.org/drawingml/2006/main" w="12383">
            <a:solidFill>
              <a:srgbClr val="253746"/>
            </a:solidFill>
          </a:ln>
        </p:spPr>
        <p:txBody>
          <a:bodyPr xmlns:a="http://schemas.openxmlformats.org/drawingml/2006/main" lIns="95250" tIns="95250" rIns="95250" bIns="95250" anchor="ctr">
            <a:noAutofit/>
          </a:bodyPr>
          <a:lstStyle xmlns:a="http://schemas.openxmlformats.org/drawingml/2006/main">
            <a:defPPr algn="ctr">
              <a:defRPr sz="1500">
                <a:solidFill>
                  <a:srgbClr val="253746"/>
                </a:solidFill>
                <a:latin typeface="Helvetica Neue"/>
                <a:ea typeface="Helvetica Neue"/>
                <a:cs typeface="Helvetica Neue"/>
              </a:defRPr>
            </a:defPPr>
          </a:lstStyle>
          <a:p xmlns:a="http://schemas.openxmlformats.org/drawingml/2006/main">
            <a:pPr algn="ctr">
              <a:defRPr sz="1500">
                <a:solidFill>
                  <a:srgbClr val="253746"/>
                </a:solidFill>
                <a:latin typeface="Helvetica Neue"/>
                <a:ea typeface="Helvetica Neue"/>
                <a:cs typeface="Helvetica Neue"/>
              </a:defRPr>
            </a:pPr>
            <a:r>
              <a:rPr sz="1500">
                <a:solidFill>
                  <a:srgbClr val="253746"/>
                </a:solidFill>
                <a:latin typeface="Helvetica Neue"/>
                <a:ea typeface="Helvetica Neue"/>
                <a:cs typeface="Helvetica Neue"/>
              </a:rPr>
              <a:t>Reject-all only</a:t>
            </a:r>
          </a:p>
          <a:p xmlns:a="http://schemas.openxmlformats.org/drawingml/2006/main">
            <a:pPr algn="ctr">
              <a:defRPr sz="1500">
                <a:solidFill>
                  <a:srgbClr val="253746"/>
                </a:solidFill>
                <a:latin typeface="Helvetica Neue"/>
                <a:ea typeface="Helvetica Neue"/>
                <a:cs typeface="Helvetica Neue"/>
              </a:defRPr>
            </a:pPr>
            <a:r>
              <a:rPr sz="1500">
                <a:solidFill>
                  <a:srgbClr val="253746"/>
                </a:solidFill>
                <a:latin typeface="Helvetica Neue"/>
                <a:ea typeface="Helvetica Neue"/>
                <a:cs typeface="Helvetica Neue"/>
              </a:rPr>
              <a:t>feasible cutoff</a:t>
            </a:r>
          </a:p>
        </p:txBody>
      </p:sp>
      <p:sp>
        <p:nvSpPr>
          <p:cNvPr id="22" name="text-92">
            <a:extLst xmlns:a="http://schemas.openxmlformats.org/drawingml/2006/main">
              <a:ext uri="{FF2B5EF4-FFF2-40B4-BE49-F238E27FC236}">
                <a16:creationId xmlns:a16="http://schemas.microsoft.com/office/drawing/2014/main" id="{D9B4296D-5B4F-430D-BF2B-A05CA39A4EF0}"/>
              </a:ext>
            </a:extLst>
          </p:cNvPr>
          <p:cNvSpPr>
            <a:spLocks xmlns:a="http://schemas.openxmlformats.org/drawingml/2006/main" noGrp="1"/>
          </p:cNvSpPr>
          <p:nvPr/>
        </p:nvSpPr>
        <p:spPr>
          <a:xfrm xmlns:a="http://schemas.openxmlformats.org/drawingml/2006/main">
            <a:off x="533400" y="6219825"/>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861F41"/>
                </a:solidFill>
                <a:latin typeface="Helvetica Neue"/>
                <a:ea typeface="Helvetica Neue"/>
                <a:cs typeface="Helvetica Neue"/>
              </a:defRPr>
            </a:defPPr>
          </a:lstStyle>
          <a:p xmlns:a="http://schemas.openxmlformats.org/drawingml/2006/main">
            <a:pPr algn="l">
              <a:defRPr sz="1650" b="1">
                <a:solidFill>
                  <a:srgbClr val="861F41"/>
                </a:solidFill>
                <a:latin typeface="Helvetica Neue"/>
                <a:ea typeface="Helvetica Neue"/>
                <a:cs typeface="Helvetica Neue"/>
              </a:defRPr>
            </a:pPr>
            <a:r>
              <a:rPr sz="1650" b="1">
                <a:solidFill>
                  <a:srgbClr val="861F41"/>
                </a:solidFill>
                <a:latin typeface="Helvetica Neue"/>
                <a:ea typeface="Helvetica Neue"/>
                <a:cs typeface="Helvetica Neue"/>
              </a:rPr>
              <a:t>The mean advantage does not represent the typical replication.</a:t>
            </a:r>
          </a:p>
        </p:txBody>
      </p:sp>
    </p:spTree>
    <p:extLst>
      <p:ext uri="{BB962C8B-B14F-4D97-AF65-F5344CB8AC3E}">
        <p14:creationId xmlns:p14="http://schemas.microsoft.com/office/powerpoint/2010/main" val="13278978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93">
            <a:extLst xmlns:a="http://schemas.openxmlformats.org/drawingml/2006/main">
              <a:ext uri="{FF2B5EF4-FFF2-40B4-BE49-F238E27FC236}">
                <a16:creationId xmlns:a16="http://schemas.microsoft.com/office/drawing/2014/main" id="{86355C97-E6D5-4A56-A16D-0623F4924461}"/>
              </a:ext>
            </a:extLst>
          </p:cNvPr>
          <p:cNvSpPr>
            <a:spLocks xmlns:a="http://schemas.openxmlformats.org/drawingml/2006/main" noGrp="1"/>
          </p:cNvSpPr>
          <p:nvPr/>
        </p:nvSpPr>
        <p:spPr>
          <a:xfrm xmlns:a="http://schemas.openxmlformats.org/drawingml/2006/main">
            <a:off x="533400" y="371475"/>
            <a:ext cx="1114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861F41"/>
                </a:solidFill>
                <a:latin typeface="Helvetica Neue"/>
                <a:ea typeface="Helvetica Neue"/>
                <a:cs typeface="Helvetica Neue"/>
              </a:defRPr>
            </a:defPPr>
          </a:lstStyle>
          <a:p xmlns:a="http://schemas.openxmlformats.org/drawingml/2006/main">
            <a:pPr algn="l">
              <a:defRPr sz="3150" b="1">
                <a:solidFill>
                  <a:srgbClr val="861F41"/>
                </a:solidFill>
                <a:latin typeface="Helvetica Neue"/>
                <a:ea typeface="Helvetica Neue"/>
                <a:cs typeface="Helvetica Neue"/>
              </a:defRPr>
            </a:pPr>
            <a:r>
              <a:rPr sz="3150" b="1">
                <a:solidFill>
                  <a:srgbClr val="861F41"/>
                </a:solidFill>
                <a:latin typeface="Helvetica Neue"/>
                <a:ea typeface="Helvetica Neue"/>
                <a:cs typeface="Helvetica Neue"/>
              </a:rPr>
              <a:t>What We Learned and What Comes Next</a:t>
            </a:r>
          </a:p>
        </p:txBody>
      </p:sp>
      <p:sp>
        <p:nvSpPr>
          <p:cNvPr id="2" name="">
            <a:extLst xmlns:a="http://schemas.openxmlformats.org/drawingml/2006/main">
              <a:ext uri="{FF2B5EF4-FFF2-40B4-BE49-F238E27FC236}">
                <a16:creationId xmlns:a16="http://schemas.microsoft.com/office/drawing/2014/main" id="{171974CD-4489-44E5-8B15-2F9DBE985B66}"/>
              </a:ext>
            </a:extLst>
          </p:cNvPr>
          <p:cNvSpPr>
            <a:spLocks xmlns:a="http://schemas.openxmlformats.org/drawingml/2006/main" noGrp="1"/>
          </p:cNvSpPr>
          <p:nvPr/>
        </p:nvSpPr>
        <p:spPr>
          <a:xfrm xmlns:a="http://schemas.openxmlformats.org/drawingml/2006/main">
            <a:off x="533400" y="1057275"/>
            <a:ext cx="11125200" cy="0"/>
          </a:xfrm>
          <a:prstGeom xmlns:a="http://schemas.openxmlformats.org/drawingml/2006/main" prst="line">
            <a:avLst/>
          </a:prstGeom>
          <a:noFill xmlns:a="http://schemas.openxmlformats.org/drawingml/2006/main"/>
          <a:ln xmlns:a="http://schemas.openxmlformats.org/drawingml/2006/main" w="9525">
            <a:solidFill>
              <a:srgbClr val="D7DBDF"/>
            </a:solidFill>
          </a:ln>
        </p:spPr>
      </p:sp>
      <p:sp>
        <p:nvSpPr>
          <p:cNvPr id="3" name="text-94">
            <a:extLst xmlns:a="http://schemas.openxmlformats.org/drawingml/2006/main">
              <a:ext uri="{FF2B5EF4-FFF2-40B4-BE49-F238E27FC236}">
                <a16:creationId xmlns:a16="http://schemas.microsoft.com/office/drawing/2014/main" id="{9A873D82-7664-45C8-9C75-637C1C7D02B5}"/>
              </a:ext>
            </a:extLst>
          </p:cNvPr>
          <p:cNvSpPr>
            <a:spLocks xmlns:a="http://schemas.openxmlformats.org/drawingml/2006/main" noGrp="1"/>
          </p:cNvSpPr>
          <p:nvPr/>
        </p:nvSpPr>
        <p:spPr>
          <a:xfrm xmlns:a="http://schemas.openxmlformats.org/drawingml/2006/main">
            <a:off x="533400" y="65151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68737D"/>
                </a:solidFill>
                <a:latin typeface="Helvetica Neue"/>
                <a:ea typeface="Helvetica Neue"/>
                <a:cs typeface="Helvetica Neue"/>
              </a:defRPr>
            </a:defPPr>
          </a:lstStyle>
          <a:p xmlns:a="http://schemas.openxmlformats.org/drawingml/2006/main">
            <a:pPr algn="l">
              <a:defRPr sz="1013" b="0">
                <a:solidFill>
                  <a:srgbClr val="68737D"/>
                </a:solidFill>
                <a:latin typeface="Helvetica Neue"/>
                <a:ea typeface="Helvetica Neue"/>
                <a:cs typeface="Helvetica Neue"/>
              </a:defRPr>
            </a:pPr>
            <a:r>
              <a:rPr sz="1013" b="0">
                <a:solidFill>
                  <a:srgbClr val="68737D"/>
                </a:solidFill>
                <a:latin typeface="Helvetica Neue"/>
                <a:ea typeface="Helvetica Neue"/>
                <a:cs typeface="Helvetica Neue"/>
              </a:rPr>
              <a:t>Source: Step 8B audited records and current PROJECT_STATUS.md. Synthetic evidence only.</a:t>
            </a:r>
          </a:p>
        </p:txBody>
      </p:sp>
      <p:sp>
        <p:nvSpPr>
          <p:cNvPr id="4" name="text-95">
            <a:extLst xmlns:a="http://schemas.openxmlformats.org/drawingml/2006/main">
              <a:ext uri="{FF2B5EF4-FFF2-40B4-BE49-F238E27FC236}">
                <a16:creationId xmlns:a16="http://schemas.microsoft.com/office/drawing/2014/main" id="{DAB775EE-0BBA-4FD5-90AA-04A547B759C5}"/>
              </a:ext>
            </a:extLst>
          </p:cNvPr>
          <p:cNvSpPr>
            <a:spLocks xmlns:a="http://schemas.openxmlformats.org/drawingml/2006/main" noGrp="1"/>
          </p:cNvSpPr>
          <p:nvPr/>
        </p:nvSpPr>
        <p:spPr>
          <a:xfrm xmlns:a="http://schemas.openxmlformats.org/drawingml/2006/main">
            <a:off x="11506200" y="6515100"/>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8737D"/>
                </a:solidFill>
                <a:latin typeface="Helvetica Neue"/>
                <a:ea typeface="Helvetica Neue"/>
                <a:cs typeface="Helvetica Neue"/>
              </a:defRPr>
            </a:defPPr>
          </a:lstStyle>
          <a:p xmlns:a="http://schemas.openxmlformats.org/drawingml/2006/main">
            <a:pPr algn="r">
              <a:defRPr sz="1050" b="0">
                <a:solidFill>
                  <a:srgbClr val="68737D"/>
                </a:solidFill>
                <a:latin typeface="Helvetica Neue"/>
                <a:ea typeface="Helvetica Neue"/>
                <a:cs typeface="Helvetica Neue"/>
              </a:defRPr>
            </a:pPr>
            <a:r>
              <a:rPr sz="1050" b="0">
                <a:solidFill>
                  <a:srgbClr val="68737D"/>
                </a:solidFill>
                <a:latin typeface="Helvetica Neue"/>
                <a:ea typeface="Helvetica Neue"/>
                <a:cs typeface="Helvetica Neue"/>
              </a:rPr>
              <a:t>08</a:t>
            </a:r>
          </a:p>
        </p:txBody>
      </p:sp>
      <p:sp>
        <p:nvSpPr>
          <p:cNvPr id="5" name="text-96">
            <a:extLst xmlns:a="http://schemas.openxmlformats.org/drawingml/2006/main">
              <a:ext uri="{FF2B5EF4-FFF2-40B4-BE49-F238E27FC236}">
                <a16:creationId xmlns:a16="http://schemas.microsoft.com/office/drawing/2014/main" id="{84B193DA-6AC8-471F-AE66-80C686B81D25}"/>
              </a:ext>
            </a:extLst>
          </p:cNvPr>
          <p:cNvSpPr>
            <a:spLocks xmlns:a="http://schemas.openxmlformats.org/drawingml/2006/main" noGrp="1"/>
          </p:cNvSpPr>
          <p:nvPr/>
        </p:nvSpPr>
        <p:spPr>
          <a:xfrm xmlns:a="http://schemas.openxmlformats.org/drawingml/2006/main">
            <a:off x="533400" y="1524000"/>
            <a:ext cx="5010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861F41"/>
                </a:solidFill>
                <a:latin typeface="Helvetica Neue"/>
                <a:ea typeface="Helvetica Neue"/>
                <a:cs typeface="Helvetica Neue"/>
              </a:defRPr>
            </a:defPPr>
          </a:lstStyle>
          <a:p xmlns:a="http://schemas.openxmlformats.org/drawingml/2006/main">
            <a:pPr algn="l">
              <a:defRPr sz="2175" b="1">
                <a:solidFill>
                  <a:srgbClr val="861F41"/>
                </a:solidFill>
                <a:latin typeface="Helvetica Neue"/>
                <a:ea typeface="Helvetica Neue"/>
                <a:cs typeface="Helvetica Neue"/>
              </a:defRPr>
            </a:pPr>
            <a:r>
              <a:rPr sz="2175" b="1">
                <a:solidFill>
                  <a:srgbClr val="861F41"/>
                </a:solidFill>
                <a:latin typeface="Helvetica Neue"/>
                <a:ea typeface="Helvetica Neue"/>
                <a:cs typeface="Helvetica Neue"/>
              </a:rPr>
              <a:t>Three main takeaways</a:t>
            </a:r>
          </a:p>
        </p:txBody>
      </p:sp>
      <p:sp>
        <p:nvSpPr>
          <p:cNvPr id="6" name="text-97">
            <a:extLst xmlns:a="http://schemas.openxmlformats.org/drawingml/2006/main">
              <a:ext uri="{FF2B5EF4-FFF2-40B4-BE49-F238E27FC236}">
                <a16:creationId xmlns:a16="http://schemas.microsoft.com/office/drawing/2014/main" id="{0BB52CF5-6499-4CFF-8375-08DA84B49AE7}"/>
              </a:ext>
            </a:extLst>
          </p:cNvPr>
          <p:cNvSpPr>
            <a:spLocks xmlns:a="http://schemas.openxmlformats.org/drawingml/2006/main" noGrp="1"/>
          </p:cNvSpPr>
          <p:nvPr/>
        </p:nvSpPr>
        <p:spPr>
          <a:xfrm xmlns:a="http://schemas.openxmlformats.org/drawingml/2006/main">
            <a:off x="533400" y="2133600"/>
            <a:ext cx="5429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53746"/>
                </a:solidFill>
                <a:latin typeface="Helvetica Neue"/>
                <a:ea typeface="Helvetica Neue"/>
                <a:cs typeface="Helvetica Neue"/>
              </a:defRPr>
            </a:defPPr>
          </a:lstStyle>
          <a:p xmlns:a="http://schemas.openxmlformats.org/drawingml/2006/main">
            <a:pPr algn="l">
              <a:defRPr sz="1950" b="1">
                <a:solidFill>
                  <a:srgbClr val="253746"/>
                </a:solidFill>
                <a:latin typeface="Helvetica Neue"/>
                <a:ea typeface="Helvetica Neue"/>
                <a:cs typeface="Helvetica Neue"/>
              </a:defRPr>
            </a:pPr>
            <a:r>
              <a:rPr sz="1950" b="1">
                <a:solidFill>
                  <a:srgbClr val="253746"/>
                </a:solidFill>
                <a:latin typeface="Helvetica Neue"/>
                <a:ea typeface="Helvetica Neue"/>
                <a:cs typeface="Helvetica Neue"/>
              </a:rPr>
              <a:t>Noise matters</a:t>
            </a:r>
          </a:p>
        </p:txBody>
      </p:sp>
      <p:sp>
        <p:nvSpPr>
          <p:cNvPr id="7" name="text-98">
            <a:extLst xmlns:a="http://schemas.openxmlformats.org/drawingml/2006/main">
              <a:ext uri="{FF2B5EF4-FFF2-40B4-BE49-F238E27FC236}">
                <a16:creationId xmlns:a16="http://schemas.microsoft.com/office/drawing/2014/main" id="{614FF74D-3DE0-40CC-AD03-9CEF32FF0EDA}"/>
              </a:ext>
            </a:extLst>
          </p:cNvPr>
          <p:cNvSpPr>
            <a:spLocks xmlns:a="http://schemas.openxmlformats.org/drawingml/2006/main" noGrp="1"/>
          </p:cNvSpPr>
          <p:nvPr/>
        </p:nvSpPr>
        <p:spPr>
          <a:xfrm xmlns:a="http://schemas.openxmlformats.org/drawingml/2006/main">
            <a:off x="533400" y="2533650"/>
            <a:ext cx="5429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53746"/>
                </a:solidFill>
                <a:latin typeface="Helvetica Neue"/>
                <a:ea typeface="Helvetica Neue"/>
                <a:cs typeface="Helvetica Neue"/>
              </a:defRPr>
            </a:defPPr>
          </a:lstStyle>
          <a:p xmlns:a="http://schemas.openxmlformats.org/drawingml/2006/main">
            <a:pPr algn="l">
              <a:defRPr sz="1800" b="0">
                <a:solidFill>
                  <a:srgbClr val="253746"/>
                </a:solidFill>
                <a:latin typeface="Helvetica Neue"/>
                <a:ea typeface="Helvetica Neue"/>
                <a:cs typeface="Helvetica Neue"/>
              </a:defRPr>
            </a:pPr>
            <a:r>
              <a:rPr sz="1800" b="0">
                <a:solidFill>
                  <a:srgbClr val="253746"/>
                </a:solidFill>
                <a:latin typeface="Helvetica Neue"/>
                <a:ea typeface="Helvetica Neue"/>
                <a:cs typeface="Helvetica Neue"/>
              </a:rPr>
              <a:t>Very noisy measurements change fitted group</a:t>
            </a:r>
          </a:p>
          <a:p xmlns:a="http://schemas.openxmlformats.org/drawingml/2006/main">
            <a:pPr algn="l">
              <a:defRPr sz="1800" b="0">
                <a:solidFill>
                  <a:srgbClr val="253746"/>
                </a:solidFill>
                <a:latin typeface="Helvetica Neue"/>
                <a:ea typeface="Helvetica Neue"/>
                <a:cs typeface="Helvetica Neue"/>
              </a:defRPr>
            </a:pPr>
            <a:r>
              <a:rPr sz="1800" b="0">
                <a:solidFill>
                  <a:srgbClr val="253746"/>
                </a:solidFill>
                <a:latin typeface="Helvetica Neue"/>
                <a:ea typeface="Helvetica Neue"/>
                <a:cs typeface="Helvetica Neue"/>
              </a:rPr>
              <a:t>coefficients and lending outcomes.</a:t>
            </a:r>
          </a:p>
        </p:txBody>
      </p:sp>
      <p:sp>
        <p:nvSpPr>
          <p:cNvPr id="8" name="text-99">
            <a:extLst xmlns:a="http://schemas.openxmlformats.org/drawingml/2006/main">
              <a:ext uri="{FF2B5EF4-FFF2-40B4-BE49-F238E27FC236}">
                <a16:creationId xmlns:a16="http://schemas.microsoft.com/office/drawing/2014/main" id="{4804741C-581D-404E-A41F-BA1CF819EA3C}"/>
              </a:ext>
            </a:extLst>
          </p:cNvPr>
          <p:cNvSpPr>
            <a:spLocks xmlns:a="http://schemas.openxmlformats.org/drawingml/2006/main" noGrp="1"/>
          </p:cNvSpPr>
          <p:nvPr/>
        </p:nvSpPr>
        <p:spPr>
          <a:xfrm xmlns:a="http://schemas.openxmlformats.org/drawingml/2006/main">
            <a:off x="533400" y="3200400"/>
            <a:ext cx="5429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53746"/>
                </a:solidFill>
                <a:latin typeface="Helvetica Neue"/>
                <a:ea typeface="Helvetica Neue"/>
                <a:cs typeface="Helvetica Neue"/>
              </a:defRPr>
            </a:defPPr>
          </a:lstStyle>
          <a:p xmlns:a="http://schemas.openxmlformats.org/drawingml/2006/main">
            <a:pPr algn="l">
              <a:defRPr sz="1950" b="1">
                <a:solidFill>
                  <a:srgbClr val="253746"/>
                </a:solidFill>
                <a:latin typeface="Helvetica Neue"/>
                <a:ea typeface="Helvetica Neue"/>
                <a:cs typeface="Helvetica Neue"/>
              </a:defRPr>
            </a:pPr>
            <a:r>
              <a:rPr sz="1950" b="1">
                <a:solidFill>
                  <a:srgbClr val="253746"/>
                </a:solidFill>
                <a:latin typeface="Helvetica Neue"/>
                <a:ea typeface="Helvetica Neue"/>
                <a:cs typeface="Helvetica Neue"/>
              </a:rPr>
              <a:t>Group-blind usually reduced disparity</a:t>
            </a:r>
          </a:p>
        </p:txBody>
      </p:sp>
      <p:sp>
        <p:nvSpPr>
          <p:cNvPr id="9" name="text-100">
            <a:extLst xmlns:a="http://schemas.openxmlformats.org/drawingml/2006/main">
              <a:ext uri="{FF2B5EF4-FFF2-40B4-BE49-F238E27FC236}">
                <a16:creationId xmlns:a16="http://schemas.microsoft.com/office/drawing/2014/main" id="{B46BE400-2C76-4F1D-AC9F-A2E2AB0AF836}"/>
              </a:ext>
            </a:extLst>
          </p:cNvPr>
          <p:cNvSpPr>
            <a:spLocks xmlns:a="http://schemas.openxmlformats.org/drawingml/2006/main" noGrp="1"/>
          </p:cNvSpPr>
          <p:nvPr/>
        </p:nvSpPr>
        <p:spPr>
          <a:xfrm xmlns:a="http://schemas.openxmlformats.org/drawingml/2006/main">
            <a:off x="533400" y="3600450"/>
            <a:ext cx="5429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53746"/>
                </a:solidFill>
                <a:latin typeface="Helvetica Neue"/>
                <a:ea typeface="Helvetica Neue"/>
                <a:cs typeface="Helvetica Neue"/>
              </a:defRPr>
            </a:defPPr>
          </a:lstStyle>
          <a:p xmlns:a="http://schemas.openxmlformats.org/drawingml/2006/main">
            <a:pPr algn="l">
              <a:defRPr sz="1800" b="0">
                <a:solidFill>
                  <a:srgbClr val="253746"/>
                </a:solidFill>
                <a:latin typeface="Helvetica Neue"/>
                <a:ea typeface="Helvetica Neue"/>
                <a:cs typeface="Helvetica Neue"/>
              </a:defRPr>
            </a:pPr>
            <a:r>
              <a:rPr sz="1800" b="0">
                <a:solidFill>
                  <a:srgbClr val="253746"/>
                </a:solidFill>
                <a:latin typeface="Helvetica Neue"/>
                <a:ea typeface="Helvetica Neue"/>
                <a:cs typeface="Helvetica Neue"/>
              </a:rPr>
              <a:t>Smaller absolute gap in 91.5% of draws.</a:t>
            </a:r>
          </a:p>
          <a:p xmlns:a="http://schemas.openxmlformats.org/drawingml/2006/main">
            <a:pPr algn="l">
              <a:defRPr sz="1800" b="0">
                <a:solidFill>
                  <a:srgbClr val="253746"/>
                </a:solidFill>
                <a:latin typeface="Helvetica Neue"/>
                <a:ea typeface="Helvetica Neue"/>
                <a:cs typeface="Helvetica Neue"/>
              </a:defRPr>
            </a:pPr>
            <a:r>
              <a:rPr sz="1800" b="0">
                <a:solidFill>
                  <a:srgbClr val="253746"/>
                </a:solidFill>
                <a:latin typeface="Helvetica Neue"/>
                <a:ea typeface="Helvetica Neue"/>
                <a:cs typeface="Helvetica Neue"/>
              </a:rPr>
              <a:t>Equal outcomes are not guaranteed.</a:t>
            </a:r>
          </a:p>
        </p:txBody>
      </p:sp>
      <p:sp>
        <p:nvSpPr>
          <p:cNvPr id="10" name="text-101">
            <a:extLst xmlns:a="http://schemas.openxmlformats.org/drawingml/2006/main">
              <a:ext uri="{FF2B5EF4-FFF2-40B4-BE49-F238E27FC236}">
                <a16:creationId xmlns:a16="http://schemas.microsoft.com/office/drawing/2014/main" id="{8F33129D-E987-49F8-8333-8E55BF97CE6C}"/>
              </a:ext>
            </a:extLst>
          </p:cNvPr>
          <p:cNvSpPr>
            <a:spLocks xmlns:a="http://schemas.openxmlformats.org/drawingml/2006/main" noGrp="1"/>
          </p:cNvSpPr>
          <p:nvPr/>
        </p:nvSpPr>
        <p:spPr>
          <a:xfrm xmlns:a="http://schemas.openxmlformats.org/drawingml/2006/main">
            <a:off x="533400" y="4267200"/>
            <a:ext cx="5429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53746"/>
                </a:solidFill>
                <a:latin typeface="Helvetica Neue"/>
                <a:ea typeface="Helvetica Neue"/>
                <a:cs typeface="Helvetica Neue"/>
              </a:defRPr>
            </a:defPPr>
          </a:lstStyle>
          <a:p xmlns:a="http://schemas.openxmlformats.org/drawingml/2006/main">
            <a:pPr algn="l">
              <a:defRPr sz="1950" b="1">
                <a:solidFill>
                  <a:srgbClr val="253746"/>
                </a:solidFill>
                <a:latin typeface="Helvetica Neue"/>
                <a:ea typeface="Helvetica Neue"/>
                <a:cs typeface="Helvetica Neue"/>
              </a:defRPr>
            </a:pPr>
            <a:r>
              <a:rPr sz="1950" b="1">
                <a:solidFill>
                  <a:srgbClr val="253746"/>
                </a:solidFill>
                <a:latin typeface="Helvetica Neue"/>
                <a:ea typeface="Helvetica Neue"/>
                <a:cs typeface="Helvetica Neue"/>
              </a:rPr>
              <a:t>Economic interpretation needs care</a:t>
            </a:r>
          </a:p>
        </p:txBody>
      </p:sp>
      <p:sp>
        <p:nvSpPr>
          <p:cNvPr id="11" name="text-102">
            <a:extLst xmlns:a="http://schemas.openxmlformats.org/drawingml/2006/main">
              <a:ext uri="{FF2B5EF4-FFF2-40B4-BE49-F238E27FC236}">
                <a16:creationId xmlns:a16="http://schemas.microsoft.com/office/drawing/2014/main" id="{D25D64C7-ACD7-41C3-BCC4-F0A7F79947BA}"/>
              </a:ext>
            </a:extLst>
          </p:cNvPr>
          <p:cNvSpPr>
            <a:spLocks xmlns:a="http://schemas.openxmlformats.org/drawingml/2006/main" noGrp="1"/>
          </p:cNvSpPr>
          <p:nvPr/>
        </p:nvSpPr>
        <p:spPr>
          <a:xfrm xmlns:a="http://schemas.openxmlformats.org/drawingml/2006/main">
            <a:off x="533400" y="4667250"/>
            <a:ext cx="5429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53746"/>
                </a:solidFill>
                <a:latin typeface="Helvetica Neue"/>
                <a:ea typeface="Helvetica Neue"/>
                <a:cs typeface="Helvetica Neue"/>
              </a:defRPr>
            </a:defPPr>
          </a:lstStyle>
          <a:p xmlns:a="http://schemas.openxmlformats.org/drawingml/2006/main">
            <a:pPr algn="l">
              <a:defRPr sz="1800" b="0">
                <a:solidFill>
                  <a:srgbClr val="253746"/>
                </a:solidFill>
                <a:latin typeface="Helvetica Neue"/>
                <a:ea typeface="Helvetica Neue"/>
                <a:cs typeface="Helvetica Neue"/>
              </a:defRPr>
            </a:pPr>
            <a:r>
              <a:rPr sz="1800" b="0">
                <a:solidFill>
                  <a:srgbClr val="253746"/>
                </a:solidFill>
                <a:latin typeface="Helvetica Neue"/>
                <a:ea typeface="Helvetica Neue"/>
                <a:cs typeface="Helvetica Neue"/>
              </a:rPr>
              <a:t>Rare clipped-zero / reject-all cases</a:t>
            </a:r>
          </a:p>
          <a:p xmlns:a="http://schemas.openxmlformats.org/drawingml/2006/main">
            <a:pPr algn="l">
              <a:defRPr sz="1800" b="0">
                <a:solidFill>
                  <a:srgbClr val="253746"/>
                </a:solidFill>
                <a:latin typeface="Helvetica Neue"/>
                <a:ea typeface="Helvetica Neue"/>
                <a:cs typeface="Helvetica Neue"/>
              </a:defRPr>
            </a:pPr>
            <a:r>
              <a:rPr sz="1800" b="0">
                <a:solidFill>
                  <a:srgbClr val="253746"/>
                </a:solidFill>
                <a:latin typeface="Helvetica Neue"/>
                <a:ea typeface="Helvetica Neue"/>
                <a:cs typeface="Helvetica Neue"/>
              </a:rPr>
              <a:t>dominate the mean profit difference.</a:t>
            </a:r>
          </a:p>
        </p:txBody>
      </p:sp>
      <p:sp>
        <p:nvSpPr>
          <p:cNvPr id="12" name="text-103">
            <a:extLst xmlns:a="http://schemas.openxmlformats.org/drawingml/2006/main">
              <a:ext uri="{FF2B5EF4-FFF2-40B4-BE49-F238E27FC236}">
                <a16:creationId xmlns:a16="http://schemas.microsoft.com/office/drawing/2014/main" id="{7AED6D91-4AC9-4C7A-9F89-B8527EA23CB1}"/>
              </a:ext>
            </a:extLst>
          </p:cNvPr>
          <p:cNvSpPr>
            <a:spLocks xmlns:a="http://schemas.openxmlformats.org/drawingml/2006/main" noGrp="1"/>
          </p:cNvSpPr>
          <p:nvPr/>
        </p:nvSpPr>
        <p:spPr>
          <a:xfrm xmlns:a="http://schemas.openxmlformats.org/drawingml/2006/main">
            <a:off x="6715125" y="1524000"/>
            <a:ext cx="4962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861F41"/>
                </a:solidFill>
                <a:latin typeface="Helvetica Neue"/>
                <a:ea typeface="Helvetica Neue"/>
                <a:cs typeface="Helvetica Neue"/>
              </a:defRPr>
            </a:defPPr>
          </a:lstStyle>
          <a:p xmlns:a="http://schemas.openxmlformats.org/drawingml/2006/main">
            <a:pPr algn="l">
              <a:defRPr sz="2175" b="1">
                <a:solidFill>
                  <a:srgbClr val="861F41"/>
                </a:solidFill>
                <a:latin typeface="Helvetica Neue"/>
                <a:ea typeface="Helvetica Neue"/>
                <a:cs typeface="Helvetica Neue"/>
              </a:defRPr>
            </a:pPr>
            <a:r>
              <a:rPr sz="2175" b="1">
                <a:solidFill>
                  <a:srgbClr val="861F41"/>
                </a:solidFill>
                <a:latin typeface="Helvetica Neue"/>
                <a:ea typeface="Helvetica Neue"/>
                <a:cs typeface="Helvetica Neue"/>
              </a:rPr>
              <a:t>Recommended next steps</a:t>
            </a:r>
          </a:p>
        </p:txBody>
      </p:sp>
      <p:sp>
        <p:nvSpPr>
          <p:cNvPr id="13" name="text-104">
            <a:extLst xmlns:a="http://schemas.openxmlformats.org/drawingml/2006/main">
              <a:ext uri="{FF2B5EF4-FFF2-40B4-BE49-F238E27FC236}">
                <a16:creationId xmlns:a16="http://schemas.microsoft.com/office/drawing/2014/main" id="{C67FEC83-6DA1-4FEB-B3BC-BA7FC29B816A}"/>
              </a:ext>
            </a:extLst>
          </p:cNvPr>
          <p:cNvSpPr>
            <a:spLocks xmlns:a="http://schemas.openxmlformats.org/drawingml/2006/main" noGrp="1"/>
          </p:cNvSpPr>
          <p:nvPr/>
        </p:nvSpPr>
        <p:spPr>
          <a:xfrm xmlns:a="http://schemas.openxmlformats.org/drawingml/2006/main">
            <a:off x="6715125" y="2133600"/>
            <a:ext cx="409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E5751F"/>
                </a:solidFill>
                <a:latin typeface="Helvetica Neue"/>
                <a:ea typeface="Helvetica Neue"/>
                <a:cs typeface="Helvetica Neue"/>
              </a:defRPr>
            </a:defPPr>
          </a:lstStyle>
          <a:p xmlns:a="http://schemas.openxmlformats.org/drawingml/2006/main">
            <a:pPr algn="l">
              <a:defRPr sz="1800" b="1">
                <a:solidFill>
                  <a:srgbClr val="E5751F"/>
                </a:solidFill>
                <a:latin typeface="Helvetica Neue"/>
                <a:ea typeface="Helvetica Neue"/>
                <a:cs typeface="Helvetica Neue"/>
              </a:defRPr>
            </a:pPr>
            <a:r>
              <a:rPr sz="1800" b="1">
                <a:solidFill>
                  <a:srgbClr val="E5751F"/>
                </a:solidFill>
                <a:latin typeface="Helvetica Neue"/>
                <a:ea typeface="Helvetica Neue"/>
                <a:cs typeface="Helvetica Neue"/>
              </a:rPr>
              <a:t>01</a:t>
            </a:r>
          </a:p>
        </p:txBody>
      </p:sp>
      <p:sp>
        <p:nvSpPr>
          <p:cNvPr id="14" name="text-105">
            <a:extLst xmlns:a="http://schemas.openxmlformats.org/drawingml/2006/main">
              <a:ext uri="{FF2B5EF4-FFF2-40B4-BE49-F238E27FC236}">
                <a16:creationId xmlns:a16="http://schemas.microsoft.com/office/drawing/2014/main" id="{CBA7400D-F05C-4969-B04D-3F349C2EC9FF}"/>
              </a:ext>
            </a:extLst>
          </p:cNvPr>
          <p:cNvSpPr>
            <a:spLocks xmlns:a="http://schemas.openxmlformats.org/drawingml/2006/main" noGrp="1"/>
          </p:cNvSpPr>
          <p:nvPr/>
        </p:nvSpPr>
        <p:spPr>
          <a:xfrm xmlns:a="http://schemas.openxmlformats.org/drawingml/2006/main">
            <a:off x="7296150" y="2133600"/>
            <a:ext cx="438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53746"/>
                </a:solidFill>
                <a:latin typeface="Helvetica Neue"/>
                <a:ea typeface="Helvetica Neue"/>
                <a:cs typeface="Helvetica Neue"/>
              </a:defRPr>
            </a:defPPr>
          </a:lstStyle>
          <a:p xmlns:a="http://schemas.openxmlformats.org/drawingml/2006/main">
            <a:pPr algn="l">
              <a:defRPr sz="1800" b="0">
                <a:solidFill>
                  <a:srgbClr val="253746"/>
                </a:solidFill>
                <a:latin typeface="Helvetica Neue"/>
                <a:ea typeface="Helvetica Neue"/>
                <a:cs typeface="Helvetica Neue"/>
              </a:defRPr>
            </a:pPr>
            <a:r>
              <a:rPr sz="1800" b="0">
                <a:solidFill>
                  <a:srgbClr val="253746"/>
                </a:solidFill>
                <a:latin typeface="Helvetica Neue"/>
                <a:ea typeface="Helvetica Neue"/>
                <a:cs typeface="Helvetica Neue"/>
              </a:rPr>
              <a:t>Review noise SD 0.1 against the</a:t>
            </a:r>
          </a:p>
          <a:p xmlns:a="http://schemas.openxmlformats.org/drawingml/2006/main">
            <a:pPr algn="l">
              <a:defRPr sz="1800" b="0">
                <a:solidFill>
                  <a:srgbClr val="253746"/>
                </a:solidFill>
                <a:latin typeface="Helvetica Neue"/>
                <a:ea typeface="Helvetica Neue"/>
                <a:cs typeface="Helvetica Neue"/>
              </a:defRPr>
            </a:pPr>
            <a:r>
              <a:rPr sz="1800" b="0">
                <a:solidFill>
                  <a:srgbClr val="253746"/>
                </a:solidFill>
                <a:latin typeface="Helvetica Neue"/>
                <a:ea typeface="Helvetica Neue"/>
                <a:cs typeface="Helvetica Neue"/>
              </a:rPr>
              <a:t>very small underlying true-risk variation.</a:t>
            </a:r>
          </a:p>
        </p:txBody>
      </p:sp>
      <p:sp>
        <p:nvSpPr>
          <p:cNvPr id="15" name="text-106">
            <a:extLst xmlns:a="http://schemas.openxmlformats.org/drawingml/2006/main">
              <a:ext uri="{FF2B5EF4-FFF2-40B4-BE49-F238E27FC236}">
                <a16:creationId xmlns:a16="http://schemas.microsoft.com/office/drawing/2014/main" id="{EF6714A9-6550-4BA3-8CFB-2605BA3FE90E}"/>
              </a:ext>
            </a:extLst>
          </p:cNvPr>
          <p:cNvSpPr>
            <a:spLocks xmlns:a="http://schemas.openxmlformats.org/drawingml/2006/main" noGrp="1"/>
          </p:cNvSpPr>
          <p:nvPr/>
        </p:nvSpPr>
        <p:spPr>
          <a:xfrm xmlns:a="http://schemas.openxmlformats.org/drawingml/2006/main">
            <a:off x="6715125" y="2962275"/>
            <a:ext cx="409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E5751F"/>
                </a:solidFill>
                <a:latin typeface="Helvetica Neue"/>
                <a:ea typeface="Helvetica Neue"/>
                <a:cs typeface="Helvetica Neue"/>
              </a:defRPr>
            </a:defPPr>
          </a:lstStyle>
          <a:p xmlns:a="http://schemas.openxmlformats.org/drawingml/2006/main">
            <a:pPr algn="l">
              <a:defRPr sz="1800" b="1">
                <a:solidFill>
                  <a:srgbClr val="E5751F"/>
                </a:solidFill>
                <a:latin typeface="Helvetica Neue"/>
                <a:ea typeface="Helvetica Neue"/>
                <a:cs typeface="Helvetica Neue"/>
              </a:defRPr>
            </a:pPr>
            <a:r>
              <a:rPr sz="1800" b="1">
                <a:solidFill>
                  <a:srgbClr val="E5751F"/>
                </a:solidFill>
                <a:latin typeface="Helvetica Neue"/>
                <a:ea typeface="Helvetica Neue"/>
                <a:cs typeface="Helvetica Neue"/>
              </a:rPr>
              <a:t>02</a:t>
            </a:r>
          </a:p>
        </p:txBody>
      </p:sp>
      <p:sp>
        <p:nvSpPr>
          <p:cNvPr id="16" name="text-107">
            <a:extLst xmlns:a="http://schemas.openxmlformats.org/drawingml/2006/main">
              <a:ext uri="{FF2B5EF4-FFF2-40B4-BE49-F238E27FC236}">
                <a16:creationId xmlns:a16="http://schemas.microsoft.com/office/drawing/2014/main" id="{397986DB-E313-4CA2-8EA7-6CF6194F7B2F}"/>
              </a:ext>
            </a:extLst>
          </p:cNvPr>
          <p:cNvSpPr>
            <a:spLocks xmlns:a="http://schemas.openxmlformats.org/drawingml/2006/main" noGrp="1"/>
          </p:cNvSpPr>
          <p:nvPr/>
        </p:nvSpPr>
        <p:spPr>
          <a:xfrm xmlns:a="http://schemas.openxmlformats.org/drawingml/2006/main">
            <a:off x="7296150" y="2962275"/>
            <a:ext cx="438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53746"/>
                </a:solidFill>
                <a:latin typeface="Helvetica Neue"/>
                <a:ea typeface="Helvetica Neue"/>
                <a:cs typeface="Helvetica Neue"/>
              </a:defRPr>
            </a:defPPr>
          </a:lstStyle>
          <a:p xmlns:a="http://schemas.openxmlformats.org/drawingml/2006/main">
            <a:pPr algn="l">
              <a:defRPr sz="1800" b="0">
                <a:solidFill>
                  <a:srgbClr val="253746"/>
                </a:solidFill>
                <a:latin typeface="Helvetica Neue"/>
                <a:ea typeface="Helvetica Neue"/>
                <a:cs typeface="Helvetica Neue"/>
              </a:defRPr>
            </a:pPr>
            <a:r>
              <a:rPr sz="1800" b="0">
                <a:solidFill>
                  <a:srgbClr val="253746"/>
                </a:solidFill>
                <a:latin typeface="Helvetica Neue"/>
                <a:ea typeface="Helvetica Neue"/>
                <a:cs typeface="Helvetica Neue"/>
              </a:rPr>
              <a:t>Review clipping and the all-or-none</a:t>
            </a:r>
          </a:p>
          <a:p xmlns:a="http://schemas.openxmlformats.org/drawingml/2006/main">
            <a:pPr algn="l">
              <a:defRPr sz="1800" b="0">
                <a:solidFill>
                  <a:srgbClr val="253746"/>
                </a:solidFill>
                <a:latin typeface="Helvetica Neue"/>
                <a:ea typeface="Helvetica Neue"/>
                <a:cs typeface="Helvetica Neue"/>
              </a:defRPr>
            </a:pPr>
            <a:r>
              <a:rPr sz="1800" b="0">
                <a:solidFill>
                  <a:srgbClr val="253746"/>
                </a:solidFill>
                <a:latin typeface="Helvetica Neue"/>
                <a:ea typeface="Helvetica Neue"/>
                <a:cs typeface="Helvetica Neue"/>
              </a:rPr>
              <a:t>zero-score cutoff behavior.</a:t>
            </a:r>
          </a:p>
        </p:txBody>
      </p:sp>
      <p:sp>
        <p:nvSpPr>
          <p:cNvPr id="17" name="text-108">
            <a:extLst xmlns:a="http://schemas.openxmlformats.org/drawingml/2006/main">
              <a:ext uri="{FF2B5EF4-FFF2-40B4-BE49-F238E27FC236}">
                <a16:creationId xmlns:a16="http://schemas.microsoft.com/office/drawing/2014/main" id="{DF842E1A-AB20-453D-A995-E4AF99FFC851}"/>
              </a:ext>
            </a:extLst>
          </p:cNvPr>
          <p:cNvSpPr>
            <a:spLocks xmlns:a="http://schemas.openxmlformats.org/drawingml/2006/main" noGrp="1"/>
          </p:cNvSpPr>
          <p:nvPr/>
        </p:nvSpPr>
        <p:spPr>
          <a:xfrm xmlns:a="http://schemas.openxmlformats.org/drawingml/2006/main">
            <a:off x="6715125" y="3790950"/>
            <a:ext cx="409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E5751F"/>
                </a:solidFill>
                <a:latin typeface="Helvetica Neue"/>
                <a:ea typeface="Helvetica Neue"/>
                <a:cs typeface="Helvetica Neue"/>
              </a:defRPr>
            </a:defPPr>
          </a:lstStyle>
          <a:p xmlns:a="http://schemas.openxmlformats.org/drawingml/2006/main">
            <a:pPr algn="l">
              <a:defRPr sz="1800" b="1">
                <a:solidFill>
                  <a:srgbClr val="E5751F"/>
                </a:solidFill>
                <a:latin typeface="Helvetica Neue"/>
                <a:ea typeface="Helvetica Neue"/>
                <a:cs typeface="Helvetica Neue"/>
              </a:defRPr>
            </a:pPr>
            <a:r>
              <a:rPr sz="1800" b="1">
                <a:solidFill>
                  <a:srgbClr val="E5751F"/>
                </a:solidFill>
                <a:latin typeface="Helvetica Neue"/>
                <a:ea typeface="Helvetica Neue"/>
                <a:cs typeface="Helvetica Neue"/>
              </a:rPr>
              <a:t>03</a:t>
            </a:r>
          </a:p>
        </p:txBody>
      </p:sp>
      <p:sp>
        <p:nvSpPr>
          <p:cNvPr id="18" name="text-109">
            <a:extLst xmlns:a="http://schemas.openxmlformats.org/drawingml/2006/main">
              <a:ext uri="{FF2B5EF4-FFF2-40B4-BE49-F238E27FC236}">
                <a16:creationId xmlns:a16="http://schemas.microsoft.com/office/drawing/2014/main" id="{80E404D2-26BA-474E-B77F-50D1DD107661}"/>
              </a:ext>
            </a:extLst>
          </p:cNvPr>
          <p:cNvSpPr>
            <a:spLocks xmlns:a="http://schemas.openxmlformats.org/drawingml/2006/main" noGrp="1"/>
          </p:cNvSpPr>
          <p:nvPr/>
        </p:nvSpPr>
        <p:spPr>
          <a:xfrm xmlns:a="http://schemas.openxmlformats.org/drawingml/2006/main">
            <a:off x="7296150" y="3790950"/>
            <a:ext cx="438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53746"/>
                </a:solidFill>
                <a:latin typeface="Helvetica Neue"/>
                <a:ea typeface="Helvetica Neue"/>
                <a:cs typeface="Helvetica Neue"/>
              </a:defRPr>
            </a:defPPr>
          </a:lstStyle>
          <a:p xmlns:a="http://schemas.openxmlformats.org/drawingml/2006/main">
            <a:pPr algn="l">
              <a:defRPr sz="1800" b="0">
                <a:solidFill>
                  <a:srgbClr val="253746"/>
                </a:solidFill>
                <a:latin typeface="Helvetica Neue"/>
                <a:ea typeface="Helvetica Neue"/>
                <a:cs typeface="Helvetica Neue"/>
              </a:defRPr>
            </a:pPr>
            <a:r>
              <a:rPr sz="1800" b="0">
                <a:solidFill>
                  <a:srgbClr val="253746"/>
                </a:solidFill>
                <a:latin typeface="Helvetica Neue"/>
                <a:ea typeface="Helvetica Neue"/>
                <a:cs typeface="Helvetica Neue"/>
              </a:rPr>
              <a:t>Predeclare a matched B-coefficient</a:t>
            </a:r>
          </a:p>
          <a:p xmlns:a="http://schemas.openxmlformats.org/drawingml/2006/main">
            <a:pPr algn="l">
              <a:defRPr sz="1800" b="0">
                <a:solidFill>
                  <a:srgbClr val="253746"/>
                </a:solidFill>
                <a:latin typeface="Helvetica Neue"/>
                <a:ea typeface="Helvetica Neue"/>
                <a:cs typeface="Helvetica Neue"/>
              </a:defRPr>
            </a:pPr>
            <a:r>
              <a:rPr sz="1800" b="0">
                <a:solidFill>
                  <a:srgbClr val="253746"/>
                </a:solidFill>
                <a:latin typeface="Helvetica Neue"/>
                <a:ea typeface="Helvetica Neue"/>
                <a:cs typeface="Helvetica Neue"/>
              </a:rPr>
              <a:t>intervention to separate refitting effects.</a:t>
            </a:r>
          </a:p>
        </p:txBody>
      </p:sp>
      <p:sp>
        <p:nvSpPr>
          <p:cNvPr id="19" name="text-110">
            <a:extLst xmlns:a="http://schemas.openxmlformats.org/drawingml/2006/main">
              <a:ext uri="{FF2B5EF4-FFF2-40B4-BE49-F238E27FC236}">
                <a16:creationId xmlns:a16="http://schemas.microsoft.com/office/drawing/2014/main" id="{C63DE898-DAC7-421B-B817-020768E8575D}"/>
              </a:ext>
            </a:extLst>
          </p:cNvPr>
          <p:cNvSpPr>
            <a:spLocks xmlns:a="http://schemas.openxmlformats.org/drawingml/2006/main" noGrp="1"/>
          </p:cNvSpPr>
          <p:nvPr/>
        </p:nvSpPr>
        <p:spPr>
          <a:xfrm xmlns:a="http://schemas.openxmlformats.org/drawingml/2006/main">
            <a:off x="6715125" y="4619625"/>
            <a:ext cx="409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E5751F"/>
                </a:solidFill>
                <a:latin typeface="Helvetica Neue"/>
                <a:ea typeface="Helvetica Neue"/>
                <a:cs typeface="Helvetica Neue"/>
              </a:defRPr>
            </a:defPPr>
          </a:lstStyle>
          <a:p xmlns:a="http://schemas.openxmlformats.org/drawingml/2006/main">
            <a:pPr algn="l">
              <a:defRPr sz="1800" b="1">
                <a:solidFill>
                  <a:srgbClr val="E5751F"/>
                </a:solidFill>
                <a:latin typeface="Helvetica Neue"/>
                <a:ea typeface="Helvetica Neue"/>
                <a:cs typeface="Helvetica Neue"/>
              </a:defRPr>
            </a:pPr>
            <a:r>
              <a:rPr sz="1800" b="1">
                <a:solidFill>
                  <a:srgbClr val="E5751F"/>
                </a:solidFill>
                <a:latin typeface="Helvetica Neue"/>
                <a:ea typeface="Helvetica Neue"/>
                <a:cs typeface="Helvetica Neue"/>
              </a:rPr>
              <a:t>04</a:t>
            </a:r>
          </a:p>
        </p:txBody>
      </p:sp>
      <p:sp>
        <p:nvSpPr>
          <p:cNvPr id="20" name="text-111">
            <a:extLst xmlns:a="http://schemas.openxmlformats.org/drawingml/2006/main">
              <a:ext uri="{FF2B5EF4-FFF2-40B4-BE49-F238E27FC236}">
                <a16:creationId xmlns:a16="http://schemas.microsoft.com/office/drawing/2014/main" id="{CB307B71-BB32-4C5E-A741-BB4C8457B0D6}"/>
              </a:ext>
            </a:extLst>
          </p:cNvPr>
          <p:cNvSpPr>
            <a:spLocks xmlns:a="http://schemas.openxmlformats.org/drawingml/2006/main" noGrp="1"/>
          </p:cNvSpPr>
          <p:nvPr/>
        </p:nvSpPr>
        <p:spPr>
          <a:xfrm xmlns:a="http://schemas.openxmlformats.org/drawingml/2006/main">
            <a:off x="7296150" y="4619625"/>
            <a:ext cx="438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53746"/>
                </a:solidFill>
                <a:latin typeface="Helvetica Neue"/>
                <a:ea typeface="Helvetica Neue"/>
                <a:cs typeface="Helvetica Neue"/>
              </a:defRPr>
            </a:defPPr>
          </a:lstStyle>
          <a:p xmlns:a="http://schemas.openxmlformats.org/drawingml/2006/main">
            <a:pPr algn="l">
              <a:defRPr sz="1800" b="0">
                <a:solidFill>
                  <a:srgbClr val="253746"/>
                </a:solidFill>
                <a:latin typeface="Helvetica Neue"/>
                <a:ea typeface="Helvetica Neue"/>
                <a:cs typeface="Helvetica Neue"/>
              </a:defRPr>
            </a:pPr>
            <a:r>
              <a:rPr sz="1800" b="0">
                <a:solidFill>
                  <a:srgbClr val="253746"/>
                </a:solidFill>
                <a:latin typeface="Helvetica Neue"/>
                <a:ea typeface="Helvetica Neue"/>
                <a:cs typeface="Helvetica Neue"/>
              </a:rPr>
              <a:t>Then predeclare alternative noise levels</a:t>
            </a:r>
          </a:p>
          <a:p xmlns:a="http://schemas.openxmlformats.org/drawingml/2006/main">
            <a:pPr algn="l">
              <a:defRPr sz="1800" b="0">
                <a:solidFill>
                  <a:srgbClr val="253746"/>
                </a:solidFill>
                <a:latin typeface="Helvetica Neue"/>
                <a:ea typeface="Helvetica Neue"/>
                <a:cs typeface="Helvetica Neue"/>
              </a:defRPr>
            </a:pPr>
            <a:r>
              <a:rPr sz="1800" b="0">
                <a:solidFill>
                  <a:srgbClr val="253746"/>
                </a:solidFill>
                <a:latin typeface="Helvetica Neue"/>
                <a:ea typeface="Helvetica Neue"/>
                <a:cs typeface="Helvetica Neue"/>
              </a:rPr>
              <a:t>and independent new populations.</a:t>
            </a:r>
          </a:p>
        </p:txBody>
      </p:sp>
      <p:sp>
        <p:nvSpPr>
          <p:cNvPr id="21" name="text-112">
            <a:extLst xmlns:a="http://schemas.openxmlformats.org/drawingml/2006/main">
              <a:ext uri="{FF2B5EF4-FFF2-40B4-BE49-F238E27FC236}">
                <a16:creationId xmlns:a16="http://schemas.microsoft.com/office/drawing/2014/main" id="{9FB24069-E2FF-4475-8E48-A648C0E1ED0C}"/>
              </a:ext>
            </a:extLst>
          </p:cNvPr>
          <p:cNvSpPr>
            <a:spLocks xmlns:a="http://schemas.openxmlformats.org/drawingml/2006/main" noGrp="1"/>
          </p:cNvSpPr>
          <p:nvPr/>
        </p:nvSpPr>
        <p:spPr>
          <a:xfrm xmlns:a="http://schemas.openxmlformats.org/drawingml/2006/main">
            <a:off x="533400" y="5476875"/>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861F41"/>
                </a:solidFill>
                <a:latin typeface="Helvetica Neue"/>
                <a:ea typeface="Helvetica Neue"/>
                <a:cs typeface="Helvetica Neue"/>
              </a:defRPr>
            </a:defPPr>
          </a:lstStyle>
          <a:p xmlns:a="http://schemas.openxmlformats.org/drawingml/2006/main">
            <a:pPr algn="l">
              <a:defRPr sz="2175" b="1">
                <a:solidFill>
                  <a:srgbClr val="861F41"/>
                </a:solidFill>
                <a:latin typeface="Helvetica Neue"/>
                <a:ea typeface="Helvetica Neue"/>
                <a:cs typeface="Helvetica Neue"/>
              </a:defRPr>
            </a:pPr>
            <a:r>
              <a:rPr sz="2175" b="1">
                <a:solidFill>
                  <a:srgbClr val="861F41"/>
                </a:solidFill>
                <a:latin typeface="Helvetica Neue"/>
                <a:ea typeface="Helvetica Neue"/>
                <a:cs typeface="Helvetica Neue"/>
              </a:rPr>
              <a:t>Next goal: isolate mechanisms before broader claims</a:t>
            </a:r>
          </a:p>
          <a:p xmlns:a="http://schemas.openxmlformats.org/drawingml/2006/main">
            <a:pPr algn="l">
              <a:defRPr sz="2175" b="1">
                <a:solidFill>
                  <a:srgbClr val="861F41"/>
                </a:solidFill>
                <a:latin typeface="Helvetica Neue"/>
                <a:ea typeface="Helvetica Neue"/>
                <a:cs typeface="Helvetica Neue"/>
              </a:defRPr>
            </a:pPr>
            <a:r>
              <a:rPr sz="2175" b="1">
                <a:solidFill>
                  <a:srgbClr val="861F41"/>
                </a:solidFill>
                <a:latin typeface="Helvetica Neue"/>
                <a:ea typeface="Helvetica Neue"/>
                <a:cs typeface="Helvetica Neue"/>
              </a:rPr>
              <a:t>about discrimination or ML improvements.</a:t>
            </a:r>
          </a:p>
        </p:txBody>
      </p:sp>
      <p:sp>
        <p:nvSpPr>
          <p:cNvPr id="22" name="text-113">
            <a:extLst xmlns:a="http://schemas.openxmlformats.org/drawingml/2006/main">
              <a:ext uri="{FF2B5EF4-FFF2-40B4-BE49-F238E27FC236}">
                <a16:creationId xmlns:a16="http://schemas.microsoft.com/office/drawing/2014/main" id="{D0A50035-E9EC-4E5D-BF0D-E41111B6F55D}"/>
              </a:ext>
            </a:extLst>
          </p:cNvPr>
          <p:cNvSpPr>
            <a:spLocks xmlns:a="http://schemas.openxmlformats.org/drawingml/2006/main" noGrp="1"/>
          </p:cNvSpPr>
          <p:nvPr/>
        </p:nvSpPr>
        <p:spPr>
          <a:xfrm xmlns:a="http://schemas.openxmlformats.org/drawingml/2006/main">
            <a:off x="533400" y="6124575"/>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8737D"/>
                </a:solidFill>
                <a:latin typeface="Helvetica Neue"/>
                <a:ea typeface="Helvetica Neue"/>
                <a:cs typeface="Helvetica Neue"/>
              </a:defRPr>
            </a:defPPr>
          </a:lstStyle>
          <a:p xmlns:a="http://schemas.openxmlformats.org/drawingml/2006/main">
            <a:pPr algn="l">
              <a:defRPr sz="1275" b="0">
                <a:solidFill>
                  <a:srgbClr val="68737D"/>
                </a:solidFill>
                <a:latin typeface="Helvetica Neue"/>
                <a:ea typeface="Helvetica Neue"/>
                <a:cs typeface="Helvetica Neue"/>
              </a:defRPr>
            </a:pPr>
            <a:r>
              <a:rPr sz="1275" b="0">
                <a:solidFill>
                  <a:srgbClr val="68737D"/>
                </a:solidFill>
                <a:latin typeface="Helvetica Neue"/>
                <a:ea typeface="Helvetica Neue"/>
                <a:cs typeface="Helvetica Neue"/>
              </a:rPr>
              <a:t>No intentional discrimination established. Step 8B complete.</a:t>
            </a:r>
          </a:p>
          <a:p xmlns:a="http://schemas.openxmlformats.org/drawingml/2006/main">
            <a:pPr algn="l">
              <a:defRPr sz="1275" b="0">
                <a:solidFill>
                  <a:srgbClr val="68737D"/>
                </a:solidFill>
                <a:latin typeface="Helvetica Neue"/>
                <a:ea typeface="Helvetica Neue"/>
                <a:cs typeface="Helvetica Neue"/>
              </a:defRPr>
            </a:pPr>
            <a:r>
              <a:rPr sz="1275" b="0">
                <a:solidFill>
                  <a:srgbClr val="68737D"/>
                </a:solidFill>
                <a:latin typeface="Helvetica Neue"/>
                <a:ea typeface="Helvetica Neue"/>
                <a:cs typeface="Helvetica Neue"/>
              </a:rPr>
              <a:t>Latest documented suite: 624 passed, 4 unrelated V2 failures, 32 warnings.</a:t>
            </a:r>
          </a:p>
        </p:txBody>
      </p:sp>
    </p:spTree>
    <p:extLst>
      <p:ext uri="{BB962C8B-B14F-4D97-AF65-F5344CB8AC3E}">
        <p14:creationId xmlns:p14="http://schemas.microsoft.com/office/powerpoint/2010/main" val="13352702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2026-10-14T07:35:21.2420000Z</dcterms:created>
  <dcterms:modified xsi:type="dcterms:W3CDTF">2026-10-14T07:35:21.2420000Z</dcterms:modified>
</coreProperties>
</file>